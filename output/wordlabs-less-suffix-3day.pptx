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notesMasterIdLst>
    <p:notesMasterId r:id="rId3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931920"/>
            <a:ext cx="9144000" cy="12115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800" kern="0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LABS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Suffix: '-less'</a:t>
            </a:r>
            <a:endParaRPr lang="en-US" sz="6400" dirty="0"/>
          </a:p>
        </p:txBody>
      </p:sp>
      <p:sp>
        <p:nvSpPr>
          <p:cNvPr id="6" name="Text 4"/>
          <p:cNvSpPr/>
          <p:nvPr/>
        </p:nvSpPr>
        <p:spPr>
          <a:xfrm>
            <a:off x="457200" y="2331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"without"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29260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Suffix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3429000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342900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356616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356616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370332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370332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3401568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3401568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785616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378561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4169664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4169664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 Meaning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Suffix '-less' — without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 Intention &amp; Success Criteria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'less'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'-less' = without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22960"/>
            <a:ext cx="8412480" cy="1234440"/>
          </a:xfrm>
          <a:prstGeom prst="rect">
            <a:avLst>
              <a:gd name="adj" fmla="val 7407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02920" y="868680"/>
            <a:ext cx="81381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 are learning that the suffix '-less' means 'without'.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65760" y="21945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Success Criteria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65760" y="2633472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2633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41248" y="2633472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explain the meaning of the suffix '-less'.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365760" y="3291840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3291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41248" y="3291840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use base words and other morphemes to build and decode '-less' words.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365760" y="3950208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950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41248" y="3950208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read and spell '-less' words effectively in sentences.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Vocabulary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'less'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'-less' = without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04672"/>
            <a:ext cx="8412480" cy="1170432"/>
          </a:xfrm>
          <a:prstGeom prst="rect">
            <a:avLst>
              <a:gd name="adj" fmla="val 781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65760" y="804672"/>
            <a:ext cx="1280160" cy="1170432"/>
          </a:xfrm>
          <a:prstGeom prst="rect">
            <a:avLst>
              <a:gd name="adj" fmla="val 781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481328" y="804672"/>
            <a:ext cx="91440" cy="1170432"/>
          </a:xfrm>
          <a:prstGeom prst="rect">
            <a:avLst/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5760" y="80467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691640" y="84124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end of a word to change its meaning or form. The suffix '-less' means 'without'.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365760" y="2130552"/>
            <a:ext cx="8412480" cy="1170432"/>
          </a:xfrm>
          <a:prstGeom prst="rect">
            <a:avLst>
              <a:gd name="adj" fmla="val 781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65760" y="2130552"/>
            <a:ext cx="1280160" cy="1170432"/>
          </a:xfrm>
          <a:prstGeom prst="rect">
            <a:avLst>
              <a:gd name="adj" fmla="val 781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481328" y="2130552"/>
            <a:ext cx="91440" cy="11704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213055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691640" y="216712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part of a word carrying its basic meaning. In 'endless', the root is the part before the suffix '-less'.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365760" y="3456432"/>
            <a:ext cx="8412480" cy="1170432"/>
          </a:xfrm>
          <a:prstGeom prst="rect">
            <a:avLst>
              <a:gd name="adj" fmla="val 7813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65760" y="3456432"/>
            <a:ext cx="1280160" cy="1170432"/>
          </a:xfrm>
          <a:prstGeom prst="rect">
            <a:avLst>
              <a:gd name="adj" fmla="val 781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481328" y="3456432"/>
            <a:ext cx="91440" cy="117043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45643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691640" y="349300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beginning of a root to change its meaning. E.g. 'un-' in 'useless' means 'not'.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 or False?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'less'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'-less' = without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3152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the following statements true or false?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65760" y="1207008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07008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'useless' means 'extremely helpful'.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772400" y="1207008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0" y="1207008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65760" y="1901952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48640" y="1901952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'less' means 'without'.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772400" y="1901952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0" y="1901952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65760" y="2596896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48640" y="2596896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'useless' means 'not helpful; serving no purpose'.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7772400" y="2596896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72400" y="2596896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65760" y="3291840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48640" y="3291840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'endless' means 'having no end; going on and on'.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7772400" y="3291840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72400" y="3291840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3986784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548640" y="3986784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 'endless' means 'lasting only a very short time'.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7772400" y="3986784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772400" y="3986784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 '-less' — Meaning &amp; Origin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'less'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'-less' = without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1371600"/>
          </a:xfrm>
          <a:prstGeom prst="rect">
            <a:avLst>
              <a:gd name="adj" fmla="val 8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65760" y="777240"/>
            <a:ext cx="2926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'less'</a:t>
            </a:r>
            <a:endParaRPr lang="en-US" sz="5200" dirty="0"/>
          </a:p>
        </p:txBody>
      </p:sp>
      <p:sp>
        <p:nvSpPr>
          <p:cNvPr id="12" name="Shape 10"/>
          <p:cNvSpPr/>
          <p:nvPr/>
        </p:nvSpPr>
        <p:spPr>
          <a:xfrm>
            <a:off x="3246120" y="777240"/>
            <a:ext cx="36576" cy="1371600"/>
          </a:xfrm>
          <a:prstGeom prst="rect">
            <a:avLst/>
          </a:prstGeom>
          <a:solidFill>
            <a:srgbClr val="312E81"/>
          </a:solidFill>
          <a:ln w="12700">
            <a:solidFill>
              <a:srgbClr val="312E8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777240"/>
            <a:ext cx="3657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without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7132320" y="777240"/>
            <a:ext cx="1600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9F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Suffix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65760" y="2331720"/>
            <a:ext cx="841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using this suffix: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6576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endless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251460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51460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useless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66344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66344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careless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81228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81228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fearless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36576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6576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formless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51460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51460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harmless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466344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66344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helpless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with '-less'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'less'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'-less' = without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matrix below. Choose morpheme parts to build a word. Not all combinations work!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291840" y="1234440"/>
            <a:ext cx="1645920" cy="457200"/>
          </a:xfrm>
          <a:prstGeom prst="rect">
            <a:avLst>
              <a:gd name="adj" fmla="val 12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91840" y="12344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Base Words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94360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Suffix: '-less'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care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-less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cloud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colour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count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291840" y="35844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291840" y="35844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doubt</a:t>
            </a:r>
            <a:endParaRPr lang="en-US" sz="1300" dirty="0"/>
          </a:p>
        </p:txBody>
      </p:sp>
      <p:sp>
        <p:nvSpPr>
          <p:cNvPr id="37" name="Shape 35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640080" y="4041648"/>
            <a:ext cx="146304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3291840" y="40416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291840" y="40416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end</a:t>
            </a:r>
            <a:endParaRPr lang="en-US" sz="1300" dirty="0"/>
          </a:p>
        </p:txBody>
      </p:sp>
      <p:sp>
        <p:nvSpPr>
          <p:cNvPr id="41" name="Shape 39"/>
          <p:cNvSpPr/>
          <p:nvPr/>
        </p:nvSpPr>
        <p:spPr>
          <a:xfrm>
            <a:off x="5943600" y="4041648"/>
            <a:ext cx="146304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365760" y="46360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</a:t>
            </a:r>
            <a:endParaRPr lang="en-US" sz="1200" dirty="0"/>
          </a:p>
        </p:txBody>
      </p:sp>
      <p:sp>
        <p:nvSpPr>
          <p:cNvPr id="43" name="Shape 41"/>
          <p:cNvSpPr/>
          <p:nvPr/>
        </p:nvSpPr>
        <p:spPr>
          <a:xfrm>
            <a:off x="1508760" y="4636008"/>
            <a:ext cx="950976" cy="420624"/>
          </a:xfrm>
          <a:prstGeom prst="rect">
            <a:avLst>
              <a:gd name="adj" fmla="val 17391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4" name="Text 42"/>
          <p:cNvSpPr/>
          <p:nvPr/>
        </p:nvSpPr>
        <p:spPr>
          <a:xfrm>
            <a:off x="1508760" y="4636008"/>
            <a:ext cx="95097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care</a:t>
            </a:r>
            <a:endParaRPr lang="en-US" sz="1300" dirty="0"/>
          </a:p>
        </p:txBody>
      </p:sp>
      <p:sp>
        <p:nvSpPr>
          <p:cNvPr id="45" name="Text 43"/>
          <p:cNvSpPr/>
          <p:nvPr/>
        </p:nvSpPr>
        <p:spPr>
          <a:xfrm>
            <a:off x="2487168" y="46360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46" name="Shape 44"/>
          <p:cNvSpPr/>
          <p:nvPr/>
        </p:nvSpPr>
        <p:spPr>
          <a:xfrm>
            <a:off x="2834640" y="4636008"/>
            <a:ext cx="1097280" cy="420624"/>
          </a:xfrm>
          <a:prstGeom prst="rect">
            <a:avLst>
              <a:gd name="adj" fmla="val 17391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7" name="Text 45"/>
          <p:cNvSpPr/>
          <p:nvPr/>
        </p:nvSpPr>
        <p:spPr>
          <a:xfrm>
            <a:off x="2834640" y="46360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-less</a:t>
            </a:r>
            <a:endParaRPr lang="en-US" sz="1300" dirty="0"/>
          </a:p>
        </p:txBody>
      </p:sp>
      <p:sp>
        <p:nvSpPr>
          <p:cNvPr id="48" name="Text 46"/>
          <p:cNvSpPr/>
          <p:nvPr/>
        </p:nvSpPr>
        <p:spPr>
          <a:xfrm>
            <a:off x="4005072" y="4636008"/>
            <a:ext cx="365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=</a:t>
            </a:r>
            <a:endParaRPr lang="en-US" sz="1800" dirty="0"/>
          </a:p>
        </p:txBody>
      </p:sp>
      <p:sp>
        <p:nvSpPr>
          <p:cNvPr id="49" name="Shape 47"/>
          <p:cNvSpPr/>
          <p:nvPr/>
        </p:nvSpPr>
        <p:spPr>
          <a:xfrm>
            <a:off x="4416552" y="4636008"/>
            <a:ext cx="2194560" cy="420624"/>
          </a:xfrm>
          <a:prstGeom prst="rect">
            <a:avLst>
              <a:gd name="adj" fmla="val 17391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4416552" y="4636008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endless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'less' Word Definitions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'less'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'-less' = without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the word to its meaning: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65760" y="11887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endless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514600" y="118872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651760" y="118872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having no end; going on and on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65760" y="171907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365760" y="171907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useless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2514600" y="171907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651760" y="171907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unable to help yourself or do anything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65760" y="2249424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760" y="2249424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careless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514600" y="2249424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651760" y="2249424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paying enough attention; making mistakes because of a lack of care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365760" y="2779776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365760" y="2779776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fearless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2514600" y="2779776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651760" y="2779776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having no clear shape or structure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365760" y="3310128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365760" y="3310128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formless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2514600" y="3310128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651760" y="3310128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having no fear; brave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365760" y="384048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365760" y="38404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harmless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2514600" y="384048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651760" y="384048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able or likely to cause harm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365760" y="437083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365760" y="437083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helpless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2514600" y="437083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651760" y="437083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helpful; serving no purpose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Using '-less' Words in Sentences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'less'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'-less' = without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these example sentences. Underline the '-less' word and discuss its meaning.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261872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65760" y="1261872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13232" y="1261872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1261872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960120" y="1307592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desert seemed to stretch on in an endless expanse of sand.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365760" y="2468880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65760" y="2468880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13232" y="2468880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2468880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960120" y="2514600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broken umbrella was useless in the storm.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365760" y="3675888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65760" y="3675888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13232" y="3675888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675888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960120" y="3721608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careless mistake made him lose marks in the test.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Check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'less'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'-less' = without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'less'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'-less' = without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fearlessness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impressed everyone at the diving competition. We were reassured by 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harmlessness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of the small garden snake.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173736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73736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73736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fearlessness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73736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57200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7200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457200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harmlessness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57200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'less'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'-less' = without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fearlessness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'less'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'-less' = without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fearlessness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fear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be afraid of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less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without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ness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'less'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'-less' = without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fearlessness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fear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be afraid of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less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without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ness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fear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less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ness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9" name="Text 3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'less'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'-less' = without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fearlessness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fear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be afraid of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less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without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ness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fear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less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ness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20238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20238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28315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28315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ear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36393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6393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444703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444703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525475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525475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ss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60624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60624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68701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68701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76779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76779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ss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'less'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'-less' = without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harmlessness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'less'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'-less' = without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harmlessness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harm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hurt or damage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less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without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ness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'less'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'-less' = without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harmlessness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harm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hurt or damage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less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without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ness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harm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less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ness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9" name="Text 3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'less'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'-less' = without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harmlessness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harm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hurt or damage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less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without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ness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harm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less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ness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1951330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1951330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2677363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2677363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ar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3403397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403397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4129430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4129430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4855464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4855464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5581498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5581498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ss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6307531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6307531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7033565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7033565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55" name="Shape 53"/>
          <p:cNvSpPr/>
          <p:nvPr/>
        </p:nvSpPr>
        <p:spPr>
          <a:xfrm>
            <a:off x="7759598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7759598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ss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Build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'less'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'-less' = without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'less'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'-less' = without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wave of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helplessness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came over him when the car broke down. A sense of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hopelessness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spread through the team after conceding the final goal. His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restlessness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kept him pacing the corridor before the exam.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1148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148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41148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helplessness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1148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18516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18516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318516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hopelessness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18516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95884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5884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595884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restlessness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95884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'less'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'-less' = without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helplessness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'less'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'-less' = without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helplessness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help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assist; to make easier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less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without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ness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'less'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'-less' = without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helplessness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help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assist; to make easier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less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without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ness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help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less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ness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9" name="Text 3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'less'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'-less' = without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helplessness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help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assist; to make easier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less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without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ness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help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less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ness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1952596" y="4169664"/>
            <a:ext cx="49377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1952596" y="4169664"/>
            <a:ext cx="4937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2497015" y="4169664"/>
            <a:ext cx="49377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2497015" y="4169664"/>
            <a:ext cx="4937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3041435" y="4169664"/>
            <a:ext cx="49377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041435" y="4169664"/>
            <a:ext cx="4937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3585855" y="4169664"/>
            <a:ext cx="49377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3585855" y="4169664"/>
            <a:ext cx="4937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4130274" y="4169664"/>
            <a:ext cx="49377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4130274" y="4169664"/>
            <a:ext cx="4937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4674694" y="4169664"/>
            <a:ext cx="49377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4674694" y="4169664"/>
            <a:ext cx="4937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5219114" y="4169664"/>
            <a:ext cx="49377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5219114" y="4169664"/>
            <a:ext cx="4937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5763534" y="4169664"/>
            <a:ext cx="49377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5763534" y="4169664"/>
            <a:ext cx="4937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55" name="Shape 53"/>
          <p:cNvSpPr/>
          <p:nvPr/>
        </p:nvSpPr>
        <p:spPr>
          <a:xfrm>
            <a:off x="6307953" y="4169664"/>
            <a:ext cx="49377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6307953" y="4169664"/>
            <a:ext cx="4937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57" name="Shape 55"/>
          <p:cNvSpPr/>
          <p:nvPr/>
        </p:nvSpPr>
        <p:spPr>
          <a:xfrm>
            <a:off x="6852373" y="4169664"/>
            <a:ext cx="49377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6852373" y="4169664"/>
            <a:ext cx="4937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59" name="Shape 57"/>
          <p:cNvSpPr/>
          <p:nvPr/>
        </p:nvSpPr>
        <p:spPr>
          <a:xfrm>
            <a:off x="7396793" y="4169664"/>
            <a:ext cx="49377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7396793" y="4169664"/>
            <a:ext cx="4937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61" name="Shape 59"/>
          <p:cNvSpPr/>
          <p:nvPr/>
        </p:nvSpPr>
        <p:spPr>
          <a:xfrm>
            <a:off x="7941212" y="4169664"/>
            <a:ext cx="49377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7941212" y="4169664"/>
            <a:ext cx="4937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'less'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'-less' = without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hopelessness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'less'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'-less' = without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hopelessness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hope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wish for something good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less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without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ness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'less'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'-less' = without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hopelessness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hope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wish for something good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less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without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ness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hope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less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ness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9" name="Text 3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'less'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'-less' = without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hopelessness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hope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wish for something good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less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without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ness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hope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less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ness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1952244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1952244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2546188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2546188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o_e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3140133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140133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3734077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3734077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4328021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4328021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4921966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4921966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5515910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5515910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6109855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6109855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55" name="Shape 53"/>
          <p:cNvSpPr/>
          <p:nvPr/>
        </p:nvSpPr>
        <p:spPr>
          <a:xfrm>
            <a:off x="6703799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6703799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57" name="Shape 55"/>
          <p:cNvSpPr/>
          <p:nvPr/>
        </p:nvSpPr>
        <p:spPr>
          <a:xfrm>
            <a:off x="7297743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7297743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59" name="Shape 57"/>
          <p:cNvSpPr/>
          <p:nvPr/>
        </p:nvSpPr>
        <p:spPr>
          <a:xfrm>
            <a:off x="7891688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7891688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3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'less'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'-less' = without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restlessness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'less'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'-less' = without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restlessness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rest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relax; to stop work for a while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less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without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ness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'less'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'-less' = without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restlessness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rest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relax; to stop work for a while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less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without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ness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rest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less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ness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9" name="Text 3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'less'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'-less' = without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restlessness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rest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relax; to stop work for a while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less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without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ness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rest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less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ness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1951828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1951828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2605209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2605209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3258589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258589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3911969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3911969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4565350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4565350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5218730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5218730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5872111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5872111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ss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6525491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6525491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55" name="Shape 53"/>
          <p:cNvSpPr/>
          <p:nvPr/>
        </p:nvSpPr>
        <p:spPr>
          <a:xfrm>
            <a:off x="7178871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7178871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57" name="Shape 55"/>
          <p:cNvSpPr/>
          <p:nvPr/>
        </p:nvSpPr>
        <p:spPr>
          <a:xfrm>
            <a:off x="7832252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7832252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ss</a:t>
            </a:r>
            <a:endParaRPr lang="en-US" sz="9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Your Own Words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'less'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'-less' = without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Word Labs Morpheme Builder to find words, then fill in the matrix below.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65760" y="1170432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Name: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143000" y="1371600"/>
            <a:ext cx="292608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63440" y="1170432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Date: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349240" y="1371600"/>
            <a:ext cx="324612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5760" y="1600200"/>
            <a:ext cx="2468880" cy="438912"/>
          </a:xfrm>
          <a:prstGeom prst="rect">
            <a:avLst>
              <a:gd name="adj" fmla="val 125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5760" y="1600200"/>
            <a:ext cx="2468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9718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9718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Base Words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436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436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Suffix: '-less'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65760" y="2066544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718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" y="2404872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718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65760" y="2743200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718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65760" y="3081528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9718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3474720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I made: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36576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20040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03504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6576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20040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03504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535424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Choose 3 words and write a sentence for each: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Review Answers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'less'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'-less' = without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Here are some words you could have made. Check your list!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15568"/>
            <a:ext cx="2468880" cy="420624"/>
          </a:xfrm>
          <a:prstGeom prst="rect">
            <a:avLst>
              <a:gd name="adj" fmla="val 1304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" y="1115568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9718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9718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Base Words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9436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Suffix: '-less'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care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-less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cloud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colour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count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2971800" y="3246120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2971800" y="3246120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doubt</a:t>
            </a:r>
            <a:endParaRPr lang="en-US" sz="1300" dirty="0"/>
          </a:p>
        </p:txBody>
      </p:sp>
      <p:sp>
        <p:nvSpPr>
          <p:cNvPr id="37" name="Shape 35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65760" y="3666744"/>
            <a:ext cx="246888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2971800" y="3666744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2971800" y="366674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end</a:t>
            </a:r>
            <a:endParaRPr lang="en-US" sz="1300" dirty="0"/>
          </a:p>
        </p:txBody>
      </p:sp>
      <p:sp>
        <p:nvSpPr>
          <p:cNvPr id="41" name="Shape 39"/>
          <p:cNvSpPr/>
          <p:nvPr/>
        </p:nvSpPr>
        <p:spPr>
          <a:xfrm>
            <a:off x="5943600" y="3666744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365760" y="3611880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Sample words:</a:t>
            </a:r>
            <a:endParaRPr lang="en-US" sz="1200" dirty="0"/>
          </a:p>
        </p:txBody>
      </p:sp>
      <p:sp>
        <p:nvSpPr>
          <p:cNvPr id="43" name="Shape 41"/>
          <p:cNvSpPr/>
          <p:nvPr/>
        </p:nvSpPr>
        <p:spPr>
          <a:xfrm>
            <a:off x="365760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65760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endless</a:t>
            </a:r>
            <a:endParaRPr lang="en-US" sz="1200" dirty="0"/>
          </a:p>
        </p:txBody>
      </p:sp>
      <p:sp>
        <p:nvSpPr>
          <p:cNvPr id="45" name="Shape 43"/>
          <p:cNvSpPr/>
          <p:nvPr/>
        </p:nvSpPr>
        <p:spPr>
          <a:xfrm>
            <a:off x="2542032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2542032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useless</a:t>
            </a:r>
            <a:endParaRPr lang="en-US" sz="1200" dirty="0"/>
          </a:p>
        </p:txBody>
      </p:sp>
      <p:sp>
        <p:nvSpPr>
          <p:cNvPr id="47" name="Shape 45"/>
          <p:cNvSpPr/>
          <p:nvPr/>
        </p:nvSpPr>
        <p:spPr>
          <a:xfrm>
            <a:off x="4718304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4718304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careless</a:t>
            </a:r>
            <a:endParaRPr lang="en-US" sz="1200" dirty="0"/>
          </a:p>
        </p:txBody>
      </p:sp>
      <p:sp>
        <p:nvSpPr>
          <p:cNvPr id="49" name="Shape 47"/>
          <p:cNvSpPr/>
          <p:nvPr/>
        </p:nvSpPr>
        <p:spPr>
          <a:xfrm>
            <a:off x="6894576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6894576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fearless</a:t>
            </a:r>
            <a:endParaRPr lang="en-US" sz="1200" dirty="0"/>
          </a:p>
        </p:txBody>
      </p:sp>
      <p:sp>
        <p:nvSpPr>
          <p:cNvPr id="51" name="Shape 49"/>
          <p:cNvSpPr/>
          <p:nvPr/>
        </p:nvSpPr>
        <p:spPr>
          <a:xfrm>
            <a:off x="365760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365760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formless</a:t>
            </a:r>
            <a:endParaRPr lang="en-US" sz="1200" dirty="0"/>
          </a:p>
        </p:txBody>
      </p:sp>
      <p:sp>
        <p:nvSpPr>
          <p:cNvPr id="53" name="Shape 51"/>
          <p:cNvSpPr/>
          <p:nvPr/>
        </p:nvSpPr>
        <p:spPr>
          <a:xfrm>
            <a:off x="2542032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2542032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harmless</a:t>
            </a:r>
            <a:endParaRPr lang="en-US" sz="1200" dirty="0"/>
          </a:p>
        </p:txBody>
      </p:sp>
      <p:sp>
        <p:nvSpPr>
          <p:cNvPr id="55" name="Shape 53"/>
          <p:cNvSpPr/>
          <p:nvPr/>
        </p:nvSpPr>
        <p:spPr>
          <a:xfrm>
            <a:off x="4718304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4718304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helpless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37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Word Labs — Suffix '-less' — 3-Day Teaching Deck</dc:title>
  <dc:subject>PptxGenJS Presentation</dc:subject>
  <dc:creator>Word Labs</dc:creator>
  <cp:lastModifiedBy>Word Labs</cp:lastModifiedBy>
  <cp:revision>1</cp:revision>
  <dcterms:created xsi:type="dcterms:W3CDTF">2026-07-07T10:24:25Z</dcterms:created>
  <dcterms:modified xsi:type="dcterms:W3CDTF">2026-07-07T10:24:25Z</dcterms:modified>
</cp:coreProperties>
</file>