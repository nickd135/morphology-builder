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Suffix: '-er'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"one who does; more"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Old English: -ere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Suffix '-er' — one who does; more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'-er' = one who does; more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suffix '-er' means 'one who does; more'.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suffix '-er'.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base words and other morphemes to build and decode '-er'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'-er'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'-er' = one who does; more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The suffix '-er' means 'one who does; more'.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In 'teacher', the root is the part before the suffix '-er'.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E.g. 'un-' in 'builder' means 'not'.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'-er' = one who does; more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The suffix '-er' can mean 'a person who does something', like a teacher or builder.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The suffix '-er' only ever comes from Greek and cannot be added to English base words.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The suffix '-er' always makes a word mean the opposite of what it meant before.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Adding '-er' to a verb like 'farm' creates a noun meaning 'one who farms'.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The word 'stronger' uses '-er' to compare two things, meaning 'more strong'.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 '-er'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'-er' = one who does; more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'er'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one who does; more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Old English: -ere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suffix: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teacher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builder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stronger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farmer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reader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1460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player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66344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6344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explorer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'-er'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'-er' = one who does; more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Base Words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Suffix: '-er'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teach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-er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play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farm</a:t>
            </a:r>
            <a:endParaRPr lang="en-US" sz="1300" dirty="0"/>
          </a:p>
        </p:txBody>
      </p:sp>
      <p:sp>
        <p:nvSpPr>
          <p:cNvPr id="32" name="Shape 30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read</a:t>
            </a:r>
            <a:endParaRPr lang="en-US" sz="1300" dirty="0"/>
          </a:p>
        </p:txBody>
      </p:sp>
      <p:sp>
        <p:nvSpPr>
          <p:cNvPr id="37" name="Shape 35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build</a:t>
            </a:r>
            <a:endParaRPr lang="en-US" sz="1300" dirty="0"/>
          </a:p>
        </p:txBody>
      </p:sp>
      <p:sp>
        <p:nvSpPr>
          <p:cNvPr id="42" name="Shape 40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6576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1508760" y="4178808"/>
            <a:ext cx="822960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1508760" y="41788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2359152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7" name="Shape 45"/>
          <p:cNvSpPr/>
          <p:nvPr/>
        </p:nvSpPr>
        <p:spPr>
          <a:xfrm>
            <a:off x="2706624" y="4178808"/>
            <a:ext cx="1097280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8" name="Text 46"/>
          <p:cNvSpPr/>
          <p:nvPr/>
        </p:nvSpPr>
        <p:spPr>
          <a:xfrm>
            <a:off x="2706624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teach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3831336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0" name="Shape 48"/>
          <p:cNvSpPr/>
          <p:nvPr/>
        </p:nvSpPr>
        <p:spPr>
          <a:xfrm>
            <a:off x="4178808" y="4178808"/>
            <a:ext cx="822960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1" name="Text 49"/>
          <p:cNvSpPr/>
          <p:nvPr/>
        </p:nvSpPr>
        <p:spPr>
          <a:xfrm>
            <a:off x="4178808" y="41788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-er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5074920" y="41788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53" name="Shape 51"/>
          <p:cNvSpPr/>
          <p:nvPr/>
        </p:nvSpPr>
        <p:spPr>
          <a:xfrm>
            <a:off x="5486400" y="41788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5486400" y="41788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teacher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'er'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'-er' = one who does; more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teacher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who grows crops or raises animals on a farm.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builder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whose job is to help others learn new things at school.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stronger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who travels to new or unknown places to discover things.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farmer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 more strength or power than something else.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3310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reader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14600" y="3310128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51760" y="33101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Someone who takes part in a game or sport.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65760" y="384048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6576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player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514600" y="384048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51760" y="384048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who reads books or other written materials.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65760" y="437083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365760" y="43708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explorer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514600" y="437083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51760" y="437083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Someone who constructs buildings, houses, or other structures.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'-er'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'-er' = one who does; more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'-er'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farmer woke up early to water the vegetable garden before school started.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 is a faster runner than anyone else in our class this year.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teacher asked us to write a story about an explorer who discovered a hidden island.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'-er' = one who does; more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'-er' = one who does; more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builder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worked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harder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than ever to finish the new school hall on time.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builder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harder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'-er' = one who does; more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builder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'-er' = one who does; more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builder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build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construct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who does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'-er' = one who does; more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builder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build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construct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who does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buil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der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'-er' = one who does; more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builder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build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construct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who does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buil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der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42773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42773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63931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63931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ui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3639312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/i/</a:t>
            </a:r>
            <a:endParaRPr lang="en-US" sz="750" dirty="0"/>
          </a:p>
        </p:txBody>
      </p:sp>
      <p:sp>
        <p:nvSpPr>
          <p:cNvPr id="38" name="Shape 36"/>
          <p:cNvSpPr/>
          <p:nvPr/>
        </p:nvSpPr>
        <p:spPr>
          <a:xfrm>
            <a:off x="48508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48508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606247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06247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727405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727405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'-er' = one who does; more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harder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'-er' = one who does; more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harder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hard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great effort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'-er' = one who does; more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harder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hard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great effort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har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der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'-er' = one who does; more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harder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hard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great effort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har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der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670048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70048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4123944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123944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5577840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577840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7031736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7031736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'-er' = one who does; more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marks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'-er' = one who does; more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young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reporter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asked 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farmer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and 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teacher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about the flooding near their properties.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reporter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farmer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teacher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'-er' = one who does; more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reporter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'-er' = one who does; more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reporter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port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carry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who does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'-er' = one who does; more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reporter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port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carry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who does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por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ter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'-er' = one who does; more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reporter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port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carry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who does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por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ter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254649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254649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3293146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293146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4331643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4331643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5370141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5370141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6408638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6408638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7447135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7447135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'-er' = one who does; more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farmer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'-er' = one who does; more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farmer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farm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cultivate land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who does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'-er' = one who does; more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farmer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farm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cultivate land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who does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far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mer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'-er' = one who does; more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farmer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farm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cultivate land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who does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far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mer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670048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70048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4123944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123944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5577840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577840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7031736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7031736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'-er' = one who does; more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teacher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'-er' = one who does; more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teacher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teach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instruct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who does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'-er' = one who does; more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teacher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teach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instruct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who does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teach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'-er' = one who does; more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teacher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teach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instruct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who does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teach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670048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70048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4123944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123944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ea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5577840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577840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7031736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7031736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'-er' = one who does; more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Base Words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Suffix: '-er'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'-er' = one who does; more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Base Words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Suffix: '-er'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teach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-er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play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farm</a:t>
            </a:r>
            <a:endParaRPr lang="en-US" sz="1300" dirty="0"/>
          </a:p>
        </p:txBody>
      </p:sp>
      <p:sp>
        <p:nvSpPr>
          <p:cNvPr id="32" name="Shape 30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read</a:t>
            </a:r>
            <a:endParaRPr lang="en-US" sz="1300" dirty="0"/>
          </a:p>
        </p:txBody>
      </p:sp>
      <p:sp>
        <p:nvSpPr>
          <p:cNvPr id="37" name="Shape 35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build</a:t>
            </a:r>
            <a:endParaRPr lang="en-US" sz="1300" dirty="0"/>
          </a:p>
        </p:txBody>
      </p:sp>
      <p:sp>
        <p:nvSpPr>
          <p:cNvPr id="42" name="Shape 40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teacher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builder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stronger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farmer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365760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65760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reader</a:t>
            </a:r>
            <a:endParaRPr lang="en-US" sz="1200" dirty="0"/>
          </a:p>
        </p:txBody>
      </p:sp>
      <p:sp>
        <p:nvSpPr>
          <p:cNvPr id="54" name="Shape 52"/>
          <p:cNvSpPr/>
          <p:nvPr/>
        </p:nvSpPr>
        <p:spPr>
          <a:xfrm>
            <a:off x="2542032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2542032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player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4718304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718304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explorer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6894576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894576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reporter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Suffix '-er' — 3-Day Teaching Deck</dc:title>
  <dc:subject>PptxGenJS Presentation</dc:subject>
  <dc:creator>Word Labs</dc:creator>
  <cp:lastModifiedBy>Word Labs</cp:lastModifiedBy>
  <cp:revision>1</cp:revision>
  <dcterms:created xsi:type="dcterms:W3CDTF">2026-04-10T01:07:09Z</dcterms:created>
  <dcterms:modified xsi:type="dcterms:W3CDTF">2026-04-10T01:07:09Z</dcterms:modified>
</cp:coreProperties>
</file>