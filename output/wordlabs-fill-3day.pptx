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 note: Only 5 word families with 'fill' suit Years 3–7, so there is no Day 3 dictation. Day 3 is the word matrix lesson only. Day 2 has 1 dictation word instead of 2. Day 1 shows 4 example words instead of 5–7.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False statements, corrected:
'overfill' really means 'to fill something too much, so it spills or overflows'.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aloud:
Remember to refill your water bottle at the bubbler before sport.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Base: 'fill'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"to make full"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457200" y="3401568"/>
            <a:ext cx="4023360" cy="329184"/>
          </a:xfrm>
          <a:prstGeom prst="rect">
            <a:avLst>
              <a:gd name="adj" fmla="val 16667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401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3858768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38587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42816"/>
            <a:ext cx="4023360" cy="329184"/>
          </a:xfrm>
          <a:prstGeom prst="rect">
            <a:avLst>
              <a:gd name="adj" fmla="val 16667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242816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Word Matrix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754880" y="4023360"/>
            <a:ext cx="4114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note: Only 5 word families with 'fill' suit Years 3–7, so there is no Day 3 dictation. Day 3 is the word matrix lesson only. Day 2 has 1 dictation word instead of 2. Day 1 shows 4 example words instead of 5–7.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'fill' — to make full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base 'fill' means 'to make full' and how it helps us read and spell longer words.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what the base 'fill' means.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build and break down 'fill' words using prefixes and suffixes.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'fill' words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base is the main part of a word that carries its meaning. The base 'fill' means 'to make full'. You can find it in 'filler'.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prefix is a word part added to the start of a word to change its meaning. In 'overfill', 'over-' means 'too much'.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suffix is a word part added to the end of a word to change its meaning or job. In 'filler', '-er' means 'thing that'.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these statements true or false? Decide with a partner.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'fill' means 'to make full'.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'filler' means 'something used to fill a gap or space'.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'overfill' means 'a big site where rubbish is buried in the ground'.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'landfill' means 'a big site where rubbish is buried in the ground'.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  /  F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answers.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The base 'fill' means 'to make full'.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'filler' means 'something used to fill a gap or space'.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'overfill' means 'a big site where rubbish is buried in the ground'.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'landfill' means 'a big site where rubbish is buried in the ground'.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 'fill' — Meaning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352044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03320" y="7772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 make full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base: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landfill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'fill'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one part from each column, left to right (you can skip a column). Not every combination makes a real word!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02996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43230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8872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8872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62763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2029968"/>
            <a:ext cx="2194560" cy="365760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432304"/>
            <a:ext cx="2194560" cy="365760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971800"/>
            <a:ext cx="1051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1463040" y="2971800"/>
            <a:ext cx="8686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1463040" y="2971800"/>
            <a:ext cx="868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368296" y="2971800"/>
            <a:ext cx="274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2660904" y="2971800"/>
            <a:ext cx="73152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660904" y="2971800"/>
            <a:ext cx="731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3474720" y="2971800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3886200" y="2971800"/>
            <a:ext cx="146304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886200" y="2971800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filler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each word to its meaning. The meanings are mixed up!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something used to fill a gap or space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a big site where rubbish is buried in the ground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landfill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to fill something too much, so it spills or overflows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make something full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 Word Definitions —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matches.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 to make something full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00784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00784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00784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00784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 something used to fill a gap or space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12848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12848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landfill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12848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12848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 a big site where rubbish is buried in the ground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24912"/>
            <a:ext cx="2011680" cy="438912"/>
          </a:xfrm>
          <a:prstGeom prst="rect">
            <a:avLst>
              <a:gd name="adj" fmla="val 125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24912"/>
            <a:ext cx="2011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overfill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24912"/>
            <a:ext cx="6263640" cy="438912"/>
          </a:xfrm>
          <a:prstGeom prst="rect">
            <a:avLst>
              <a:gd name="adj" fmla="val 12500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24912"/>
            <a:ext cx="603504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D.  to fill something too much, so it spills or overflows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'fill'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sentences. Underline the 'fill' word and talk about what it means.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fill the jug with water.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used foam as a filler in the gaps of the wall.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Recycling keeps plastic out of landfill.</a:t>
            </a:r>
            <a:endParaRPr lang="en-US" sz="15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the passage aloud. Students write it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passage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2880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754880" y="3822192"/>
            <a:ext cx="256032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3822192"/>
            <a:ext cx="2560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writing.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 to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refill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your water bottle at the bubbler before sport.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write each focus word below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29184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329184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29184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1)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9" name="Text 27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3" name="Text 31"/>
          <p:cNvSpPr/>
          <p:nvPr/>
        </p:nvSpPr>
        <p:spPr>
          <a:xfrm>
            <a:off x="1874520" y="4096512"/>
            <a:ext cx="6903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93827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93827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93827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again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803392" y="2276856"/>
            <a:ext cx="1828800" cy="365760"/>
          </a:xfrm>
          <a:prstGeom prst="rect">
            <a:avLst>
              <a:gd name="adj" fmla="val 20000"/>
            </a:avLst>
          </a:prstGeom>
          <a:solidFill>
            <a:srgbClr val="CCFBF1"/>
          </a:solidFill>
          <a:ln w="317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803392" y="22768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3392" y="26791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make full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99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999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645152" y="3364992"/>
            <a:ext cx="1097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742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742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65760" y="4096512"/>
            <a:ext cx="1371600" cy="731520"/>
          </a:xfrm>
          <a:prstGeom prst="rect">
            <a:avLst>
              <a:gd name="adj" fmla="val 7500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096512"/>
            <a:ext cx="1371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874520" y="4096512"/>
            <a:ext cx="6903720" cy="731520"/>
          </a:xfrm>
          <a:prstGeom prst="rect">
            <a:avLst>
              <a:gd name="adj" fmla="val 7500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42773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42773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3931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3931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85089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5089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06247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6247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7274052" y="4187952"/>
            <a:ext cx="685800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4052" y="4187952"/>
            <a:ext cx="685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→ Check → Write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1143000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43000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5156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5156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156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5156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47472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7472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7472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1536192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36192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5897880" y="1975104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13432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97880" y="2651760"/>
            <a:ext cx="2194560" cy="30175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97880" y="2990088"/>
            <a:ext cx="2194560" cy="30175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4069080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416552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each.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72400" y="91440"/>
            <a:ext cx="109728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7D2F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'fill'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Base: 'fill' = to make full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more words this matrix can build. Did you find them?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05156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5156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 &amp; words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solidFill>
            <a:srgbClr val="FEF3C7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196596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over-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solidFill>
            <a:srgbClr val="DDD6FE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51560" y="2350008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47472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7472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Bases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solidFill>
            <a:srgbClr val="CCFBF1"/>
          </a:solidFill>
          <a:ln w="254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fill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47472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47472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97880" y="1143000"/>
            <a:ext cx="2194560" cy="402336"/>
          </a:xfrm>
          <a:prstGeom prst="rect">
            <a:avLst>
              <a:gd name="adj" fmla="val 13636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97880" y="1143000"/>
            <a:ext cx="219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solidFill>
            <a:srgbClr val="FCE7F3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97880" y="1581912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-er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897880" y="1965960"/>
            <a:ext cx="2194560" cy="347472"/>
          </a:xfrm>
          <a:prstGeom prst="rect">
            <a:avLst/>
          </a:prstGeom>
          <a:solidFill>
            <a:srgbClr val="F1F5F9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897880" y="2350008"/>
            <a:ext cx="2194560" cy="347472"/>
          </a:xfrm>
          <a:prstGeom prst="rect">
            <a:avLst/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82549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365760" y="3191256"/>
            <a:ext cx="2011680" cy="365760"/>
          </a:xfrm>
          <a:prstGeom prst="rect">
            <a:avLst>
              <a:gd name="adj" fmla="val 15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1912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refill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Base 'fill' — Teaching Deck</dc:title>
  <dc:subject>PptxGenJS Presentation</dc:subject>
  <dc:creator>Word Labs</dc:creator>
  <cp:lastModifiedBy>Word Labs</cp:lastModifiedBy>
  <cp:revision>1</cp:revision>
  <dcterms:created xsi:type="dcterms:W3CDTF">2026-10-22T10:14:34Z</dcterms:created>
  <dcterms:modified xsi:type="dcterms:W3CDTF">2026-10-22T10:14:34Z</dcterms:modified>
</cp:coreProperties>
</file>