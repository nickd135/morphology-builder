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Teacher note: Only 4 word families with 'join' suit Years 3–7, so there is no Day 3 dictation. Day 3 is the word matrix lesson only. Day 2 has 1 dictation word instead of 2. Day 1 shows 3 example words instead of 5–7.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False statements, corrected:
'join' really means 'connect'.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aloud:
Our classroom has an adjoining room where we keep the art supplies.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3931920"/>
            <a:ext cx="9144000" cy="12115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800" kern="0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LABS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Base: 'join'</a:t>
            </a:r>
            <a:endParaRPr lang="en-US" sz="6400" dirty="0"/>
          </a:p>
        </p:txBody>
      </p:sp>
      <p:sp>
        <p:nvSpPr>
          <p:cNvPr id="6" name="Text 4"/>
          <p:cNvSpPr/>
          <p:nvPr/>
        </p:nvSpPr>
        <p:spPr>
          <a:xfrm>
            <a:off x="457200" y="2331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200" i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"connect"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457200" y="3401568"/>
            <a:ext cx="4023360" cy="329184"/>
          </a:xfrm>
          <a:prstGeom prst="rect">
            <a:avLst>
              <a:gd name="adj" fmla="val 16667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3401568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— Morpheme Meaning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3858768"/>
            <a:ext cx="4023360" cy="329184"/>
          </a:xfrm>
          <a:prstGeom prst="rect">
            <a:avLst>
              <a:gd name="adj" fmla="val 16667"/>
            </a:avLst>
          </a:prstGeom>
          <a:solidFill>
            <a:srgbClr val="1E1B4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3858768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— Dictation &amp; Breakdown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4242816"/>
            <a:ext cx="4023360" cy="329184"/>
          </a:xfrm>
          <a:prstGeom prst="rect">
            <a:avLst>
              <a:gd name="adj" fmla="val 16667"/>
            </a:avLst>
          </a:prstGeom>
          <a:solidFill>
            <a:srgbClr val="1E1B4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4242816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— Word Matrix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754880" y="4023360"/>
            <a:ext cx="4114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 note: Only 4 word families with 'join' suit Years 3–7, so there is no Day 3 dictation. Day 3 is the word matrix lesson only. Day 2 has 1 dictation word instead of 2. Day 1 shows 3 example words instead of 5–7.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 Meaning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'join' — connect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Learning Intention &amp; Success Criteria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'join'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'join' = connect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822960"/>
            <a:ext cx="8412480" cy="1234440"/>
          </a:xfrm>
          <a:prstGeom prst="rect">
            <a:avLst>
              <a:gd name="adj" fmla="val 7407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02920" y="868680"/>
            <a:ext cx="813816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 are learning that the base 'join' means 'connect' and how it helps us read and spell longer words.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365760" y="219456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Success Criteria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65760" y="2633472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26334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41248" y="2633472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explain what the base 'join' means.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65760" y="3291840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3291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41248" y="3291840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build and break down 'join' words using prefixes and suffixes.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365760" y="3950208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39502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41248" y="3950208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read and spell 'join' words in sentences.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Vocabulary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'join'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'join' = connect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804672"/>
            <a:ext cx="8412480" cy="1170432"/>
          </a:xfrm>
          <a:prstGeom prst="rect">
            <a:avLst>
              <a:gd name="adj" fmla="val 781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804672"/>
            <a:ext cx="1280160" cy="1170432"/>
          </a:xfrm>
          <a:prstGeom prst="rect">
            <a:avLst>
              <a:gd name="adj" fmla="val 7813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81328" y="804672"/>
            <a:ext cx="91440" cy="11704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80467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691640" y="84124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base is the main part of a word that carries its meaning. The base 'join' means 'connect'. You can find it in 'joiner'.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365760" y="2130552"/>
            <a:ext cx="8412480" cy="1170432"/>
          </a:xfrm>
          <a:prstGeom prst="rect">
            <a:avLst>
              <a:gd name="adj" fmla="val 7813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2130552"/>
            <a:ext cx="1280160" cy="1170432"/>
          </a:xfrm>
          <a:prstGeom prst="rect">
            <a:avLst>
              <a:gd name="adj" fmla="val 7813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81328" y="2130552"/>
            <a:ext cx="91440" cy="117043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213055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691640" y="216712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prefix is a word part added to the start of a word to change its meaning. In 'rejoin', 're-' means 'again'.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365760" y="3456432"/>
            <a:ext cx="8412480" cy="1170432"/>
          </a:xfrm>
          <a:prstGeom prst="rect">
            <a:avLst>
              <a:gd name="adj" fmla="val 7813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65760" y="3456432"/>
            <a:ext cx="1280160" cy="1170432"/>
          </a:xfrm>
          <a:prstGeom prst="rect">
            <a:avLst>
              <a:gd name="adj" fmla="val 7813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81328" y="3456432"/>
            <a:ext cx="91440" cy="1170432"/>
          </a:xfrm>
          <a:prstGeom prst="rect">
            <a:avLst/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45643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691640" y="349300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suffix is a word part added to the end of a word to change its meaning or job. In 'joiner', '-er' means 'person who'.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 or False?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'join'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'join' = connect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these statements true or false? Decide with a partner.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07008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07008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The base 'join' means 'connect'.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772400" y="1207008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4" name="Text 12"/>
          <p:cNvSpPr/>
          <p:nvPr/>
        </p:nvSpPr>
        <p:spPr>
          <a:xfrm>
            <a:off x="7772400" y="120700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1901952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8640" y="1901952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'rejoin' means 'to join something again after leaving it'.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772400" y="1901952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8" name="Text 16"/>
          <p:cNvSpPr/>
          <p:nvPr/>
        </p:nvSpPr>
        <p:spPr>
          <a:xfrm>
            <a:off x="7772400" y="1901952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2596896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8640" y="2596896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'joiner' means 'someone whose job is to make or join wood, or a person who joins in'.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772400" y="2596896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2" name="Text 20"/>
          <p:cNvSpPr/>
          <p:nvPr/>
        </p:nvSpPr>
        <p:spPr>
          <a:xfrm>
            <a:off x="7772400" y="2596896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3291840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48640" y="3291840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The base 'join' means 'to break'.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772400" y="3291840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6" name="Text 24"/>
          <p:cNvSpPr/>
          <p:nvPr/>
        </p:nvSpPr>
        <p:spPr>
          <a:xfrm>
            <a:off x="7772400" y="329184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 or False? —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'join'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'join' = connect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answers.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07008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07008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The base 'join' means 'connect'.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772400" y="1207008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0" y="120700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1901952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8640" y="1901952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'rejoin' means 'to join something again after leaving it'.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772400" y="1901952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0" y="1901952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2596896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8640" y="2596896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'joiner' means 'someone whose job is to make or join wood, or a person who joins in'.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772400" y="2596896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72400" y="2596896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3291840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48640" y="3291840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The base 'join' means 'to break'.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772400" y="3291840"/>
            <a:ext cx="1005840" cy="566928"/>
          </a:xfrm>
          <a:prstGeom prst="rect">
            <a:avLst>
              <a:gd name="adj" fmla="val 12903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772400" y="329184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FALSE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 'join' — Meaning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'join'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'join' = connect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1371600"/>
          </a:xfrm>
          <a:prstGeom prst="rect">
            <a:avLst>
              <a:gd name="adj" fmla="val 8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65760" y="777240"/>
            <a:ext cx="3108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'join'</a:t>
            </a:r>
            <a:endParaRPr lang="en-US" sz="4800" dirty="0"/>
          </a:p>
        </p:txBody>
      </p:sp>
      <p:sp>
        <p:nvSpPr>
          <p:cNvPr id="12" name="Shape 10"/>
          <p:cNvSpPr/>
          <p:nvPr/>
        </p:nvSpPr>
        <p:spPr>
          <a:xfrm>
            <a:off x="3520440" y="777240"/>
            <a:ext cx="36576" cy="1371600"/>
          </a:xfrm>
          <a:prstGeom prst="rect">
            <a:avLst/>
          </a:prstGeom>
          <a:solidFill>
            <a:srgbClr val="312E81"/>
          </a:solidFill>
          <a:ln w="12700">
            <a:solidFill>
              <a:srgbClr val="312E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703320" y="777240"/>
            <a:ext cx="4937760" cy="1371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connect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365760" y="233172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Words using this base: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6576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join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51460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51460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joiner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66344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6344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rejoin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Build with 'join'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'join'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'join' = connect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one part from each column, left to right (you can skip a column). Not every combination makes a real word!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1051560" y="1188720"/>
            <a:ext cx="2194560" cy="402336"/>
          </a:xfrm>
          <a:prstGeom prst="rect">
            <a:avLst>
              <a:gd name="adj" fmla="val 13636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51560" y="118872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051560" y="1627632"/>
            <a:ext cx="2194560" cy="365760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51560" y="162763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re-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051560" y="2029968"/>
            <a:ext cx="2194560" cy="365760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51560" y="202996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ad-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3474720" y="1188720"/>
            <a:ext cx="219456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474720" y="118872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474720" y="1627632"/>
            <a:ext cx="2194560" cy="365760"/>
          </a:xfrm>
          <a:prstGeom prst="rect">
            <a:avLst/>
          </a:prstGeom>
          <a:solidFill>
            <a:srgbClr val="CCFBF1"/>
          </a:solidFill>
          <a:ln w="254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474720" y="162763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join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3474720" y="2029968"/>
            <a:ext cx="2194560" cy="3657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897880" y="1188720"/>
            <a:ext cx="219456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897880" y="118872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897880" y="1627632"/>
            <a:ext cx="2194560" cy="365760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897880" y="162763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-er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5897880" y="2029968"/>
            <a:ext cx="2194560" cy="365760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897880" y="202996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-ing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365760" y="2569464"/>
            <a:ext cx="1051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1463040" y="2569464"/>
            <a:ext cx="868680" cy="420624"/>
          </a:xfrm>
          <a:prstGeom prst="rect">
            <a:avLst>
              <a:gd name="adj" fmla="val 17391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1463040" y="2569464"/>
            <a:ext cx="868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join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2368296" y="2569464"/>
            <a:ext cx="274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2660904" y="2569464"/>
            <a:ext cx="731520" cy="420624"/>
          </a:xfrm>
          <a:prstGeom prst="rect">
            <a:avLst>
              <a:gd name="adj" fmla="val 17391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2660904" y="2569464"/>
            <a:ext cx="731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-er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3474720" y="2569464"/>
            <a:ext cx="365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=</a:t>
            </a:r>
            <a:endParaRPr lang="en-US" sz="1800" dirty="0"/>
          </a:p>
        </p:txBody>
      </p:sp>
      <p:sp>
        <p:nvSpPr>
          <p:cNvPr id="35" name="Shape 33"/>
          <p:cNvSpPr/>
          <p:nvPr/>
        </p:nvSpPr>
        <p:spPr>
          <a:xfrm>
            <a:off x="3886200" y="2569464"/>
            <a:ext cx="1463040" cy="420624"/>
          </a:xfrm>
          <a:prstGeom prst="rect">
            <a:avLst>
              <a:gd name="adj" fmla="val 17391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886200" y="2569464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joiner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'join' Word Definitions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'join'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'join' = connect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each word to its meaning. The meanings are mixed up!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65760" y="118872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join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514600" y="1188720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51760" y="1188720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to join something again after leaving it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1700784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5760" y="1700784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joiner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514600" y="1700784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51760" y="1700784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 to become a member of a group, or to connect two things together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2212848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760" y="2212848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rejoin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514600" y="2212848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51760" y="2212848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 someone whose job is to make or join wood, or a person who joins in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'join' Word Definitions —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'join'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'join' = connect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matches.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65760" y="118872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join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514600" y="1188720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51760" y="1188720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to become a member of a group, or to connect two things together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1700784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5760" y="1700784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joiner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514600" y="1700784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51760" y="1700784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 someone whose job is to make or join wood, or a person who joins in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2212848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760" y="2212848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rejoin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514600" y="2212848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51760" y="2212848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 to join something again after leaving it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Using 'join' Words in Sentences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'join'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'join' = connect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these sentences. Underline the 'join' word and talk about what it means.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61872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" y="1261872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13232" y="1261872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1261872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960120" y="1307592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Would you like to join our football team?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365760" y="2468880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2468880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13232" y="2468880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2468880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960120" y="2514600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joiner built a sturdy wooden bookshelf for the library.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365760" y="3675888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65760" y="3675888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13232" y="3675888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3675888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960120" y="3721608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the break, the students will rejoin their class.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&amp;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 → Write → Reveal → Check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Listen &amp; Write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'join'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'join' = connect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530352"/>
          </a:xfrm>
          <a:prstGeom prst="rect">
            <a:avLst>
              <a:gd name="adj" fmla="val 13793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77240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📢  Teacher reads the passage aloud. Students write it in their books.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160020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19456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78892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38328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passage here ↑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2880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82880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focus word</a:t>
            </a:r>
            <a:endParaRPr lang="en-US" sz="2800" dirty="0"/>
          </a:p>
        </p:txBody>
      </p:sp>
      <p:sp>
        <p:nvSpPr>
          <p:cNvPr id="18" name="Shape 16"/>
          <p:cNvSpPr/>
          <p:nvPr/>
        </p:nvSpPr>
        <p:spPr>
          <a:xfrm>
            <a:off x="475488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75488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punctuation mark</a:t>
            </a:r>
            <a:endParaRPr lang="en-US" sz="2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Reveal &amp; Underline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'join'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'join' = connect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writing. Underline the focus words.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8412480" cy="1554480"/>
          </a:xfrm>
          <a:prstGeom prst="rect">
            <a:avLst>
              <a:gd name="adj" fmla="val 705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61872"/>
            <a:ext cx="8046720" cy="140817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classroom has an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adjoining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room where we keep the art supplies.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65760" y="285292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85292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write each focus word below — leave room for your breakdown.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291840" y="3456432"/>
            <a:ext cx="256032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291840" y="3977640"/>
            <a:ext cx="25603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3291840" y="345643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adjoining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291840" y="400507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1 of 1)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'join'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'join' = connect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adjoining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'join'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'join' = connect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adjoining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towards; to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join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ing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doing; causing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8" name="Text 26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2" name="Text 30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'join'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'join' = connect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adjoining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towards; to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join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ing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doing; causing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join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ing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9" name="Text 37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'join'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'join' = connect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adjoining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towards; to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join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ing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doing; causing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join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ing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2124837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124837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303352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03352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3942207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942207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j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485089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85089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oi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5759577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759577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666826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66826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7576947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7576947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ng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→ Check → Write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Build Your Own Words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'join'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'join' = connect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Word Labs Morpheme Builder to find words, then fill in the matrix below.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65760" y="1143000"/>
            <a:ext cx="731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Name: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143000" y="1371600"/>
            <a:ext cx="292608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63440" y="1143000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Date: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349240" y="1371600"/>
            <a:ext cx="324612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51560" y="1536192"/>
            <a:ext cx="2194560" cy="402336"/>
          </a:xfrm>
          <a:prstGeom prst="rect">
            <a:avLst>
              <a:gd name="adj" fmla="val 13636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51560" y="1536192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1051560" y="1975104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51560" y="2313432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51560" y="2651760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51560" y="2990088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474720" y="1536192"/>
            <a:ext cx="219456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74720" y="1536192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474720" y="1975104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474720" y="2313432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474720" y="2651760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474720" y="2990088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897880" y="1536192"/>
            <a:ext cx="219456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897880" y="1536192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5897880" y="1975104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897880" y="2313432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897880" y="2651760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897880" y="2990088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5760" y="3474720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Words I made: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36576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20040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03504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6576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20040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03504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65760" y="4535424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Choose 3 words and write a sentence for each.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Review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'join'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'join' = connect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Here are more words this matrix can build. Did you find them?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1051560" y="1143000"/>
            <a:ext cx="2194560" cy="402336"/>
          </a:xfrm>
          <a:prstGeom prst="rect">
            <a:avLst>
              <a:gd name="adj" fmla="val 13636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51560" y="114300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051560" y="1581912"/>
            <a:ext cx="2194560" cy="347472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51560" y="1581912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re-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051560" y="1965960"/>
            <a:ext cx="2194560" cy="347472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51560" y="1965960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ad-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3474720" y="1143000"/>
            <a:ext cx="219456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474720" y="114300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474720" y="1581912"/>
            <a:ext cx="2194560" cy="347472"/>
          </a:xfrm>
          <a:prstGeom prst="rect">
            <a:avLst/>
          </a:prstGeom>
          <a:solidFill>
            <a:srgbClr val="CCFBF1"/>
          </a:solidFill>
          <a:ln w="254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474720" y="1581912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join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3474720" y="1965960"/>
            <a:ext cx="2194560" cy="34747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897880" y="1143000"/>
            <a:ext cx="219456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897880" y="114300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897880" y="1581912"/>
            <a:ext cx="2194560" cy="347472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897880" y="1581912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-er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5897880" y="1965960"/>
            <a:ext cx="2194560" cy="347472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897880" y="1965960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-ing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365760" y="24414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Sample words: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365760" y="2807208"/>
            <a:ext cx="2011680" cy="365760"/>
          </a:xfrm>
          <a:prstGeom prst="rect">
            <a:avLst>
              <a:gd name="adj" fmla="val 15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5760" y="2807208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adjoining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Word Labs — Base 'join' — Teaching Deck</dc:title>
  <dc:subject>PptxGenJS Presentation</dc:subject>
  <dc:creator>Word Labs</dc:creator>
  <cp:lastModifiedBy>Word Labs</cp:lastModifiedBy>
  <cp:revision>1</cp:revision>
  <dcterms:created xsi:type="dcterms:W3CDTF">2026-10-22T10:14:32Z</dcterms:created>
  <dcterms:modified xsi:type="dcterms:W3CDTF">2026-10-22T10:14:32Z</dcterms:modified>
</cp:coreProperties>
</file>