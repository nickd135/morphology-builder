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Only 9 word families with 'scope' suit Years 3–7, so Day 3 has 1 dictation word instead of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 statements, corrected:
'periscope' really means 'a tube with mirrors that lets you see over or around things'.
'horoscope' really means 'a prediction about someone's future based on the position of the stars and planets'.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 doctor let me listen through her stethoscope, then gave me a kaleidoscope to play with in the waiting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Dad pulled out the telescopic handle on his suitcase and wheeled it to the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9488"/>
          </a:solidFill>
          <a:ln w="12700">
            <a:solidFill>
              <a:srgbClr val="0D9488"/>
            </a:solidFill>
            <a:prstDash val="solid"/>
          </a:ln>
        </p:spPr>
      </p:sp>
      <p:sp>
        <p:nvSpPr>
          <p:cNvPr id="3" name="Shape 1"/>
          <p:cNvSpPr/>
          <p:nvPr/>
        </p:nvSpPr>
        <p:spPr>
          <a:xfrm>
            <a:off x="0" y="3931920"/>
            <a:ext cx="9144000" cy="1211580"/>
          </a:xfrm>
          <a:prstGeom prst="rect">
            <a:avLst/>
          </a:prstGeom>
          <a:solidFill>
            <a:srgbClr val="0F172A"/>
          </a:solidFill>
          <a:ln w="12700">
            <a:solidFill>
              <a:srgbClr val="0F172A"/>
            </a:solidFill>
            <a:prstDash val="solid"/>
          </a:ln>
        </p:spPr>
      </p:sp>
      <p:sp>
        <p:nvSpPr>
          <p:cNvPr id="4" name="Text 2"/>
          <p:cNvSpPr/>
          <p:nvPr/>
        </p:nvSpPr>
        <p:spPr>
          <a:xfrm>
            <a:off x="457200" y="502920"/>
            <a:ext cx="8229600" cy="502920"/>
          </a:xfrm>
          <a:prstGeom prst="rect">
            <a:avLst/>
          </a:prstGeom>
          <a:noFill/>
          <a:ln/>
        </p:spPr>
        <p:txBody>
          <a:bodyPr wrap="square" lIns="0" tIns="0" rIns="0" bIns="0" rtlCol="0" anchor="ctr"/>
          <a:lstStyle/>
          <a:p>
            <a:pPr algn="l" indent="0" marL="0">
              <a:buNone/>
            </a:pPr>
            <a:r>
              <a:rPr lang="en-US" sz="1300" b="1" spc="800" kern="0" dirty="0">
                <a:solidFill>
                  <a:srgbClr val="0D9488"/>
                </a:solidFill>
                <a:latin typeface="Trebuchet MS" pitchFamily="34" charset="0"/>
                <a:ea typeface="Trebuchet MS" pitchFamily="34" charset="-122"/>
                <a:cs typeface="Trebuchet MS" pitchFamily="34" charset="-120"/>
              </a:rPr>
              <a:t>WORD LABS</a:t>
            </a:r>
            <a:endParaRPr lang="en-US" sz="1300" dirty="0"/>
          </a:p>
        </p:txBody>
      </p:sp>
      <p:sp>
        <p:nvSpPr>
          <p:cNvPr id="5" name="Text 3"/>
          <p:cNvSpPr/>
          <p:nvPr/>
        </p:nvSpPr>
        <p:spPr>
          <a:xfrm>
            <a:off x="457200" y="1005840"/>
            <a:ext cx="8229600" cy="1280160"/>
          </a:xfrm>
          <a:prstGeom prst="rect">
            <a:avLst/>
          </a:prstGeom>
          <a:noFill/>
          <a:ln/>
        </p:spPr>
        <p:txBody>
          <a:bodyPr wrap="square" lIns="0" tIns="0" rIns="0" bIns="0" rtlCol="0" anchor="t">
            <a:normAutofit/>
          </a:bodyPr>
          <a:lstStyle/>
          <a:p>
            <a:pPr algn="l" indent="0" marL="0">
              <a:buNone/>
            </a:pPr>
            <a:r>
              <a:rPr lang="en-US" sz="6400" b="1" dirty="0">
                <a:solidFill>
                  <a:srgbClr val="FFFFFF"/>
                </a:solidFill>
                <a:latin typeface="Trebuchet MS" pitchFamily="34" charset="0"/>
                <a:ea typeface="Trebuchet MS" pitchFamily="34" charset="-122"/>
                <a:cs typeface="Trebuchet MS" pitchFamily="34" charset="-120"/>
              </a:rPr>
              <a:t>Root: 'scope'</a:t>
            </a:r>
            <a:endParaRPr lang="en-US" sz="6400" dirty="0"/>
          </a:p>
        </p:txBody>
      </p:sp>
      <p:sp>
        <p:nvSpPr>
          <p:cNvPr id="6" name="Text 4"/>
          <p:cNvSpPr/>
          <p:nvPr/>
        </p:nvSpPr>
        <p:spPr>
          <a:xfrm>
            <a:off x="457200" y="2331720"/>
            <a:ext cx="8229600" cy="548640"/>
          </a:xfrm>
          <a:prstGeom prst="rect">
            <a:avLst/>
          </a:prstGeom>
          <a:noFill/>
          <a:ln/>
        </p:spPr>
        <p:txBody>
          <a:bodyPr wrap="square" rtlCol="0" anchor="ctr">
            <a:normAutofit/>
          </a:bodyPr>
          <a:lstStyle/>
          <a:p>
            <a:pPr algn="l" indent="0" marL="0">
              <a:buNone/>
            </a:pPr>
            <a:r>
              <a:rPr lang="en-US" sz="2200" i="1" dirty="0">
                <a:solidFill>
                  <a:srgbClr val="A5B4FC"/>
                </a:solidFill>
                <a:latin typeface="Calibri" pitchFamily="34" charset="0"/>
                <a:ea typeface="Calibri" pitchFamily="34" charset="-122"/>
                <a:cs typeface="Calibri" pitchFamily="34" charset="-120"/>
              </a:rPr>
              <a:t>"look; view; examine"</a:t>
            </a:r>
            <a:endParaRPr lang="en-US" sz="2200" dirty="0"/>
          </a:p>
        </p:txBody>
      </p:sp>
      <p:sp>
        <p:nvSpPr>
          <p:cNvPr id="7" name="Text 5"/>
          <p:cNvSpPr/>
          <p:nvPr/>
        </p:nvSpPr>
        <p:spPr>
          <a:xfrm>
            <a:off x="457200" y="2926080"/>
            <a:ext cx="4572000" cy="365760"/>
          </a:xfrm>
          <a:prstGeom prst="rect">
            <a:avLst/>
          </a:prstGeom>
          <a:noFill/>
          <a:ln/>
        </p:spPr>
        <p:txBody>
          <a:bodyPr wrap="square" lIns="0" tIns="0" rIns="0" bIns="0" rtlCol="0" anchor="ctr"/>
          <a:lstStyle/>
          <a:p>
            <a:pPr algn="l" indent="0" marL="0">
              <a:buNone/>
            </a:pPr>
            <a:r>
              <a:rPr lang="en-US" sz="1300" dirty="0">
                <a:solidFill>
                  <a:srgbClr val="818CF8"/>
                </a:solidFill>
                <a:latin typeface="Calibri" pitchFamily="34" charset="0"/>
                <a:ea typeface="Calibri" pitchFamily="34" charset="-122"/>
                <a:cs typeface="Calibri" pitchFamily="34" charset="-120"/>
              </a:rPr>
              <a:t>Origin: Greek root</a:t>
            </a:r>
            <a:endParaRPr lang="en-US" sz="1300" dirty="0"/>
          </a:p>
        </p:txBody>
      </p:sp>
      <p:sp>
        <p:nvSpPr>
          <p:cNvPr id="8" name="Shape 6"/>
          <p:cNvSpPr/>
          <p:nvPr/>
        </p:nvSpPr>
        <p:spPr>
          <a:xfrm>
            <a:off x="457200" y="3401568"/>
            <a:ext cx="4023360" cy="329184"/>
          </a:xfrm>
          <a:prstGeom prst="rect">
            <a:avLst>
              <a:gd name="adj" fmla="val 16667"/>
            </a:avLst>
          </a:prstGeom>
          <a:solidFill>
            <a:srgbClr val="0D9488"/>
          </a:solidFill>
          <a:ln w="12700">
            <a:solidFill>
              <a:srgbClr val="0D9488"/>
            </a:solidFill>
            <a:prstDash val="solid"/>
          </a:ln>
        </p:spPr>
      </p:sp>
      <p:sp>
        <p:nvSpPr>
          <p:cNvPr id="9" name="Text 7"/>
          <p:cNvSpPr/>
          <p:nvPr/>
        </p:nvSpPr>
        <p:spPr>
          <a:xfrm>
            <a:off x="457200" y="3401568"/>
            <a:ext cx="40233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 1 — Morpheme Meaning</a:t>
            </a:r>
            <a:endParaRPr lang="en-US" sz="1100" dirty="0"/>
          </a:p>
        </p:txBody>
      </p:sp>
      <p:sp>
        <p:nvSpPr>
          <p:cNvPr id="10" name="Shape 8"/>
          <p:cNvSpPr/>
          <p:nvPr/>
        </p:nvSpPr>
        <p:spPr>
          <a:xfrm>
            <a:off x="457200" y="3858768"/>
            <a:ext cx="4023360" cy="329184"/>
          </a:xfrm>
          <a:prstGeom prst="rect">
            <a:avLst>
              <a:gd name="adj" fmla="val 16667"/>
            </a:avLst>
          </a:prstGeom>
          <a:solidFill>
            <a:srgbClr val="1E1B4B"/>
          </a:solidFill>
          <a:ln w="12700">
            <a:solidFill>
              <a:srgbClr val="6366F1"/>
            </a:solidFill>
            <a:prstDash val="solid"/>
          </a:ln>
        </p:spPr>
      </p:sp>
      <p:sp>
        <p:nvSpPr>
          <p:cNvPr id="11" name="Text 9"/>
          <p:cNvSpPr/>
          <p:nvPr/>
        </p:nvSpPr>
        <p:spPr>
          <a:xfrm>
            <a:off x="457200" y="3858768"/>
            <a:ext cx="4023360" cy="329184"/>
          </a:xfrm>
          <a:prstGeom prst="rect">
            <a:avLst/>
          </a:prstGeom>
          <a:noFill/>
          <a:ln/>
        </p:spPr>
        <p:txBody>
          <a:bodyPr wrap="square" lIns="0" tIns="0" rIns="0" bIns="0"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Day 2 — Dictation &amp; Breakdown</a:t>
            </a:r>
            <a:endParaRPr lang="en-US" sz="1100" dirty="0"/>
          </a:p>
        </p:txBody>
      </p:sp>
      <p:sp>
        <p:nvSpPr>
          <p:cNvPr id="12" name="Shape 10"/>
          <p:cNvSpPr/>
          <p:nvPr/>
        </p:nvSpPr>
        <p:spPr>
          <a:xfrm>
            <a:off x="457200" y="4242816"/>
            <a:ext cx="4023360" cy="329184"/>
          </a:xfrm>
          <a:prstGeom prst="rect">
            <a:avLst>
              <a:gd name="adj" fmla="val 16667"/>
            </a:avLst>
          </a:prstGeom>
          <a:solidFill>
            <a:srgbClr val="1E1B4B"/>
          </a:solidFill>
          <a:ln w="12700">
            <a:solidFill>
              <a:srgbClr val="6366F1"/>
            </a:solidFill>
            <a:prstDash val="solid"/>
          </a:ln>
        </p:spPr>
      </p:sp>
      <p:sp>
        <p:nvSpPr>
          <p:cNvPr id="13" name="Text 11"/>
          <p:cNvSpPr/>
          <p:nvPr/>
        </p:nvSpPr>
        <p:spPr>
          <a:xfrm>
            <a:off x="457200" y="4242816"/>
            <a:ext cx="4023360" cy="329184"/>
          </a:xfrm>
          <a:prstGeom prst="rect">
            <a:avLst/>
          </a:prstGeom>
          <a:noFill/>
          <a:ln/>
        </p:spPr>
        <p:txBody>
          <a:bodyPr wrap="square" lIns="0" tIns="0" rIns="0" bIns="0"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Day 3 — Dictation &amp; Word Matrix</a:t>
            </a:r>
            <a:endParaRPr lang="en-US" sz="1100" dirty="0"/>
          </a:p>
        </p:txBody>
      </p:sp>
      <p:sp>
        <p:nvSpPr>
          <p:cNvPr id="14" name="Text 12"/>
          <p:cNvSpPr/>
          <p:nvPr/>
        </p:nvSpPr>
        <p:spPr>
          <a:xfrm>
            <a:off x="4754880" y="4023360"/>
            <a:ext cx="4114800" cy="868680"/>
          </a:xfrm>
          <a:prstGeom prst="rect">
            <a:avLst/>
          </a:prstGeom>
          <a:noFill/>
          <a:ln/>
        </p:spPr>
        <p:txBody>
          <a:bodyPr wrap="square" lIns="0" tIns="0" rIns="0" bIns="0" rtlCol="0" anchor="t">
            <a:normAutofit/>
          </a:bodyPr>
          <a:lstStyle/>
          <a:p>
            <a:pPr algn="l" indent="0" marL="0">
              <a:buNone/>
            </a:pPr>
            <a:r>
              <a:rPr lang="en-US" sz="900" i="1" dirty="0">
                <a:solidFill>
                  <a:srgbClr val="94A3B8"/>
                </a:solidFill>
                <a:latin typeface="Calibri" pitchFamily="34" charset="0"/>
                <a:ea typeface="Calibri" pitchFamily="34" charset="-122"/>
                <a:cs typeface="Calibri" pitchFamily="34" charset="-120"/>
              </a:rPr>
              <a:t>Teacher note: Only 9 word families with 'scope' suit Years 3–7, so Day 3 has 1 dictation word instead of 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457200" y="1645920"/>
            <a:ext cx="1097280" cy="411480"/>
          </a:xfrm>
          <a:prstGeom prst="rect">
            <a:avLst>
              <a:gd name="adj" fmla="val 17778"/>
            </a:avLst>
          </a:prstGeom>
          <a:solidFill>
            <a:srgbClr val="0D9488"/>
          </a:solidFill>
          <a:ln w="12700">
            <a:solidFill>
              <a:srgbClr val="0D9488"/>
            </a:solidFill>
            <a:prstDash val="solid"/>
          </a:ln>
        </p:spPr>
      </p:sp>
      <p:sp>
        <p:nvSpPr>
          <p:cNvPr id="4" name="Text 2"/>
          <p:cNvSpPr/>
          <p:nvPr/>
        </p:nvSpPr>
        <p:spPr>
          <a:xfrm>
            <a:off x="457200" y="1645920"/>
            <a:ext cx="10972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Day 1</a:t>
            </a:r>
            <a:endParaRPr lang="en-US" sz="1100" dirty="0"/>
          </a:p>
        </p:txBody>
      </p:sp>
      <p:sp>
        <p:nvSpPr>
          <p:cNvPr id="5" name="Text 3"/>
          <p:cNvSpPr/>
          <p:nvPr/>
        </p:nvSpPr>
        <p:spPr>
          <a:xfrm>
            <a:off x="457200" y="2148840"/>
            <a:ext cx="8412480" cy="1280160"/>
          </a:xfrm>
          <a:prstGeom prst="rect">
            <a:avLst/>
          </a:prstGeom>
          <a:noFill/>
          <a:ln/>
        </p:spPr>
        <p:txBody>
          <a:bodyPr wrap="square" lIns="0" tIns="0" rIns="0" bIns="0" rtlCol="0" anchor="t"/>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Morpheme Meaning</a:t>
            </a:r>
            <a:endParaRPr lang="en-US" sz="4400" dirty="0"/>
          </a:p>
        </p:txBody>
      </p:sp>
      <p:sp>
        <p:nvSpPr>
          <p:cNvPr id="6" name="Text 4"/>
          <p:cNvSpPr/>
          <p:nvPr/>
        </p:nvSpPr>
        <p:spPr>
          <a:xfrm>
            <a:off x="457200" y="3474720"/>
            <a:ext cx="8229600" cy="548640"/>
          </a:xfrm>
          <a:prstGeom prst="rect">
            <a:avLst/>
          </a:prstGeom>
          <a:noFill/>
          <a:ln/>
        </p:spPr>
        <p:txBody>
          <a:bodyPr wrap="square" lIns="0" tIns="0" rIns="0" bIns="0" rtlCol="0" anchor="t"/>
          <a:lstStyle/>
          <a:p>
            <a:pPr algn="l" indent="0" marL="0">
              <a:buNone/>
            </a:pPr>
            <a:r>
              <a:rPr lang="en-US" sz="1600" dirty="0">
                <a:solidFill>
                  <a:srgbClr val="A5B4FC"/>
                </a:solidFill>
                <a:latin typeface="Calibri" pitchFamily="34" charset="0"/>
                <a:ea typeface="Calibri" pitchFamily="34" charset="-122"/>
                <a:cs typeface="Calibri" pitchFamily="34" charset="-120"/>
              </a:rPr>
              <a:t>Root 'scope' — look; view; examine</a:t>
            </a:r>
            <a:endParaRPr lang="en-US" sz="1600" dirty="0"/>
          </a:p>
        </p:txBody>
      </p:sp>
      <p:sp>
        <p:nvSpPr>
          <p:cNvPr id="7" name="Shape 5"/>
          <p:cNvSpPr/>
          <p:nvPr/>
        </p:nvSpPr>
        <p:spPr>
          <a:xfrm>
            <a:off x="0" y="4754880"/>
            <a:ext cx="9144000" cy="388620"/>
          </a:xfrm>
          <a:prstGeom prst="rect">
            <a:avLst/>
          </a:prstGeom>
          <a:solidFill>
            <a:srgbClr val="0F172A"/>
          </a:solidFill>
          <a:ln w="12700">
            <a:solidFill>
              <a:srgbClr val="0F172A"/>
            </a:solidFill>
            <a:prstDash val="solid"/>
          </a:ln>
        </p:spPr>
      </p:sp>
      <p:sp>
        <p:nvSpPr>
          <p:cNvPr id="8" name="Text 6"/>
          <p:cNvSpPr/>
          <p:nvPr/>
        </p:nvSpPr>
        <p:spPr>
          <a:xfrm>
            <a:off x="0" y="4754880"/>
            <a:ext cx="9144000" cy="3886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Word Labs  •  wordlabs.app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Learning Intention &amp; Success Criteria</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822960"/>
            <a:ext cx="8412480" cy="1234440"/>
          </a:xfrm>
          <a:prstGeom prst="rect">
            <a:avLst>
              <a:gd name="adj" fmla="val 7407"/>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502920" y="868680"/>
            <a:ext cx="8138160" cy="1097280"/>
          </a:xfrm>
          <a:prstGeom prst="rect">
            <a:avLst/>
          </a:prstGeom>
          <a:noFill/>
          <a:ln/>
        </p:spPr>
        <p:txBody>
          <a:bodyPr wrap="square" rtlCol="0" anchor="ctr">
            <a:normAutofit/>
          </a:bodyPr>
          <a:lstStyle/>
          <a:p>
            <a:pPr algn="l" indent="0" marL="0">
              <a:buNone/>
            </a:pPr>
            <a:r>
              <a:rPr lang="en-US" sz="1900" b="1" dirty="0">
                <a:solidFill>
                  <a:srgbClr val="4338CA"/>
                </a:solidFill>
                <a:latin typeface="Trebuchet MS" pitchFamily="34" charset="0"/>
                <a:ea typeface="Trebuchet MS" pitchFamily="34" charset="-122"/>
                <a:cs typeface="Trebuchet MS" pitchFamily="34" charset="-120"/>
              </a:rPr>
              <a:t>We are learning that the root 'scope' means 'look; view; examine' and how it helps us read and spell longer words.</a:t>
            </a:r>
            <a:endParaRPr lang="en-US" sz="1900" dirty="0"/>
          </a:p>
        </p:txBody>
      </p:sp>
      <p:sp>
        <p:nvSpPr>
          <p:cNvPr id="12" name="Text 10"/>
          <p:cNvSpPr/>
          <p:nvPr/>
        </p:nvSpPr>
        <p:spPr>
          <a:xfrm>
            <a:off x="365760" y="2194560"/>
            <a:ext cx="8412480" cy="365760"/>
          </a:xfrm>
          <a:prstGeom prst="rect">
            <a:avLst/>
          </a:prstGeom>
          <a:noFill/>
          <a:ln/>
        </p:spPr>
        <p:txBody>
          <a:bodyPr wrap="square" lIns="0" tIns="0" rIns="0" bIns="0" rtlCol="0" anchor="ctr"/>
          <a:lstStyle/>
          <a:p>
            <a:pPr algn="l" indent="0" marL="0">
              <a:buNone/>
            </a:pPr>
            <a:r>
              <a:rPr lang="en-US" sz="1400" b="1" dirty="0">
                <a:solidFill>
                  <a:srgbClr val="0F172A"/>
                </a:solidFill>
                <a:latin typeface="Trebuchet MS" pitchFamily="34" charset="0"/>
                <a:ea typeface="Trebuchet MS" pitchFamily="34" charset="-122"/>
                <a:cs typeface="Trebuchet MS" pitchFamily="34" charset="-120"/>
              </a:rPr>
              <a:t>Success Criteria</a:t>
            </a:r>
            <a:endParaRPr lang="en-US" sz="1400" dirty="0"/>
          </a:p>
        </p:txBody>
      </p:sp>
      <p:sp>
        <p:nvSpPr>
          <p:cNvPr id="13" name="Shape 11"/>
          <p:cNvSpPr/>
          <p:nvPr/>
        </p:nvSpPr>
        <p:spPr>
          <a:xfrm>
            <a:off x="365760" y="2633472"/>
            <a:ext cx="384048" cy="384048"/>
          </a:xfrm>
          <a:prstGeom prst="rect">
            <a:avLst>
              <a:gd name="adj" fmla="val 14286"/>
            </a:avLst>
          </a:prstGeom>
          <a:solidFill>
            <a:srgbClr val="CCFBF1"/>
          </a:solidFill>
          <a:ln w="12700">
            <a:solidFill>
              <a:srgbClr val="0D9488"/>
            </a:solidFill>
            <a:prstDash val="solid"/>
          </a:ln>
        </p:spPr>
      </p:sp>
      <p:sp>
        <p:nvSpPr>
          <p:cNvPr id="14" name="Text 12"/>
          <p:cNvSpPr/>
          <p:nvPr/>
        </p:nvSpPr>
        <p:spPr>
          <a:xfrm>
            <a:off x="365760" y="2633472"/>
            <a:ext cx="384048" cy="38404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a:t>
            </a:r>
            <a:endParaRPr lang="en-US" sz="1400" dirty="0"/>
          </a:p>
        </p:txBody>
      </p:sp>
      <p:sp>
        <p:nvSpPr>
          <p:cNvPr id="15" name="Text 13"/>
          <p:cNvSpPr/>
          <p:nvPr/>
        </p:nvSpPr>
        <p:spPr>
          <a:xfrm>
            <a:off x="841248" y="2633472"/>
            <a:ext cx="7863840" cy="384048"/>
          </a:xfrm>
          <a:prstGeom prst="rect">
            <a:avLst/>
          </a:prstGeom>
          <a:noFill/>
          <a:ln/>
        </p:spPr>
        <p:txBody>
          <a:bodyPr wrap="square" rtlCol="0" anchor="ctr">
            <a:normAutofit/>
          </a:bodyPr>
          <a:lstStyle/>
          <a:p>
            <a:pPr algn="l" indent="0" marL="0">
              <a:buNone/>
            </a:pPr>
            <a:r>
              <a:rPr lang="en-US" sz="1400" dirty="0">
                <a:solidFill>
                  <a:srgbClr val="0F172A"/>
                </a:solidFill>
                <a:latin typeface="Calibri" pitchFamily="34" charset="0"/>
                <a:ea typeface="Calibri" pitchFamily="34" charset="-122"/>
                <a:cs typeface="Calibri" pitchFamily="34" charset="-120"/>
              </a:rPr>
              <a:t>I can explain what the root 'scope' means.</a:t>
            </a:r>
            <a:endParaRPr lang="en-US" sz="1400" dirty="0"/>
          </a:p>
        </p:txBody>
      </p:sp>
      <p:sp>
        <p:nvSpPr>
          <p:cNvPr id="16" name="Shape 14"/>
          <p:cNvSpPr/>
          <p:nvPr/>
        </p:nvSpPr>
        <p:spPr>
          <a:xfrm>
            <a:off x="365760" y="3291840"/>
            <a:ext cx="384048" cy="384048"/>
          </a:xfrm>
          <a:prstGeom prst="rect">
            <a:avLst>
              <a:gd name="adj" fmla="val 14286"/>
            </a:avLst>
          </a:prstGeom>
          <a:solidFill>
            <a:srgbClr val="CCFBF1"/>
          </a:solidFill>
          <a:ln w="12700">
            <a:solidFill>
              <a:srgbClr val="0D9488"/>
            </a:solidFill>
            <a:prstDash val="solid"/>
          </a:ln>
        </p:spPr>
      </p:sp>
      <p:sp>
        <p:nvSpPr>
          <p:cNvPr id="17" name="Text 15"/>
          <p:cNvSpPr/>
          <p:nvPr/>
        </p:nvSpPr>
        <p:spPr>
          <a:xfrm>
            <a:off x="365760" y="3291840"/>
            <a:ext cx="384048" cy="38404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a:t>
            </a:r>
            <a:endParaRPr lang="en-US" sz="1400" dirty="0"/>
          </a:p>
        </p:txBody>
      </p:sp>
      <p:sp>
        <p:nvSpPr>
          <p:cNvPr id="18" name="Text 16"/>
          <p:cNvSpPr/>
          <p:nvPr/>
        </p:nvSpPr>
        <p:spPr>
          <a:xfrm>
            <a:off x="841248" y="3291840"/>
            <a:ext cx="7863840" cy="384048"/>
          </a:xfrm>
          <a:prstGeom prst="rect">
            <a:avLst/>
          </a:prstGeom>
          <a:noFill/>
          <a:ln/>
        </p:spPr>
        <p:txBody>
          <a:bodyPr wrap="square" rtlCol="0" anchor="ctr">
            <a:normAutofit/>
          </a:bodyPr>
          <a:lstStyle/>
          <a:p>
            <a:pPr algn="l" indent="0" marL="0">
              <a:buNone/>
            </a:pPr>
            <a:r>
              <a:rPr lang="en-US" sz="1400" dirty="0">
                <a:solidFill>
                  <a:srgbClr val="0F172A"/>
                </a:solidFill>
                <a:latin typeface="Calibri" pitchFamily="34" charset="0"/>
                <a:ea typeface="Calibri" pitchFamily="34" charset="-122"/>
                <a:cs typeface="Calibri" pitchFamily="34" charset="-120"/>
              </a:rPr>
              <a:t>I can build and break down 'scope' words using prefixes and suffixes.</a:t>
            </a:r>
            <a:endParaRPr lang="en-US" sz="1400" dirty="0"/>
          </a:p>
        </p:txBody>
      </p:sp>
      <p:sp>
        <p:nvSpPr>
          <p:cNvPr id="19" name="Shape 17"/>
          <p:cNvSpPr/>
          <p:nvPr/>
        </p:nvSpPr>
        <p:spPr>
          <a:xfrm>
            <a:off x="365760" y="3950208"/>
            <a:ext cx="384048" cy="384048"/>
          </a:xfrm>
          <a:prstGeom prst="rect">
            <a:avLst>
              <a:gd name="adj" fmla="val 14286"/>
            </a:avLst>
          </a:prstGeom>
          <a:solidFill>
            <a:srgbClr val="CCFBF1"/>
          </a:solidFill>
          <a:ln w="12700">
            <a:solidFill>
              <a:srgbClr val="0D9488"/>
            </a:solidFill>
            <a:prstDash val="solid"/>
          </a:ln>
        </p:spPr>
      </p:sp>
      <p:sp>
        <p:nvSpPr>
          <p:cNvPr id="20" name="Text 18"/>
          <p:cNvSpPr/>
          <p:nvPr/>
        </p:nvSpPr>
        <p:spPr>
          <a:xfrm>
            <a:off x="365760" y="3950208"/>
            <a:ext cx="384048" cy="38404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a:t>
            </a:r>
            <a:endParaRPr lang="en-US" sz="1400" dirty="0"/>
          </a:p>
        </p:txBody>
      </p:sp>
      <p:sp>
        <p:nvSpPr>
          <p:cNvPr id="21" name="Text 19"/>
          <p:cNvSpPr/>
          <p:nvPr/>
        </p:nvSpPr>
        <p:spPr>
          <a:xfrm>
            <a:off x="841248" y="3950208"/>
            <a:ext cx="7863840" cy="384048"/>
          </a:xfrm>
          <a:prstGeom prst="rect">
            <a:avLst/>
          </a:prstGeom>
          <a:noFill/>
          <a:ln/>
        </p:spPr>
        <p:txBody>
          <a:bodyPr wrap="square" rtlCol="0" anchor="ctr">
            <a:normAutofit/>
          </a:bodyPr>
          <a:lstStyle/>
          <a:p>
            <a:pPr algn="l" indent="0" marL="0">
              <a:buNone/>
            </a:pPr>
            <a:r>
              <a:rPr lang="en-US" sz="1400" dirty="0">
                <a:solidFill>
                  <a:srgbClr val="0F172A"/>
                </a:solidFill>
                <a:latin typeface="Calibri" pitchFamily="34" charset="0"/>
                <a:ea typeface="Calibri" pitchFamily="34" charset="-122"/>
                <a:cs typeface="Calibri" pitchFamily="34" charset="-120"/>
              </a:rPr>
              <a:t>I can read and spell 'scope' words in sentences.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Key Vocabulary</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804672"/>
            <a:ext cx="8412480" cy="1170432"/>
          </a:xfrm>
          <a:prstGeom prst="rect">
            <a:avLst>
              <a:gd name="adj" fmla="val 7813"/>
            </a:avLst>
          </a:prstGeom>
          <a:solidFill>
            <a:srgbClr val="CCFBF1"/>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65760" y="804672"/>
            <a:ext cx="1280160" cy="1170432"/>
          </a:xfrm>
          <a:prstGeom prst="rect">
            <a:avLst>
              <a:gd name="adj" fmla="val 7813"/>
            </a:avLst>
          </a:prstGeom>
          <a:solidFill>
            <a:srgbClr val="0D9488"/>
          </a:solidFill>
          <a:ln w="12700">
            <a:solidFill>
              <a:srgbClr val="0D9488"/>
            </a:solidFill>
            <a:prstDash val="solid"/>
          </a:ln>
        </p:spPr>
      </p:sp>
      <p:sp>
        <p:nvSpPr>
          <p:cNvPr id="12" name="Shape 10"/>
          <p:cNvSpPr/>
          <p:nvPr/>
        </p:nvSpPr>
        <p:spPr>
          <a:xfrm>
            <a:off x="1481328" y="804672"/>
            <a:ext cx="91440" cy="1170432"/>
          </a:xfrm>
          <a:prstGeom prst="rect">
            <a:avLst/>
          </a:prstGeom>
          <a:solidFill>
            <a:srgbClr val="0D9488"/>
          </a:solidFill>
          <a:ln w="12700">
            <a:solidFill>
              <a:srgbClr val="0D9488"/>
            </a:solidFill>
            <a:prstDash val="solid"/>
          </a:ln>
        </p:spPr>
      </p:sp>
      <p:sp>
        <p:nvSpPr>
          <p:cNvPr id="13" name="Text 11"/>
          <p:cNvSpPr/>
          <p:nvPr/>
        </p:nvSpPr>
        <p:spPr>
          <a:xfrm>
            <a:off x="365760" y="804672"/>
            <a:ext cx="1280160" cy="117043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Root</a:t>
            </a:r>
            <a:endParaRPr lang="en-US" sz="1600" dirty="0"/>
          </a:p>
        </p:txBody>
      </p:sp>
      <p:sp>
        <p:nvSpPr>
          <p:cNvPr id="14" name="Text 12"/>
          <p:cNvSpPr/>
          <p:nvPr/>
        </p:nvSpPr>
        <p:spPr>
          <a:xfrm>
            <a:off x="1691640" y="841248"/>
            <a:ext cx="6949440" cy="1097280"/>
          </a:xfrm>
          <a:prstGeom prst="rect">
            <a:avLst/>
          </a:prstGeom>
          <a:noFill/>
          <a:ln/>
        </p:spPr>
        <p:txBody>
          <a:bodyPr wrap="square" rtlCol="0" anchor="ctr">
            <a:normAutofit/>
          </a:bodyPr>
          <a:lstStyle/>
          <a:p>
            <a:pPr algn="l" indent="0" marL="0">
              <a:buNone/>
            </a:pPr>
            <a:r>
              <a:rPr lang="en-US" sz="1350" dirty="0">
                <a:solidFill>
                  <a:srgbClr val="0F766E"/>
                </a:solidFill>
                <a:latin typeface="Calibri" pitchFamily="34" charset="0"/>
                <a:ea typeface="Calibri" pitchFamily="34" charset="-122"/>
                <a:cs typeface="Calibri" pitchFamily="34" charset="-120"/>
              </a:rPr>
              <a:t>A root is the main part of a word that carries its meaning. The root 'scope' means 'look; view; examine'. You can find it in 'telescope'.</a:t>
            </a:r>
            <a:endParaRPr lang="en-US" sz="1350" dirty="0"/>
          </a:p>
        </p:txBody>
      </p:sp>
      <p:sp>
        <p:nvSpPr>
          <p:cNvPr id="15" name="Shape 13"/>
          <p:cNvSpPr/>
          <p:nvPr/>
        </p:nvSpPr>
        <p:spPr>
          <a:xfrm>
            <a:off x="365760" y="2130552"/>
            <a:ext cx="8412480" cy="1170432"/>
          </a:xfrm>
          <a:prstGeom prst="rect">
            <a:avLst>
              <a:gd name="adj" fmla="val 7813"/>
            </a:avLst>
          </a:prstGeom>
          <a:solidFill>
            <a:srgbClr val="DDD6FE"/>
          </a:solidFill>
          <a:ln w="12700">
            <a:solidFill>
              <a:srgbClr val="7C3AED"/>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65760" y="2130552"/>
            <a:ext cx="1280160" cy="1170432"/>
          </a:xfrm>
          <a:prstGeom prst="rect">
            <a:avLst>
              <a:gd name="adj" fmla="val 7813"/>
            </a:avLst>
          </a:prstGeom>
          <a:solidFill>
            <a:srgbClr val="7C3AED"/>
          </a:solidFill>
          <a:ln w="12700">
            <a:solidFill>
              <a:srgbClr val="7C3AED"/>
            </a:solidFill>
            <a:prstDash val="solid"/>
          </a:ln>
        </p:spPr>
      </p:sp>
      <p:sp>
        <p:nvSpPr>
          <p:cNvPr id="17" name="Shape 15"/>
          <p:cNvSpPr/>
          <p:nvPr/>
        </p:nvSpPr>
        <p:spPr>
          <a:xfrm>
            <a:off x="1481328" y="2130552"/>
            <a:ext cx="91440" cy="1170432"/>
          </a:xfrm>
          <a:prstGeom prst="rect">
            <a:avLst/>
          </a:prstGeom>
          <a:solidFill>
            <a:srgbClr val="7C3AED"/>
          </a:solidFill>
          <a:ln w="12700">
            <a:solidFill>
              <a:srgbClr val="7C3AED"/>
            </a:solidFill>
            <a:prstDash val="solid"/>
          </a:ln>
        </p:spPr>
      </p:sp>
      <p:sp>
        <p:nvSpPr>
          <p:cNvPr id="18" name="Text 16"/>
          <p:cNvSpPr/>
          <p:nvPr/>
        </p:nvSpPr>
        <p:spPr>
          <a:xfrm>
            <a:off x="365760" y="2130552"/>
            <a:ext cx="1280160" cy="117043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Prefix</a:t>
            </a:r>
            <a:endParaRPr lang="en-US" sz="1600" dirty="0"/>
          </a:p>
        </p:txBody>
      </p:sp>
      <p:sp>
        <p:nvSpPr>
          <p:cNvPr id="19" name="Text 17"/>
          <p:cNvSpPr/>
          <p:nvPr/>
        </p:nvSpPr>
        <p:spPr>
          <a:xfrm>
            <a:off x="1691640" y="2167128"/>
            <a:ext cx="6949440" cy="1097280"/>
          </a:xfrm>
          <a:prstGeom prst="rect">
            <a:avLst/>
          </a:prstGeom>
          <a:noFill/>
          <a:ln/>
        </p:spPr>
        <p:txBody>
          <a:bodyPr wrap="square" rtlCol="0" anchor="ctr">
            <a:normAutofit/>
          </a:bodyPr>
          <a:lstStyle/>
          <a:p>
            <a:pPr algn="l" indent="0" marL="0">
              <a:buNone/>
            </a:pPr>
            <a:r>
              <a:rPr lang="en-US" sz="1350" dirty="0">
                <a:solidFill>
                  <a:srgbClr val="4C1D95"/>
                </a:solidFill>
                <a:latin typeface="Calibri" pitchFamily="34" charset="0"/>
                <a:ea typeface="Calibri" pitchFamily="34" charset="-122"/>
                <a:cs typeface="Calibri" pitchFamily="34" charset="-120"/>
              </a:rPr>
              <a:t>A prefix is a word part added to the start of a word to change its meaning. In 'telescope', 'tele-' means 'far; at a distance'.</a:t>
            </a:r>
            <a:endParaRPr lang="en-US" sz="1350" dirty="0"/>
          </a:p>
        </p:txBody>
      </p:sp>
      <p:sp>
        <p:nvSpPr>
          <p:cNvPr id="20" name="Shape 18"/>
          <p:cNvSpPr/>
          <p:nvPr/>
        </p:nvSpPr>
        <p:spPr>
          <a:xfrm>
            <a:off x="365760" y="3456432"/>
            <a:ext cx="8412480" cy="1170432"/>
          </a:xfrm>
          <a:prstGeom prst="rect">
            <a:avLst>
              <a:gd name="adj" fmla="val 7813"/>
            </a:avLst>
          </a:prstGeom>
          <a:solidFill>
            <a:srgbClr val="FCE7F3"/>
          </a:solidFill>
          <a:ln w="12700">
            <a:solidFill>
              <a:srgbClr val="DB2777"/>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65760" y="3456432"/>
            <a:ext cx="1280160" cy="1170432"/>
          </a:xfrm>
          <a:prstGeom prst="rect">
            <a:avLst>
              <a:gd name="adj" fmla="val 7813"/>
            </a:avLst>
          </a:prstGeom>
          <a:solidFill>
            <a:srgbClr val="DB2777"/>
          </a:solidFill>
          <a:ln w="12700">
            <a:solidFill>
              <a:srgbClr val="DB2777"/>
            </a:solidFill>
            <a:prstDash val="solid"/>
          </a:ln>
        </p:spPr>
      </p:sp>
      <p:sp>
        <p:nvSpPr>
          <p:cNvPr id="22" name="Shape 20"/>
          <p:cNvSpPr/>
          <p:nvPr/>
        </p:nvSpPr>
        <p:spPr>
          <a:xfrm>
            <a:off x="1481328" y="3456432"/>
            <a:ext cx="91440" cy="1170432"/>
          </a:xfrm>
          <a:prstGeom prst="rect">
            <a:avLst/>
          </a:prstGeom>
          <a:solidFill>
            <a:srgbClr val="DB2777"/>
          </a:solidFill>
          <a:ln w="12700">
            <a:solidFill>
              <a:srgbClr val="DB2777"/>
            </a:solidFill>
            <a:prstDash val="solid"/>
          </a:ln>
        </p:spPr>
      </p:sp>
      <p:sp>
        <p:nvSpPr>
          <p:cNvPr id="23" name="Text 21"/>
          <p:cNvSpPr/>
          <p:nvPr/>
        </p:nvSpPr>
        <p:spPr>
          <a:xfrm>
            <a:off x="365760" y="3456432"/>
            <a:ext cx="1280160" cy="117043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Suffix</a:t>
            </a:r>
            <a:endParaRPr lang="en-US" sz="1600" dirty="0"/>
          </a:p>
        </p:txBody>
      </p:sp>
      <p:sp>
        <p:nvSpPr>
          <p:cNvPr id="24" name="Text 22"/>
          <p:cNvSpPr/>
          <p:nvPr/>
        </p:nvSpPr>
        <p:spPr>
          <a:xfrm>
            <a:off x="1691640" y="3493008"/>
            <a:ext cx="6949440" cy="1097280"/>
          </a:xfrm>
          <a:prstGeom prst="rect">
            <a:avLst/>
          </a:prstGeom>
          <a:noFill/>
          <a:ln/>
        </p:spPr>
        <p:txBody>
          <a:bodyPr wrap="square" rtlCol="0" anchor="ctr">
            <a:normAutofit/>
          </a:bodyPr>
          <a:lstStyle/>
          <a:p>
            <a:pPr algn="l" indent="0" marL="0">
              <a:buNone/>
            </a:pPr>
            <a:r>
              <a:rPr lang="en-US" sz="1350" dirty="0">
                <a:solidFill>
                  <a:srgbClr val="9D174D"/>
                </a:solidFill>
                <a:latin typeface="Calibri" pitchFamily="34" charset="0"/>
                <a:ea typeface="Calibri" pitchFamily="34" charset="-122"/>
                <a:cs typeface="Calibri" pitchFamily="34" charset="-120"/>
              </a:rPr>
              <a:t>A suffix is a word part added to the end of a word to change its meaning or job. In 'telescopic', '-ic' means 'related to'.</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True or False?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Are these statements true or false? Decide with a partner.</a:t>
            </a:r>
            <a:endParaRPr lang="en-US" sz="1300" dirty="0"/>
          </a:p>
        </p:txBody>
      </p:sp>
      <p:sp>
        <p:nvSpPr>
          <p:cNvPr id="11" name="Shape 9"/>
          <p:cNvSpPr/>
          <p:nvPr/>
        </p:nvSpPr>
        <p:spPr>
          <a:xfrm>
            <a:off x="365760" y="1207008"/>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548640" y="1207008"/>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1.  The root 'scope' means 'look; view; examine'.</a:t>
            </a:r>
            <a:endParaRPr lang="en-US" sz="1300" dirty="0"/>
          </a:p>
        </p:txBody>
      </p:sp>
      <p:sp>
        <p:nvSpPr>
          <p:cNvPr id="13" name="Shape 11"/>
          <p:cNvSpPr/>
          <p:nvPr/>
        </p:nvSpPr>
        <p:spPr>
          <a:xfrm>
            <a:off x="7772400" y="1207008"/>
            <a:ext cx="1005840" cy="566928"/>
          </a:xfrm>
          <a:prstGeom prst="rect">
            <a:avLst>
              <a:gd name="adj" fmla="val 12903"/>
            </a:avLst>
          </a:prstGeom>
          <a:solidFill>
            <a:srgbClr val="FFFFFF"/>
          </a:solidFill>
          <a:ln w="12700">
            <a:solidFill>
              <a:srgbClr val="E2E8F0"/>
            </a:solidFill>
            <a:prstDash val="dash"/>
          </a:ln>
        </p:spPr>
      </p:sp>
      <p:sp>
        <p:nvSpPr>
          <p:cNvPr id="14" name="Text 12"/>
          <p:cNvSpPr/>
          <p:nvPr/>
        </p:nvSpPr>
        <p:spPr>
          <a:xfrm>
            <a:off x="7772400" y="1207008"/>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
        <p:nvSpPr>
          <p:cNvPr id="15" name="Shape 13"/>
          <p:cNvSpPr/>
          <p:nvPr/>
        </p:nvSpPr>
        <p:spPr>
          <a:xfrm>
            <a:off x="365760" y="1901952"/>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548640" y="1901952"/>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2.  'telescope' means 'an instrument with lenses used to see faraway objects, such as stars and planets, up close'.</a:t>
            </a:r>
            <a:endParaRPr lang="en-US" sz="1300" dirty="0"/>
          </a:p>
        </p:txBody>
      </p:sp>
      <p:sp>
        <p:nvSpPr>
          <p:cNvPr id="17" name="Shape 15"/>
          <p:cNvSpPr/>
          <p:nvPr/>
        </p:nvSpPr>
        <p:spPr>
          <a:xfrm>
            <a:off x="7772400" y="1901952"/>
            <a:ext cx="1005840" cy="566928"/>
          </a:xfrm>
          <a:prstGeom prst="rect">
            <a:avLst>
              <a:gd name="adj" fmla="val 12903"/>
            </a:avLst>
          </a:prstGeom>
          <a:solidFill>
            <a:srgbClr val="FFFFFF"/>
          </a:solidFill>
          <a:ln w="12700">
            <a:solidFill>
              <a:srgbClr val="E2E8F0"/>
            </a:solidFill>
            <a:prstDash val="dash"/>
          </a:ln>
        </p:spPr>
      </p:sp>
      <p:sp>
        <p:nvSpPr>
          <p:cNvPr id="18" name="Text 16"/>
          <p:cNvSpPr/>
          <p:nvPr/>
        </p:nvSpPr>
        <p:spPr>
          <a:xfrm>
            <a:off x="7772400" y="1901952"/>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
        <p:nvSpPr>
          <p:cNvPr id="19" name="Shape 17"/>
          <p:cNvSpPr/>
          <p:nvPr/>
        </p:nvSpPr>
        <p:spPr>
          <a:xfrm>
            <a:off x="365760" y="2596896"/>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48640" y="2596896"/>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3.  'periscope' means 'a spinning device used to help keep balance or find direction'.</a:t>
            </a:r>
            <a:endParaRPr lang="en-US" sz="1300" dirty="0"/>
          </a:p>
        </p:txBody>
      </p:sp>
      <p:sp>
        <p:nvSpPr>
          <p:cNvPr id="21" name="Shape 19"/>
          <p:cNvSpPr/>
          <p:nvPr/>
        </p:nvSpPr>
        <p:spPr>
          <a:xfrm>
            <a:off x="7772400" y="2596896"/>
            <a:ext cx="1005840" cy="566928"/>
          </a:xfrm>
          <a:prstGeom prst="rect">
            <a:avLst>
              <a:gd name="adj" fmla="val 12903"/>
            </a:avLst>
          </a:prstGeom>
          <a:solidFill>
            <a:srgbClr val="FFFFFF"/>
          </a:solidFill>
          <a:ln w="12700">
            <a:solidFill>
              <a:srgbClr val="E2E8F0"/>
            </a:solidFill>
            <a:prstDash val="dash"/>
          </a:ln>
        </p:spPr>
      </p:sp>
      <p:sp>
        <p:nvSpPr>
          <p:cNvPr id="22" name="Text 20"/>
          <p:cNvSpPr/>
          <p:nvPr/>
        </p:nvSpPr>
        <p:spPr>
          <a:xfrm>
            <a:off x="7772400" y="2596896"/>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
        <p:nvSpPr>
          <p:cNvPr id="23" name="Shape 21"/>
          <p:cNvSpPr/>
          <p:nvPr/>
        </p:nvSpPr>
        <p:spPr>
          <a:xfrm>
            <a:off x="365760" y="3291840"/>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548640" y="3291840"/>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4.  'microscope' means 'an instrument used to see things too small to see with the naked eye'.</a:t>
            </a:r>
            <a:endParaRPr lang="en-US" sz="1300" dirty="0"/>
          </a:p>
        </p:txBody>
      </p:sp>
      <p:sp>
        <p:nvSpPr>
          <p:cNvPr id="25" name="Shape 23"/>
          <p:cNvSpPr/>
          <p:nvPr/>
        </p:nvSpPr>
        <p:spPr>
          <a:xfrm>
            <a:off x="7772400" y="3291840"/>
            <a:ext cx="1005840" cy="566928"/>
          </a:xfrm>
          <a:prstGeom prst="rect">
            <a:avLst>
              <a:gd name="adj" fmla="val 12903"/>
            </a:avLst>
          </a:prstGeom>
          <a:solidFill>
            <a:srgbClr val="FFFFFF"/>
          </a:solidFill>
          <a:ln w="12700">
            <a:solidFill>
              <a:srgbClr val="E2E8F0"/>
            </a:solidFill>
            <a:prstDash val="dash"/>
          </a:ln>
        </p:spPr>
      </p:sp>
      <p:sp>
        <p:nvSpPr>
          <p:cNvPr id="26" name="Text 24"/>
          <p:cNvSpPr/>
          <p:nvPr/>
        </p:nvSpPr>
        <p:spPr>
          <a:xfrm>
            <a:off x="7772400" y="3291840"/>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
        <p:nvSpPr>
          <p:cNvPr id="27" name="Shape 25"/>
          <p:cNvSpPr/>
          <p:nvPr/>
        </p:nvSpPr>
        <p:spPr>
          <a:xfrm>
            <a:off x="365760" y="3986784"/>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548640" y="3986784"/>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5.  'horoscope' means 'a tube with mirrors that lets you see over or around things'.</a:t>
            </a:r>
            <a:endParaRPr lang="en-US" sz="1300" dirty="0"/>
          </a:p>
        </p:txBody>
      </p:sp>
      <p:sp>
        <p:nvSpPr>
          <p:cNvPr id="29" name="Shape 27"/>
          <p:cNvSpPr/>
          <p:nvPr/>
        </p:nvSpPr>
        <p:spPr>
          <a:xfrm>
            <a:off x="7772400" y="3986784"/>
            <a:ext cx="1005840" cy="566928"/>
          </a:xfrm>
          <a:prstGeom prst="rect">
            <a:avLst>
              <a:gd name="adj" fmla="val 12903"/>
            </a:avLst>
          </a:prstGeom>
          <a:solidFill>
            <a:srgbClr val="FFFFFF"/>
          </a:solidFill>
          <a:ln w="12700">
            <a:solidFill>
              <a:srgbClr val="E2E8F0"/>
            </a:solidFill>
            <a:prstDash val="dash"/>
          </a:ln>
        </p:spPr>
      </p:sp>
      <p:sp>
        <p:nvSpPr>
          <p:cNvPr id="30" name="Text 28"/>
          <p:cNvSpPr/>
          <p:nvPr/>
        </p:nvSpPr>
        <p:spPr>
          <a:xfrm>
            <a:off x="7772400" y="3986784"/>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True or False? — Answers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Check your answers.</a:t>
            </a:r>
            <a:endParaRPr lang="en-US" sz="1300" dirty="0"/>
          </a:p>
        </p:txBody>
      </p:sp>
      <p:sp>
        <p:nvSpPr>
          <p:cNvPr id="11" name="Shape 9"/>
          <p:cNvSpPr/>
          <p:nvPr/>
        </p:nvSpPr>
        <p:spPr>
          <a:xfrm>
            <a:off x="365760" y="1207008"/>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548640" y="1207008"/>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1.  The root 'scope' means 'look; view; examine'.</a:t>
            </a:r>
            <a:endParaRPr lang="en-US" sz="1300" dirty="0"/>
          </a:p>
        </p:txBody>
      </p:sp>
      <p:sp>
        <p:nvSpPr>
          <p:cNvPr id="13" name="Shape 11"/>
          <p:cNvSpPr/>
          <p:nvPr/>
        </p:nvSpPr>
        <p:spPr>
          <a:xfrm>
            <a:off x="7772400" y="1207008"/>
            <a:ext cx="1005840" cy="566928"/>
          </a:xfrm>
          <a:prstGeom prst="rect">
            <a:avLst>
              <a:gd name="adj" fmla="val 12903"/>
            </a:avLst>
          </a:prstGeom>
          <a:solidFill>
            <a:srgbClr val="DCFCE7"/>
          </a:solidFill>
          <a:ln w="12700">
            <a:solidFill>
              <a:srgbClr val="16A34A"/>
            </a:solidFill>
            <a:prstDash val="solid"/>
          </a:ln>
        </p:spPr>
      </p:sp>
      <p:sp>
        <p:nvSpPr>
          <p:cNvPr id="14" name="Text 12"/>
          <p:cNvSpPr/>
          <p:nvPr/>
        </p:nvSpPr>
        <p:spPr>
          <a:xfrm>
            <a:off x="7772400" y="1207008"/>
            <a:ext cx="1005840" cy="566928"/>
          </a:xfrm>
          <a:prstGeom prst="rect">
            <a:avLst/>
          </a:prstGeom>
          <a:noFill/>
          <a:ln/>
        </p:spPr>
        <p:txBody>
          <a:bodyPr wrap="square" lIns="0" tIns="0" rIns="0" bIns="0" rtlCol="0" anchor="ctr"/>
          <a:lstStyle/>
          <a:p>
            <a:pPr algn="ctr" indent="0" marL="0">
              <a:buNone/>
            </a:pPr>
            <a:r>
              <a:rPr lang="en-US" sz="1100" b="1" dirty="0">
                <a:solidFill>
                  <a:srgbClr val="16A34A"/>
                </a:solidFill>
                <a:latin typeface="Trebuchet MS" pitchFamily="34" charset="0"/>
                <a:ea typeface="Trebuchet MS" pitchFamily="34" charset="-122"/>
                <a:cs typeface="Trebuchet MS" pitchFamily="34" charset="-120"/>
              </a:rPr>
              <a:t>TRUE</a:t>
            </a:r>
            <a:endParaRPr lang="en-US" sz="1100" dirty="0"/>
          </a:p>
        </p:txBody>
      </p:sp>
      <p:sp>
        <p:nvSpPr>
          <p:cNvPr id="15" name="Shape 13"/>
          <p:cNvSpPr/>
          <p:nvPr/>
        </p:nvSpPr>
        <p:spPr>
          <a:xfrm>
            <a:off x="365760" y="1901952"/>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548640" y="1901952"/>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2.  'telescope' means 'an instrument with lenses used to see faraway objects, such as stars and planets, up close'.</a:t>
            </a:r>
            <a:endParaRPr lang="en-US" sz="1300" dirty="0"/>
          </a:p>
        </p:txBody>
      </p:sp>
      <p:sp>
        <p:nvSpPr>
          <p:cNvPr id="17" name="Shape 15"/>
          <p:cNvSpPr/>
          <p:nvPr/>
        </p:nvSpPr>
        <p:spPr>
          <a:xfrm>
            <a:off x="7772400" y="1901952"/>
            <a:ext cx="1005840" cy="566928"/>
          </a:xfrm>
          <a:prstGeom prst="rect">
            <a:avLst>
              <a:gd name="adj" fmla="val 12903"/>
            </a:avLst>
          </a:prstGeom>
          <a:solidFill>
            <a:srgbClr val="DCFCE7"/>
          </a:solidFill>
          <a:ln w="12700">
            <a:solidFill>
              <a:srgbClr val="16A34A"/>
            </a:solidFill>
            <a:prstDash val="solid"/>
          </a:ln>
        </p:spPr>
      </p:sp>
      <p:sp>
        <p:nvSpPr>
          <p:cNvPr id="18" name="Text 16"/>
          <p:cNvSpPr/>
          <p:nvPr/>
        </p:nvSpPr>
        <p:spPr>
          <a:xfrm>
            <a:off x="7772400" y="1901952"/>
            <a:ext cx="1005840" cy="566928"/>
          </a:xfrm>
          <a:prstGeom prst="rect">
            <a:avLst/>
          </a:prstGeom>
          <a:noFill/>
          <a:ln/>
        </p:spPr>
        <p:txBody>
          <a:bodyPr wrap="square" lIns="0" tIns="0" rIns="0" bIns="0" rtlCol="0" anchor="ctr"/>
          <a:lstStyle/>
          <a:p>
            <a:pPr algn="ctr" indent="0" marL="0">
              <a:buNone/>
            </a:pPr>
            <a:r>
              <a:rPr lang="en-US" sz="1100" b="1" dirty="0">
                <a:solidFill>
                  <a:srgbClr val="16A34A"/>
                </a:solidFill>
                <a:latin typeface="Trebuchet MS" pitchFamily="34" charset="0"/>
                <a:ea typeface="Trebuchet MS" pitchFamily="34" charset="-122"/>
                <a:cs typeface="Trebuchet MS" pitchFamily="34" charset="-120"/>
              </a:rPr>
              <a:t>TRUE</a:t>
            </a:r>
            <a:endParaRPr lang="en-US" sz="1100" dirty="0"/>
          </a:p>
        </p:txBody>
      </p:sp>
      <p:sp>
        <p:nvSpPr>
          <p:cNvPr id="19" name="Shape 17"/>
          <p:cNvSpPr/>
          <p:nvPr/>
        </p:nvSpPr>
        <p:spPr>
          <a:xfrm>
            <a:off x="365760" y="2596896"/>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48640" y="2596896"/>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3.  'periscope' means 'a spinning device used to help keep balance or find direction'.</a:t>
            </a:r>
            <a:endParaRPr lang="en-US" sz="1300" dirty="0"/>
          </a:p>
        </p:txBody>
      </p:sp>
      <p:sp>
        <p:nvSpPr>
          <p:cNvPr id="21" name="Shape 19"/>
          <p:cNvSpPr/>
          <p:nvPr/>
        </p:nvSpPr>
        <p:spPr>
          <a:xfrm>
            <a:off x="7772400" y="2596896"/>
            <a:ext cx="1005840" cy="566928"/>
          </a:xfrm>
          <a:prstGeom prst="rect">
            <a:avLst>
              <a:gd name="adj" fmla="val 12903"/>
            </a:avLst>
          </a:prstGeom>
          <a:solidFill>
            <a:srgbClr val="FEE2E2"/>
          </a:solidFill>
          <a:ln w="12700">
            <a:solidFill>
              <a:srgbClr val="DC2626"/>
            </a:solidFill>
            <a:prstDash val="solid"/>
          </a:ln>
        </p:spPr>
      </p:sp>
      <p:sp>
        <p:nvSpPr>
          <p:cNvPr id="22" name="Text 20"/>
          <p:cNvSpPr/>
          <p:nvPr/>
        </p:nvSpPr>
        <p:spPr>
          <a:xfrm>
            <a:off x="7772400" y="2596896"/>
            <a:ext cx="1005840" cy="566928"/>
          </a:xfrm>
          <a:prstGeom prst="rect">
            <a:avLst/>
          </a:prstGeom>
          <a:noFill/>
          <a:ln/>
        </p:spPr>
        <p:txBody>
          <a:bodyPr wrap="square" lIns="0" tIns="0" rIns="0" bIns="0" rtlCol="0" anchor="ctr"/>
          <a:lstStyle/>
          <a:p>
            <a:pPr algn="ctr" indent="0" marL="0">
              <a:buNone/>
            </a:pPr>
            <a:r>
              <a:rPr lang="en-US" sz="1100" b="1" dirty="0">
                <a:solidFill>
                  <a:srgbClr val="DC2626"/>
                </a:solidFill>
                <a:latin typeface="Trebuchet MS" pitchFamily="34" charset="0"/>
                <a:ea typeface="Trebuchet MS" pitchFamily="34" charset="-122"/>
                <a:cs typeface="Trebuchet MS" pitchFamily="34" charset="-120"/>
              </a:rPr>
              <a:t>FALSE</a:t>
            </a:r>
            <a:endParaRPr lang="en-US" sz="1100" dirty="0"/>
          </a:p>
        </p:txBody>
      </p:sp>
      <p:sp>
        <p:nvSpPr>
          <p:cNvPr id="23" name="Shape 21"/>
          <p:cNvSpPr/>
          <p:nvPr/>
        </p:nvSpPr>
        <p:spPr>
          <a:xfrm>
            <a:off x="365760" y="3291840"/>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548640" y="3291840"/>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4.  'microscope' means 'an instrument used to see things too small to see with the naked eye'.</a:t>
            </a:r>
            <a:endParaRPr lang="en-US" sz="1300" dirty="0"/>
          </a:p>
        </p:txBody>
      </p:sp>
      <p:sp>
        <p:nvSpPr>
          <p:cNvPr id="25" name="Shape 23"/>
          <p:cNvSpPr/>
          <p:nvPr/>
        </p:nvSpPr>
        <p:spPr>
          <a:xfrm>
            <a:off x="7772400" y="3291840"/>
            <a:ext cx="1005840" cy="566928"/>
          </a:xfrm>
          <a:prstGeom prst="rect">
            <a:avLst>
              <a:gd name="adj" fmla="val 12903"/>
            </a:avLst>
          </a:prstGeom>
          <a:solidFill>
            <a:srgbClr val="DCFCE7"/>
          </a:solidFill>
          <a:ln w="12700">
            <a:solidFill>
              <a:srgbClr val="16A34A"/>
            </a:solidFill>
            <a:prstDash val="solid"/>
          </a:ln>
        </p:spPr>
      </p:sp>
      <p:sp>
        <p:nvSpPr>
          <p:cNvPr id="26" name="Text 24"/>
          <p:cNvSpPr/>
          <p:nvPr/>
        </p:nvSpPr>
        <p:spPr>
          <a:xfrm>
            <a:off x="7772400" y="3291840"/>
            <a:ext cx="1005840" cy="566928"/>
          </a:xfrm>
          <a:prstGeom prst="rect">
            <a:avLst/>
          </a:prstGeom>
          <a:noFill/>
          <a:ln/>
        </p:spPr>
        <p:txBody>
          <a:bodyPr wrap="square" lIns="0" tIns="0" rIns="0" bIns="0" rtlCol="0" anchor="ctr"/>
          <a:lstStyle/>
          <a:p>
            <a:pPr algn="ctr" indent="0" marL="0">
              <a:buNone/>
            </a:pPr>
            <a:r>
              <a:rPr lang="en-US" sz="1100" b="1" dirty="0">
                <a:solidFill>
                  <a:srgbClr val="16A34A"/>
                </a:solidFill>
                <a:latin typeface="Trebuchet MS" pitchFamily="34" charset="0"/>
                <a:ea typeface="Trebuchet MS" pitchFamily="34" charset="-122"/>
                <a:cs typeface="Trebuchet MS" pitchFamily="34" charset="-120"/>
              </a:rPr>
              <a:t>TRUE</a:t>
            </a:r>
            <a:endParaRPr lang="en-US" sz="1100" dirty="0"/>
          </a:p>
        </p:txBody>
      </p:sp>
      <p:sp>
        <p:nvSpPr>
          <p:cNvPr id="27" name="Shape 25"/>
          <p:cNvSpPr/>
          <p:nvPr/>
        </p:nvSpPr>
        <p:spPr>
          <a:xfrm>
            <a:off x="365760" y="3986784"/>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548640" y="3986784"/>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5.  'horoscope' means 'a tube with mirrors that lets you see over or around things'.</a:t>
            </a:r>
            <a:endParaRPr lang="en-US" sz="1300" dirty="0"/>
          </a:p>
        </p:txBody>
      </p:sp>
      <p:sp>
        <p:nvSpPr>
          <p:cNvPr id="29" name="Shape 27"/>
          <p:cNvSpPr/>
          <p:nvPr/>
        </p:nvSpPr>
        <p:spPr>
          <a:xfrm>
            <a:off x="7772400" y="3986784"/>
            <a:ext cx="1005840" cy="566928"/>
          </a:xfrm>
          <a:prstGeom prst="rect">
            <a:avLst>
              <a:gd name="adj" fmla="val 12903"/>
            </a:avLst>
          </a:prstGeom>
          <a:solidFill>
            <a:srgbClr val="FEE2E2"/>
          </a:solidFill>
          <a:ln w="12700">
            <a:solidFill>
              <a:srgbClr val="DC2626"/>
            </a:solidFill>
            <a:prstDash val="solid"/>
          </a:ln>
        </p:spPr>
      </p:sp>
      <p:sp>
        <p:nvSpPr>
          <p:cNvPr id="30" name="Text 28"/>
          <p:cNvSpPr/>
          <p:nvPr/>
        </p:nvSpPr>
        <p:spPr>
          <a:xfrm>
            <a:off x="7772400" y="3986784"/>
            <a:ext cx="1005840" cy="566928"/>
          </a:xfrm>
          <a:prstGeom prst="rect">
            <a:avLst/>
          </a:prstGeom>
          <a:noFill/>
          <a:ln/>
        </p:spPr>
        <p:txBody>
          <a:bodyPr wrap="square" lIns="0" tIns="0" rIns="0" bIns="0" rtlCol="0" anchor="ctr"/>
          <a:lstStyle/>
          <a:p>
            <a:pPr algn="ctr" indent="0" marL="0">
              <a:buNone/>
            </a:pPr>
            <a:r>
              <a:rPr lang="en-US" sz="1100" b="1" dirty="0">
                <a:solidFill>
                  <a:srgbClr val="DC2626"/>
                </a:solidFill>
                <a:latin typeface="Trebuchet MS" pitchFamily="34" charset="0"/>
                <a:ea typeface="Trebuchet MS" pitchFamily="34" charset="-122"/>
                <a:cs typeface="Trebuchet MS" pitchFamily="34" charset="-120"/>
              </a:rPr>
              <a:t>FALSE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Root 'scope' — Meaning &amp; Origin</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77240"/>
            <a:ext cx="8412480" cy="1371600"/>
          </a:xfrm>
          <a:prstGeom prst="rect">
            <a:avLst>
              <a:gd name="adj" fmla="val 8000"/>
            </a:avLst>
          </a:prstGeom>
          <a:solidFill>
            <a:srgbClr val="0D9488"/>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365760" y="777240"/>
            <a:ext cx="3108960" cy="1371600"/>
          </a:xfrm>
          <a:prstGeom prst="rect">
            <a:avLst/>
          </a:prstGeom>
          <a:noFill/>
          <a:ln/>
        </p:spPr>
        <p:txBody>
          <a:bodyPr wrap="square" lIns="0" tIns="0" rIns="0" bIns="0" rtlCol="0" anchor="ctr">
            <a:normAutofit/>
          </a:bodyPr>
          <a:lstStyle/>
          <a:p>
            <a:pPr algn="ctr" indent="0" marL="0">
              <a:buNone/>
            </a:pPr>
            <a:r>
              <a:rPr lang="en-US" sz="4800" b="1" dirty="0">
                <a:solidFill>
                  <a:srgbClr val="FFFFFF"/>
                </a:solidFill>
                <a:latin typeface="Trebuchet MS" pitchFamily="34" charset="0"/>
                <a:ea typeface="Trebuchet MS" pitchFamily="34" charset="-122"/>
                <a:cs typeface="Trebuchet MS" pitchFamily="34" charset="-120"/>
              </a:rPr>
              <a:t>'scope'</a:t>
            </a:r>
            <a:endParaRPr lang="en-US" sz="4800" dirty="0"/>
          </a:p>
        </p:txBody>
      </p:sp>
      <p:sp>
        <p:nvSpPr>
          <p:cNvPr id="12" name="Shape 10"/>
          <p:cNvSpPr/>
          <p:nvPr/>
        </p:nvSpPr>
        <p:spPr>
          <a:xfrm>
            <a:off x="3520440" y="777240"/>
            <a:ext cx="36576" cy="1371600"/>
          </a:xfrm>
          <a:prstGeom prst="rect">
            <a:avLst/>
          </a:prstGeom>
          <a:solidFill>
            <a:srgbClr val="312E81"/>
          </a:solidFill>
          <a:ln w="12700">
            <a:solidFill>
              <a:srgbClr val="312E81"/>
            </a:solidFill>
            <a:prstDash val="solid"/>
          </a:ln>
        </p:spPr>
      </p:sp>
      <p:sp>
        <p:nvSpPr>
          <p:cNvPr id="13" name="Text 11"/>
          <p:cNvSpPr/>
          <p:nvPr/>
        </p:nvSpPr>
        <p:spPr>
          <a:xfrm>
            <a:off x="3703320" y="777240"/>
            <a:ext cx="3383280" cy="1371600"/>
          </a:xfrm>
          <a:prstGeom prst="rect">
            <a:avLst/>
          </a:prstGeom>
          <a:noFill/>
          <a:ln/>
        </p:spPr>
        <p:txBody>
          <a:bodyPr wrap="square" rtlCol="0" anchor="ctr">
            <a:normAutofit/>
          </a:bodyPr>
          <a:lstStyle/>
          <a:p>
            <a:pPr algn="l" indent="0" marL="0">
              <a:buNone/>
            </a:pPr>
            <a:r>
              <a:rPr lang="en-US" sz="2000" b="1" dirty="0">
                <a:solidFill>
                  <a:srgbClr val="FFFFFF"/>
                </a:solidFill>
                <a:latin typeface="Trebuchet MS" pitchFamily="34" charset="0"/>
                <a:ea typeface="Trebuchet MS" pitchFamily="34" charset="-122"/>
                <a:cs typeface="Trebuchet MS" pitchFamily="34" charset="-120"/>
              </a:rPr>
              <a:t>look; view; examine</a:t>
            </a:r>
            <a:endParaRPr lang="en-US" sz="2000" dirty="0"/>
          </a:p>
        </p:txBody>
      </p:sp>
      <p:sp>
        <p:nvSpPr>
          <p:cNvPr id="14" name="Text 12"/>
          <p:cNvSpPr/>
          <p:nvPr/>
        </p:nvSpPr>
        <p:spPr>
          <a:xfrm>
            <a:off x="7132320" y="777240"/>
            <a:ext cx="1600200" cy="1371600"/>
          </a:xfrm>
          <a:prstGeom prst="rect">
            <a:avLst/>
          </a:prstGeom>
          <a:noFill/>
          <a:ln/>
        </p:spPr>
        <p:txBody>
          <a:bodyPr wrap="square" rtlCol="0" anchor="ctr"/>
          <a:lstStyle/>
          <a:p>
            <a:pPr algn="ctr" indent="0" marL="0">
              <a:buNone/>
            </a:pPr>
            <a:r>
              <a:rPr lang="en-US" sz="1100" i="1" dirty="0">
                <a:solidFill>
                  <a:srgbClr val="99F6E4"/>
                </a:solidFill>
                <a:latin typeface="Calibri" pitchFamily="34" charset="0"/>
                <a:ea typeface="Calibri" pitchFamily="34" charset="-122"/>
                <a:cs typeface="Calibri" pitchFamily="34" charset="-120"/>
              </a:rPr>
              <a:t>Origin: Greek root</a:t>
            </a:r>
            <a:endParaRPr lang="en-US" sz="1100" dirty="0"/>
          </a:p>
        </p:txBody>
      </p:sp>
      <p:sp>
        <p:nvSpPr>
          <p:cNvPr id="15" name="Text 13"/>
          <p:cNvSpPr/>
          <p:nvPr/>
        </p:nvSpPr>
        <p:spPr>
          <a:xfrm>
            <a:off x="365760" y="2331720"/>
            <a:ext cx="8412480" cy="347472"/>
          </a:xfrm>
          <a:prstGeom prst="rect">
            <a:avLst/>
          </a:prstGeom>
          <a:noFill/>
          <a:ln/>
        </p:spPr>
        <p:txBody>
          <a:bodyPr wrap="square" lIns="0" tIns="0" rIns="0" bIns="0" rtlCol="0" anchor="ctr"/>
          <a:lstStyle/>
          <a:p>
            <a:pPr algn="l" indent="0" marL="0">
              <a:buNone/>
            </a:pPr>
            <a:r>
              <a:rPr lang="en-US" sz="1300" b="1" dirty="0">
                <a:solidFill>
                  <a:srgbClr val="0F172A"/>
                </a:solidFill>
                <a:latin typeface="Trebuchet MS" pitchFamily="34" charset="0"/>
                <a:ea typeface="Trebuchet MS" pitchFamily="34" charset="-122"/>
                <a:cs typeface="Trebuchet MS" pitchFamily="34" charset="-120"/>
              </a:rPr>
              <a:t>Words using this root:</a:t>
            </a:r>
            <a:endParaRPr lang="en-US" sz="1300" dirty="0"/>
          </a:p>
        </p:txBody>
      </p:sp>
      <p:sp>
        <p:nvSpPr>
          <p:cNvPr id="16" name="Shape 14"/>
          <p:cNvSpPr/>
          <p:nvPr/>
        </p:nvSpPr>
        <p:spPr>
          <a:xfrm>
            <a:off x="365760" y="2743200"/>
            <a:ext cx="2011680" cy="502920"/>
          </a:xfrm>
          <a:prstGeom prst="rect">
            <a:avLst>
              <a:gd name="adj" fmla="val 14545"/>
            </a:avLst>
          </a:prstGeom>
          <a:solidFill>
            <a:srgbClr val="EEF2FF"/>
          </a:solidFill>
          <a:ln w="12700">
            <a:solidFill>
              <a:srgbClr val="6366F1"/>
            </a:solidFill>
            <a:prstDash val="solid"/>
          </a:ln>
        </p:spPr>
      </p:sp>
      <p:sp>
        <p:nvSpPr>
          <p:cNvPr id="17" name="Text 15"/>
          <p:cNvSpPr/>
          <p:nvPr/>
        </p:nvSpPr>
        <p:spPr>
          <a:xfrm>
            <a:off x="365760" y="2743200"/>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telescope</a:t>
            </a:r>
            <a:endParaRPr lang="en-US" sz="1300" dirty="0"/>
          </a:p>
        </p:txBody>
      </p:sp>
      <p:sp>
        <p:nvSpPr>
          <p:cNvPr id="18" name="Shape 16"/>
          <p:cNvSpPr/>
          <p:nvPr/>
        </p:nvSpPr>
        <p:spPr>
          <a:xfrm>
            <a:off x="2514600" y="2743200"/>
            <a:ext cx="2011680" cy="502920"/>
          </a:xfrm>
          <a:prstGeom prst="rect">
            <a:avLst>
              <a:gd name="adj" fmla="val 14545"/>
            </a:avLst>
          </a:prstGeom>
          <a:solidFill>
            <a:srgbClr val="EEF2FF"/>
          </a:solidFill>
          <a:ln w="12700">
            <a:solidFill>
              <a:srgbClr val="6366F1"/>
            </a:solidFill>
            <a:prstDash val="solid"/>
          </a:ln>
        </p:spPr>
      </p:sp>
      <p:sp>
        <p:nvSpPr>
          <p:cNvPr id="19" name="Text 17"/>
          <p:cNvSpPr/>
          <p:nvPr/>
        </p:nvSpPr>
        <p:spPr>
          <a:xfrm>
            <a:off x="2514600" y="2743200"/>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gyroscope</a:t>
            </a:r>
            <a:endParaRPr lang="en-US" sz="1300" dirty="0"/>
          </a:p>
        </p:txBody>
      </p:sp>
      <p:sp>
        <p:nvSpPr>
          <p:cNvPr id="20" name="Shape 18"/>
          <p:cNvSpPr/>
          <p:nvPr/>
        </p:nvSpPr>
        <p:spPr>
          <a:xfrm>
            <a:off x="4663440" y="2743200"/>
            <a:ext cx="2011680" cy="502920"/>
          </a:xfrm>
          <a:prstGeom prst="rect">
            <a:avLst>
              <a:gd name="adj" fmla="val 14545"/>
            </a:avLst>
          </a:prstGeom>
          <a:solidFill>
            <a:srgbClr val="EEF2FF"/>
          </a:solidFill>
          <a:ln w="12700">
            <a:solidFill>
              <a:srgbClr val="6366F1"/>
            </a:solidFill>
            <a:prstDash val="solid"/>
          </a:ln>
        </p:spPr>
      </p:sp>
      <p:sp>
        <p:nvSpPr>
          <p:cNvPr id="21" name="Text 19"/>
          <p:cNvSpPr/>
          <p:nvPr/>
        </p:nvSpPr>
        <p:spPr>
          <a:xfrm>
            <a:off x="4663440" y="2743200"/>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periscope</a:t>
            </a:r>
            <a:endParaRPr lang="en-US" sz="1300" dirty="0"/>
          </a:p>
        </p:txBody>
      </p:sp>
      <p:sp>
        <p:nvSpPr>
          <p:cNvPr id="22" name="Shape 20"/>
          <p:cNvSpPr/>
          <p:nvPr/>
        </p:nvSpPr>
        <p:spPr>
          <a:xfrm>
            <a:off x="6812280" y="2743200"/>
            <a:ext cx="2011680" cy="502920"/>
          </a:xfrm>
          <a:prstGeom prst="rect">
            <a:avLst>
              <a:gd name="adj" fmla="val 14545"/>
            </a:avLst>
          </a:prstGeom>
          <a:solidFill>
            <a:srgbClr val="EEF2FF"/>
          </a:solidFill>
          <a:ln w="12700">
            <a:solidFill>
              <a:srgbClr val="6366F1"/>
            </a:solidFill>
            <a:prstDash val="solid"/>
          </a:ln>
        </p:spPr>
      </p:sp>
      <p:sp>
        <p:nvSpPr>
          <p:cNvPr id="23" name="Text 21"/>
          <p:cNvSpPr/>
          <p:nvPr/>
        </p:nvSpPr>
        <p:spPr>
          <a:xfrm>
            <a:off x="6812280" y="2743200"/>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horoscope</a:t>
            </a:r>
            <a:endParaRPr lang="en-US" sz="1300" dirty="0"/>
          </a:p>
        </p:txBody>
      </p:sp>
      <p:sp>
        <p:nvSpPr>
          <p:cNvPr id="24" name="Shape 22"/>
          <p:cNvSpPr/>
          <p:nvPr/>
        </p:nvSpPr>
        <p:spPr>
          <a:xfrm>
            <a:off x="365760" y="3401568"/>
            <a:ext cx="2011680" cy="502920"/>
          </a:xfrm>
          <a:prstGeom prst="rect">
            <a:avLst>
              <a:gd name="adj" fmla="val 14545"/>
            </a:avLst>
          </a:prstGeom>
          <a:solidFill>
            <a:srgbClr val="EEF2FF"/>
          </a:solidFill>
          <a:ln w="12700">
            <a:solidFill>
              <a:srgbClr val="6366F1"/>
            </a:solidFill>
            <a:prstDash val="solid"/>
          </a:ln>
        </p:spPr>
      </p:sp>
      <p:sp>
        <p:nvSpPr>
          <p:cNvPr id="25" name="Text 23"/>
          <p:cNvSpPr/>
          <p:nvPr/>
        </p:nvSpPr>
        <p:spPr>
          <a:xfrm>
            <a:off x="365760" y="3401568"/>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microscope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Word Matrix — Build with 'scope'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Choose one part from each column, left to right (you can skip a column). Not every combination makes a real word!</a:t>
            </a:r>
            <a:endParaRPr lang="en-US" sz="1300" dirty="0"/>
          </a:p>
        </p:txBody>
      </p:sp>
      <p:sp>
        <p:nvSpPr>
          <p:cNvPr id="11" name="Shape 9"/>
          <p:cNvSpPr/>
          <p:nvPr/>
        </p:nvSpPr>
        <p:spPr>
          <a:xfrm>
            <a:off x="1051560" y="1188720"/>
            <a:ext cx="2194560" cy="402336"/>
          </a:xfrm>
          <a:prstGeom prst="rect">
            <a:avLst>
              <a:gd name="adj" fmla="val 13636"/>
            </a:avLst>
          </a:prstGeom>
          <a:solidFill>
            <a:srgbClr val="7C3AED"/>
          </a:solidFill>
          <a:ln w="12700">
            <a:solidFill>
              <a:srgbClr val="7C3AED"/>
            </a:solidFill>
            <a:prstDash val="solid"/>
          </a:ln>
        </p:spPr>
      </p:sp>
      <p:sp>
        <p:nvSpPr>
          <p:cNvPr id="12" name="Text 10"/>
          <p:cNvSpPr/>
          <p:nvPr/>
        </p:nvSpPr>
        <p:spPr>
          <a:xfrm>
            <a:off x="1051560" y="1188720"/>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Prefixes</a:t>
            </a:r>
            <a:endParaRPr lang="en-US" sz="1200" dirty="0"/>
          </a:p>
        </p:txBody>
      </p:sp>
      <p:sp>
        <p:nvSpPr>
          <p:cNvPr id="13" name="Shape 11"/>
          <p:cNvSpPr/>
          <p:nvPr/>
        </p:nvSpPr>
        <p:spPr>
          <a:xfrm>
            <a:off x="1051560" y="1627632"/>
            <a:ext cx="2194560" cy="365760"/>
          </a:xfrm>
          <a:prstGeom prst="rect">
            <a:avLst/>
          </a:prstGeom>
          <a:solidFill>
            <a:srgbClr val="DDD6FE"/>
          </a:solidFill>
          <a:ln w="9525">
            <a:solidFill>
              <a:srgbClr val="E2E8F0"/>
            </a:solidFill>
            <a:prstDash val="solid"/>
          </a:ln>
        </p:spPr>
      </p:sp>
      <p:sp>
        <p:nvSpPr>
          <p:cNvPr id="14" name="Text 12"/>
          <p:cNvSpPr/>
          <p:nvPr/>
        </p:nvSpPr>
        <p:spPr>
          <a:xfrm>
            <a:off x="1051560" y="1627632"/>
            <a:ext cx="2194560" cy="365760"/>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5" name="Shape 13"/>
          <p:cNvSpPr/>
          <p:nvPr/>
        </p:nvSpPr>
        <p:spPr>
          <a:xfrm>
            <a:off x="1051560" y="2029968"/>
            <a:ext cx="2194560" cy="365760"/>
          </a:xfrm>
          <a:prstGeom prst="rect">
            <a:avLst/>
          </a:prstGeom>
          <a:solidFill>
            <a:srgbClr val="DDD6FE"/>
          </a:solidFill>
          <a:ln w="9525">
            <a:solidFill>
              <a:srgbClr val="E2E8F0"/>
            </a:solidFill>
            <a:prstDash val="solid"/>
          </a:ln>
        </p:spPr>
      </p:sp>
      <p:sp>
        <p:nvSpPr>
          <p:cNvPr id="16" name="Text 14"/>
          <p:cNvSpPr/>
          <p:nvPr/>
        </p:nvSpPr>
        <p:spPr>
          <a:xfrm>
            <a:off x="1051560" y="2029968"/>
            <a:ext cx="2194560" cy="365760"/>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gyro-</a:t>
            </a:r>
            <a:endParaRPr lang="en-US" sz="1300" dirty="0"/>
          </a:p>
        </p:txBody>
      </p:sp>
      <p:sp>
        <p:nvSpPr>
          <p:cNvPr id="17" name="Shape 15"/>
          <p:cNvSpPr/>
          <p:nvPr/>
        </p:nvSpPr>
        <p:spPr>
          <a:xfrm>
            <a:off x="1051560" y="2432304"/>
            <a:ext cx="2194560" cy="365760"/>
          </a:xfrm>
          <a:prstGeom prst="rect">
            <a:avLst/>
          </a:prstGeom>
          <a:solidFill>
            <a:srgbClr val="DDD6FE"/>
          </a:solidFill>
          <a:ln w="9525">
            <a:solidFill>
              <a:srgbClr val="E2E8F0"/>
            </a:solidFill>
            <a:prstDash val="solid"/>
          </a:ln>
        </p:spPr>
      </p:sp>
      <p:sp>
        <p:nvSpPr>
          <p:cNvPr id="18" name="Text 16"/>
          <p:cNvSpPr/>
          <p:nvPr/>
        </p:nvSpPr>
        <p:spPr>
          <a:xfrm>
            <a:off x="1051560" y="2432304"/>
            <a:ext cx="2194560" cy="365760"/>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peri-</a:t>
            </a:r>
            <a:endParaRPr lang="en-US" sz="1300" dirty="0"/>
          </a:p>
        </p:txBody>
      </p:sp>
      <p:sp>
        <p:nvSpPr>
          <p:cNvPr id="19" name="Shape 17"/>
          <p:cNvSpPr/>
          <p:nvPr/>
        </p:nvSpPr>
        <p:spPr>
          <a:xfrm>
            <a:off x="1051560" y="2834640"/>
            <a:ext cx="2194560" cy="365760"/>
          </a:xfrm>
          <a:prstGeom prst="rect">
            <a:avLst/>
          </a:prstGeom>
          <a:solidFill>
            <a:srgbClr val="DDD6FE"/>
          </a:solidFill>
          <a:ln w="9525">
            <a:solidFill>
              <a:srgbClr val="E2E8F0"/>
            </a:solidFill>
            <a:prstDash val="solid"/>
          </a:ln>
        </p:spPr>
      </p:sp>
      <p:sp>
        <p:nvSpPr>
          <p:cNvPr id="20" name="Text 18"/>
          <p:cNvSpPr/>
          <p:nvPr/>
        </p:nvSpPr>
        <p:spPr>
          <a:xfrm>
            <a:off x="1051560" y="2834640"/>
            <a:ext cx="2194560" cy="365760"/>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horo-</a:t>
            </a:r>
            <a:endParaRPr lang="en-US" sz="1300" dirty="0"/>
          </a:p>
        </p:txBody>
      </p:sp>
      <p:sp>
        <p:nvSpPr>
          <p:cNvPr id="21" name="Shape 19"/>
          <p:cNvSpPr/>
          <p:nvPr/>
        </p:nvSpPr>
        <p:spPr>
          <a:xfrm>
            <a:off x="1051560" y="3236976"/>
            <a:ext cx="2194560" cy="365760"/>
          </a:xfrm>
          <a:prstGeom prst="rect">
            <a:avLst/>
          </a:prstGeom>
          <a:solidFill>
            <a:srgbClr val="DDD6FE"/>
          </a:solidFill>
          <a:ln w="9525">
            <a:solidFill>
              <a:srgbClr val="E2E8F0"/>
            </a:solidFill>
            <a:prstDash val="solid"/>
          </a:ln>
        </p:spPr>
      </p:sp>
      <p:sp>
        <p:nvSpPr>
          <p:cNvPr id="22" name="Text 20"/>
          <p:cNvSpPr/>
          <p:nvPr/>
        </p:nvSpPr>
        <p:spPr>
          <a:xfrm>
            <a:off x="1051560" y="3236976"/>
            <a:ext cx="2194560" cy="365760"/>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micro-</a:t>
            </a:r>
            <a:endParaRPr lang="en-US" sz="1300" dirty="0"/>
          </a:p>
        </p:txBody>
      </p:sp>
      <p:sp>
        <p:nvSpPr>
          <p:cNvPr id="23" name="Shape 21"/>
          <p:cNvSpPr/>
          <p:nvPr/>
        </p:nvSpPr>
        <p:spPr>
          <a:xfrm>
            <a:off x="3474720" y="1188720"/>
            <a:ext cx="2194560" cy="402336"/>
          </a:xfrm>
          <a:prstGeom prst="rect">
            <a:avLst>
              <a:gd name="adj" fmla="val 13636"/>
            </a:avLst>
          </a:prstGeom>
          <a:solidFill>
            <a:srgbClr val="0D9488"/>
          </a:solidFill>
          <a:ln w="12700">
            <a:solidFill>
              <a:srgbClr val="0D9488"/>
            </a:solidFill>
            <a:prstDash val="solid"/>
          </a:ln>
        </p:spPr>
      </p:sp>
      <p:sp>
        <p:nvSpPr>
          <p:cNvPr id="24" name="Text 22"/>
          <p:cNvSpPr/>
          <p:nvPr/>
        </p:nvSpPr>
        <p:spPr>
          <a:xfrm>
            <a:off x="3474720" y="1188720"/>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Roots</a:t>
            </a:r>
            <a:endParaRPr lang="en-US" sz="1200" dirty="0"/>
          </a:p>
        </p:txBody>
      </p:sp>
      <p:sp>
        <p:nvSpPr>
          <p:cNvPr id="25" name="Shape 23"/>
          <p:cNvSpPr/>
          <p:nvPr/>
        </p:nvSpPr>
        <p:spPr>
          <a:xfrm>
            <a:off x="3474720" y="1627632"/>
            <a:ext cx="2194560" cy="365760"/>
          </a:xfrm>
          <a:prstGeom prst="rect">
            <a:avLst/>
          </a:prstGeom>
          <a:solidFill>
            <a:srgbClr val="CCFBF1"/>
          </a:solidFill>
          <a:ln w="25400">
            <a:solidFill>
              <a:srgbClr val="0D9488"/>
            </a:solidFill>
            <a:prstDash val="solid"/>
          </a:ln>
        </p:spPr>
      </p:sp>
      <p:sp>
        <p:nvSpPr>
          <p:cNvPr id="26" name="Text 24"/>
          <p:cNvSpPr/>
          <p:nvPr/>
        </p:nvSpPr>
        <p:spPr>
          <a:xfrm>
            <a:off x="3474720" y="1627632"/>
            <a:ext cx="2194560" cy="365760"/>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7" name="Shape 25"/>
          <p:cNvSpPr/>
          <p:nvPr/>
        </p:nvSpPr>
        <p:spPr>
          <a:xfrm>
            <a:off x="3474720" y="2029968"/>
            <a:ext cx="2194560" cy="365760"/>
          </a:xfrm>
          <a:prstGeom prst="rect">
            <a:avLst/>
          </a:prstGeom>
          <a:solidFill>
            <a:srgbClr val="F1F5F9"/>
          </a:solidFill>
          <a:ln w="9525">
            <a:solidFill>
              <a:srgbClr val="E2E8F0"/>
            </a:solidFill>
            <a:prstDash val="solid"/>
          </a:ln>
        </p:spPr>
      </p:sp>
      <p:sp>
        <p:nvSpPr>
          <p:cNvPr id="28" name="Shape 26"/>
          <p:cNvSpPr/>
          <p:nvPr/>
        </p:nvSpPr>
        <p:spPr>
          <a:xfrm>
            <a:off x="3474720" y="2432304"/>
            <a:ext cx="2194560" cy="365760"/>
          </a:xfrm>
          <a:prstGeom prst="rect">
            <a:avLst/>
          </a:prstGeom>
          <a:solidFill>
            <a:srgbClr val="F8FAFC"/>
          </a:solidFill>
          <a:ln w="9525">
            <a:solidFill>
              <a:srgbClr val="E2E8F0"/>
            </a:solidFill>
            <a:prstDash val="solid"/>
          </a:ln>
        </p:spPr>
      </p:sp>
      <p:sp>
        <p:nvSpPr>
          <p:cNvPr id="29" name="Shape 27"/>
          <p:cNvSpPr/>
          <p:nvPr/>
        </p:nvSpPr>
        <p:spPr>
          <a:xfrm>
            <a:off x="3474720" y="2834640"/>
            <a:ext cx="2194560" cy="365760"/>
          </a:xfrm>
          <a:prstGeom prst="rect">
            <a:avLst/>
          </a:prstGeom>
          <a:solidFill>
            <a:srgbClr val="F1F5F9"/>
          </a:solidFill>
          <a:ln w="9525">
            <a:solidFill>
              <a:srgbClr val="E2E8F0"/>
            </a:solidFill>
            <a:prstDash val="solid"/>
          </a:ln>
        </p:spPr>
      </p:sp>
      <p:sp>
        <p:nvSpPr>
          <p:cNvPr id="30" name="Shape 28"/>
          <p:cNvSpPr/>
          <p:nvPr/>
        </p:nvSpPr>
        <p:spPr>
          <a:xfrm>
            <a:off x="3474720" y="3236976"/>
            <a:ext cx="2194560" cy="365760"/>
          </a:xfrm>
          <a:prstGeom prst="rect">
            <a:avLst/>
          </a:prstGeom>
          <a:solidFill>
            <a:srgbClr val="F8FAFC"/>
          </a:solidFill>
          <a:ln w="9525">
            <a:solidFill>
              <a:srgbClr val="E2E8F0"/>
            </a:solidFill>
            <a:prstDash val="solid"/>
          </a:ln>
        </p:spPr>
      </p:sp>
      <p:sp>
        <p:nvSpPr>
          <p:cNvPr id="31" name="Shape 29"/>
          <p:cNvSpPr/>
          <p:nvPr/>
        </p:nvSpPr>
        <p:spPr>
          <a:xfrm>
            <a:off x="5897880" y="1188720"/>
            <a:ext cx="2194560" cy="402336"/>
          </a:xfrm>
          <a:prstGeom prst="rect">
            <a:avLst>
              <a:gd name="adj" fmla="val 13636"/>
            </a:avLst>
          </a:prstGeom>
          <a:solidFill>
            <a:srgbClr val="DB2777"/>
          </a:solidFill>
          <a:ln w="12700">
            <a:solidFill>
              <a:srgbClr val="DB2777"/>
            </a:solidFill>
            <a:prstDash val="solid"/>
          </a:ln>
        </p:spPr>
      </p:sp>
      <p:sp>
        <p:nvSpPr>
          <p:cNvPr id="32" name="Text 30"/>
          <p:cNvSpPr/>
          <p:nvPr/>
        </p:nvSpPr>
        <p:spPr>
          <a:xfrm>
            <a:off x="5897880" y="1188720"/>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Suffixes</a:t>
            </a:r>
            <a:endParaRPr lang="en-US" sz="1200" dirty="0"/>
          </a:p>
        </p:txBody>
      </p:sp>
      <p:sp>
        <p:nvSpPr>
          <p:cNvPr id="33" name="Shape 31"/>
          <p:cNvSpPr/>
          <p:nvPr/>
        </p:nvSpPr>
        <p:spPr>
          <a:xfrm>
            <a:off x="5897880" y="1627632"/>
            <a:ext cx="2194560" cy="365760"/>
          </a:xfrm>
          <a:prstGeom prst="rect">
            <a:avLst/>
          </a:prstGeom>
          <a:solidFill>
            <a:srgbClr val="FCE7F3"/>
          </a:solidFill>
          <a:ln w="9525">
            <a:solidFill>
              <a:srgbClr val="E2E8F0"/>
            </a:solidFill>
            <a:prstDash val="solid"/>
          </a:ln>
        </p:spPr>
      </p:sp>
      <p:sp>
        <p:nvSpPr>
          <p:cNvPr id="34" name="Text 32"/>
          <p:cNvSpPr/>
          <p:nvPr/>
        </p:nvSpPr>
        <p:spPr>
          <a:xfrm>
            <a:off x="5897880" y="1627632"/>
            <a:ext cx="2194560" cy="365760"/>
          </a:xfrm>
          <a:prstGeom prst="rect">
            <a:avLst/>
          </a:prstGeom>
          <a:noFill/>
          <a:ln/>
        </p:spPr>
        <p:txBody>
          <a:bodyPr wrap="square" lIns="0" tIns="0" rIns="0" bIns="0" rtlCol="0" anchor="ct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-ic</a:t>
            </a:r>
            <a:endParaRPr lang="en-US" sz="1300" dirty="0"/>
          </a:p>
        </p:txBody>
      </p:sp>
      <p:sp>
        <p:nvSpPr>
          <p:cNvPr id="35" name="Shape 33"/>
          <p:cNvSpPr/>
          <p:nvPr/>
        </p:nvSpPr>
        <p:spPr>
          <a:xfrm>
            <a:off x="5897880" y="2029968"/>
            <a:ext cx="2194560" cy="365760"/>
          </a:xfrm>
          <a:prstGeom prst="rect">
            <a:avLst/>
          </a:prstGeom>
          <a:solidFill>
            <a:srgbClr val="F1F5F9"/>
          </a:solidFill>
          <a:ln w="9525">
            <a:solidFill>
              <a:srgbClr val="E2E8F0"/>
            </a:solidFill>
            <a:prstDash val="solid"/>
          </a:ln>
        </p:spPr>
      </p:sp>
      <p:sp>
        <p:nvSpPr>
          <p:cNvPr id="36" name="Shape 34"/>
          <p:cNvSpPr/>
          <p:nvPr/>
        </p:nvSpPr>
        <p:spPr>
          <a:xfrm>
            <a:off x="5897880" y="2432304"/>
            <a:ext cx="2194560" cy="365760"/>
          </a:xfrm>
          <a:prstGeom prst="rect">
            <a:avLst/>
          </a:prstGeom>
          <a:solidFill>
            <a:srgbClr val="F8FAFC"/>
          </a:solidFill>
          <a:ln w="9525">
            <a:solidFill>
              <a:srgbClr val="E2E8F0"/>
            </a:solidFill>
            <a:prstDash val="solid"/>
          </a:ln>
        </p:spPr>
      </p:sp>
      <p:sp>
        <p:nvSpPr>
          <p:cNvPr id="37" name="Shape 35"/>
          <p:cNvSpPr/>
          <p:nvPr/>
        </p:nvSpPr>
        <p:spPr>
          <a:xfrm>
            <a:off x="5897880" y="2834640"/>
            <a:ext cx="2194560" cy="365760"/>
          </a:xfrm>
          <a:prstGeom prst="rect">
            <a:avLst/>
          </a:prstGeom>
          <a:solidFill>
            <a:srgbClr val="F1F5F9"/>
          </a:solidFill>
          <a:ln w="9525">
            <a:solidFill>
              <a:srgbClr val="E2E8F0"/>
            </a:solidFill>
            <a:prstDash val="solid"/>
          </a:ln>
        </p:spPr>
      </p:sp>
      <p:sp>
        <p:nvSpPr>
          <p:cNvPr id="38" name="Shape 36"/>
          <p:cNvSpPr/>
          <p:nvPr/>
        </p:nvSpPr>
        <p:spPr>
          <a:xfrm>
            <a:off x="5897880" y="3236976"/>
            <a:ext cx="2194560" cy="365760"/>
          </a:xfrm>
          <a:prstGeom prst="rect">
            <a:avLst/>
          </a:prstGeom>
          <a:solidFill>
            <a:srgbClr val="F8FAFC"/>
          </a:solidFill>
          <a:ln w="9525">
            <a:solidFill>
              <a:srgbClr val="E2E8F0"/>
            </a:solidFill>
            <a:prstDash val="solid"/>
          </a:ln>
        </p:spPr>
      </p:sp>
      <p:sp>
        <p:nvSpPr>
          <p:cNvPr id="39" name="Text 37"/>
          <p:cNvSpPr/>
          <p:nvPr/>
        </p:nvSpPr>
        <p:spPr>
          <a:xfrm>
            <a:off x="365760" y="3776472"/>
            <a:ext cx="1051560" cy="420624"/>
          </a:xfrm>
          <a:prstGeom prst="rect">
            <a:avLst/>
          </a:prstGeom>
          <a:noFill/>
          <a:ln/>
        </p:spPr>
        <p:txBody>
          <a:bodyPr wrap="square" lIns="0" tIns="0" rIns="0" bIns="0" rtlCol="0" anchor="ctr"/>
          <a:lstStyle/>
          <a:p>
            <a:pPr algn="l" indent="0" marL="0">
              <a:buNone/>
            </a:pPr>
            <a:r>
              <a:rPr lang="en-US" sz="1200" b="1" dirty="0">
                <a:solidFill>
                  <a:srgbClr val="475569"/>
                </a:solidFill>
                <a:latin typeface="Calibri" pitchFamily="34" charset="0"/>
                <a:ea typeface="Calibri" pitchFamily="34" charset="-122"/>
                <a:cs typeface="Calibri" pitchFamily="34" charset="-120"/>
              </a:rPr>
              <a:t>Example:</a:t>
            </a:r>
            <a:endParaRPr lang="en-US" sz="1200" dirty="0"/>
          </a:p>
        </p:txBody>
      </p:sp>
      <p:sp>
        <p:nvSpPr>
          <p:cNvPr id="40" name="Shape 38"/>
          <p:cNvSpPr/>
          <p:nvPr/>
        </p:nvSpPr>
        <p:spPr>
          <a:xfrm>
            <a:off x="1463040" y="3776472"/>
            <a:ext cx="1005840" cy="420624"/>
          </a:xfrm>
          <a:prstGeom prst="rect">
            <a:avLst>
              <a:gd name="adj" fmla="val 17391"/>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41" name="Text 39"/>
          <p:cNvSpPr/>
          <p:nvPr/>
        </p:nvSpPr>
        <p:spPr>
          <a:xfrm>
            <a:off x="1463040" y="3776472"/>
            <a:ext cx="1005840" cy="420624"/>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42" name="Text 40"/>
          <p:cNvSpPr/>
          <p:nvPr/>
        </p:nvSpPr>
        <p:spPr>
          <a:xfrm>
            <a:off x="2505456" y="3776472"/>
            <a:ext cx="274320" cy="420624"/>
          </a:xfrm>
          <a:prstGeom prst="rect">
            <a:avLst/>
          </a:prstGeom>
          <a:noFill/>
          <a:ln/>
        </p:spPr>
        <p:txBody>
          <a:bodyPr wrap="square" lIns="0" tIns="0" rIns="0" bIns="0" rtlCol="0" anchor="ctr"/>
          <a:lstStyle/>
          <a:p>
            <a:pPr algn="ctr" indent="0" marL="0">
              <a:buNone/>
            </a:pPr>
            <a:r>
              <a:rPr lang="en-US" sz="1400" dirty="0">
                <a:solidFill>
                  <a:srgbClr val="475569"/>
                </a:solidFill>
                <a:latin typeface="Trebuchet MS" pitchFamily="34" charset="0"/>
                <a:ea typeface="Trebuchet MS" pitchFamily="34" charset="-122"/>
                <a:cs typeface="Trebuchet MS" pitchFamily="34" charset="-120"/>
              </a:rPr>
              <a:t>+</a:t>
            </a:r>
            <a:endParaRPr lang="en-US" sz="1400" dirty="0"/>
          </a:p>
        </p:txBody>
      </p:sp>
      <p:sp>
        <p:nvSpPr>
          <p:cNvPr id="43" name="Shape 41"/>
          <p:cNvSpPr/>
          <p:nvPr/>
        </p:nvSpPr>
        <p:spPr>
          <a:xfrm>
            <a:off x="2798064" y="3776472"/>
            <a:ext cx="1005840" cy="420624"/>
          </a:xfrm>
          <a:prstGeom prst="rect">
            <a:avLst>
              <a:gd name="adj" fmla="val 17391"/>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44" name="Text 42"/>
          <p:cNvSpPr/>
          <p:nvPr/>
        </p:nvSpPr>
        <p:spPr>
          <a:xfrm>
            <a:off x="2798064" y="3776472"/>
            <a:ext cx="1005840" cy="420624"/>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45" name="Text 43"/>
          <p:cNvSpPr/>
          <p:nvPr/>
        </p:nvSpPr>
        <p:spPr>
          <a:xfrm>
            <a:off x="3886200" y="3776472"/>
            <a:ext cx="365760" cy="420624"/>
          </a:xfrm>
          <a:prstGeom prst="rect">
            <a:avLst/>
          </a:prstGeom>
          <a:noFill/>
          <a:ln/>
        </p:spPr>
        <p:txBody>
          <a:bodyPr wrap="square" lIns="0" tIns="0" rIns="0" bIns="0" rtlCol="0" anchor="ctr"/>
          <a:lstStyle/>
          <a:p>
            <a:pPr algn="ctr" indent="0" marL="0">
              <a:buNone/>
            </a:pPr>
            <a:r>
              <a:rPr lang="en-US" sz="1800" b="1" dirty="0">
                <a:solidFill>
                  <a:srgbClr val="0D9488"/>
                </a:solidFill>
                <a:latin typeface="Trebuchet MS" pitchFamily="34" charset="0"/>
                <a:ea typeface="Trebuchet MS" pitchFamily="34" charset="-122"/>
                <a:cs typeface="Trebuchet MS" pitchFamily="34" charset="-120"/>
              </a:rPr>
              <a:t>=</a:t>
            </a:r>
            <a:endParaRPr lang="en-US" sz="1800" dirty="0"/>
          </a:p>
        </p:txBody>
      </p:sp>
      <p:sp>
        <p:nvSpPr>
          <p:cNvPr id="46" name="Shape 44"/>
          <p:cNvSpPr/>
          <p:nvPr/>
        </p:nvSpPr>
        <p:spPr>
          <a:xfrm>
            <a:off x="4297680" y="3776472"/>
            <a:ext cx="1856232" cy="420624"/>
          </a:xfrm>
          <a:prstGeom prst="rect">
            <a:avLst>
              <a:gd name="adj" fmla="val 17391"/>
            </a:avLst>
          </a:prstGeom>
          <a:solidFill>
            <a:srgbClr val="0D9488"/>
          </a:solidFill>
          <a:ln w="12700">
            <a:solidFill>
              <a:srgbClr val="0D9488"/>
            </a:solidFill>
            <a:prstDash val="solid"/>
          </a:ln>
        </p:spPr>
      </p:sp>
      <p:sp>
        <p:nvSpPr>
          <p:cNvPr id="47" name="Text 45"/>
          <p:cNvSpPr/>
          <p:nvPr/>
        </p:nvSpPr>
        <p:spPr>
          <a:xfrm>
            <a:off x="4297680" y="3776472"/>
            <a:ext cx="1856232"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telescope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'scope' Word Definitions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Match each word to its meaning. The meanings are mixed up!</a:t>
            </a:r>
            <a:endParaRPr lang="en-US" sz="1300" dirty="0"/>
          </a:p>
        </p:txBody>
      </p:sp>
      <p:sp>
        <p:nvSpPr>
          <p:cNvPr id="11" name="Shape 9"/>
          <p:cNvSpPr/>
          <p:nvPr/>
        </p:nvSpPr>
        <p:spPr>
          <a:xfrm>
            <a:off x="365760" y="1188720"/>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365760" y="1188720"/>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telescope</a:t>
            </a:r>
            <a:endParaRPr lang="en-US" sz="1200" dirty="0"/>
          </a:p>
        </p:txBody>
      </p:sp>
      <p:sp>
        <p:nvSpPr>
          <p:cNvPr id="13" name="Shape 11"/>
          <p:cNvSpPr/>
          <p:nvPr/>
        </p:nvSpPr>
        <p:spPr>
          <a:xfrm>
            <a:off x="2514600" y="1188720"/>
            <a:ext cx="6263640" cy="438912"/>
          </a:xfrm>
          <a:prstGeom prst="rect">
            <a:avLst>
              <a:gd name="adj" fmla="val 12500"/>
            </a:avLst>
          </a:prstGeom>
          <a:solidFill>
            <a:srgbClr val="F8FAFC"/>
          </a:solidFill>
          <a:ln w="12700">
            <a:solidFill>
              <a:srgbClr val="E2E8F0"/>
            </a:solidFill>
            <a:prstDash val="solid"/>
          </a:ln>
        </p:spPr>
      </p:sp>
      <p:sp>
        <p:nvSpPr>
          <p:cNvPr id="14" name="Text 12"/>
          <p:cNvSpPr/>
          <p:nvPr/>
        </p:nvSpPr>
        <p:spPr>
          <a:xfrm>
            <a:off x="2651760" y="1188720"/>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A.  a prediction about someone's future based on the position of the stars and planets</a:t>
            </a:r>
            <a:endParaRPr lang="en-US" sz="1200" dirty="0"/>
          </a:p>
        </p:txBody>
      </p:sp>
      <p:sp>
        <p:nvSpPr>
          <p:cNvPr id="15" name="Shape 13"/>
          <p:cNvSpPr/>
          <p:nvPr/>
        </p:nvSpPr>
        <p:spPr>
          <a:xfrm>
            <a:off x="365760" y="1700784"/>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365760" y="1700784"/>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gyroscope</a:t>
            </a:r>
            <a:endParaRPr lang="en-US" sz="1200" dirty="0"/>
          </a:p>
        </p:txBody>
      </p:sp>
      <p:sp>
        <p:nvSpPr>
          <p:cNvPr id="17" name="Shape 15"/>
          <p:cNvSpPr/>
          <p:nvPr/>
        </p:nvSpPr>
        <p:spPr>
          <a:xfrm>
            <a:off x="2514600" y="1700784"/>
            <a:ext cx="6263640" cy="438912"/>
          </a:xfrm>
          <a:prstGeom prst="rect">
            <a:avLst>
              <a:gd name="adj" fmla="val 12500"/>
            </a:avLst>
          </a:prstGeom>
          <a:solidFill>
            <a:srgbClr val="F8FAFC"/>
          </a:solidFill>
          <a:ln w="12700">
            <a:solidFill>
              <a:srgbClr val="E2E8F0"/>
            </a:solidFill>
            <a:prstDash val="solid"/>
          </a:ln>
        </p:spPr>
      </p:sp>
      <p:sp>
        <p:nvSpPr>
          <p:cNvPr id="18" name="Text 16"/>
          <p:cNvSpPr/>
          <p:nvPr/>
        </p:nvSpPr>
        <p:spPr>
          <a:xfrm>
            <a:off x="2651760" y="1700784"/>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B.  a tube with mirrors that lets you see over or around things</a:t>
            </a:r>
            <a:endParaRPr lang="en-US" sz="1200" dirty="0"/>
          </a:p>
        </p:txBody>
      </p:sp>
      <p:sp>
        <p:nvSpPr>
          <p:cNvPr id="19" name="Shape 17"/>
          <p:cNvSpPr/>
          <p:nvPr/>
        </p:nvSpPr>
        <p:spPr>
          <a:xfrm>
            <a:off x="365760" y="2212848"/>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365760" y="2212848"/>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periscope</a:t>
            </a:r>
            <a:endParaRPr lang="en-US" sz="1200" dirty="0"/>
          </a:p>
        </p:txBody>
      </p:sp>
      <p:sp>
        <p:nvSpPr>
          <p:cNvPr id="21" name="Shape 19"/>
          <p:cNvSpPr/>
          <p:nvPr/>
        </p:nvSpPr>
        <p:spPr>
          <a:xfrm>
            <a:off x="2514600" y="2212848"/>
            <a:ext cx="6263640" cy="438912"/>
          </a:xfrm>
          <a:prstGeom prst="rect">
            <a:avLst>
              <a:gd name="adj" fmla="val 12500"/>
            </a:avLst>
          </a:prstGeom>
          <a:solidFill>
            <a:srgbClr val="F8FAFC"/>
          </a:solidFill>
          <a:ln w="12700">
            <a:solidFill>
              <a:srgbClr val="E2E8F0"/>
            </a:solidFill>
            <a:prstDash val="solid"/>
          </a:ln>
        </p:spPr>
      </p:sp>
      <p:sp>
        <p:nvSpPr>
          <p:cNvPr id="22" name="Text 20"/>
          <p:cNvSpPr/>
          <p:nvPr/>
        </p:nvSpPr>
        <p:spPr>
          <a:xfrm>
            <a:off x="2651760" y="2212848"/>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C.  an instrument used to see things too small to see with the naked eye</a:t>
            </a:r>
            <a:endParaRPr lang="en-US" sz="1200" dirty="0"/>
          </a:p>
        </p:txBody>
      </p:sp>
      <p:sp>
        <p:nvSpPr>
          <p:cNvPr id="23" name="Shape 21"/>
          <p:cNvSpPr/>
          <p:nvPr/>
        </p:nvSpPr>
        <p:spPr>
          <a:xfrm>
            <a:off x="365760" y="2724912"/>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365760" y="2724912"/>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horoscope</a:t>
            </a:r>
            <a:endParaRPr lang="en-US" sz="1200" dirty="0"/>
          </a:p>
        </p:txBody>
      </p:sp>
      <p:sp>
        <p:nvSpPr>
          <p:cNvPr id="25" name="Shape 23"/>
          <p:cNvSpPr/>
          <p:nvPr/>
        </p:nvSpPr>
        <p:spPr>
          <a:xfrm>
            <a:off x="2514600" y="2724912"/>
            <a:ext cx="6263640" cy="438912"/>
          </a:xfrm>
          <a:prstGeom prst="rect">
            <a:avLst>
              <a:gd name="adj" fmla="val 12500"/>
            </a:avLst>
          </a:prstGeom>
          <a:solidFill>
            <a:srgbClr val="F8FAFC"/>
          </a:solidFill>
          <a:ln w="12700">
            <a:solidFill>
              <a:srgbClr val="E2E8F0"/>
            </a:solidFill>
            <a:prstDash val="solid"/>
          </a:ln>
        </p:spPr>
      </p:sp>
      <p:sp>
        <p:nvSpPr>
          <p:cNvPr id="26" name="Text 24"/>
          <p:cNvSpPr/>
          <p:nvPr/>
        </p:nvSpPr>
        <p:spPr>
          <a:xfrm>
            <a:off x="2651760" y="2724912"/>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D.  a spinning device used to help keep balance or find direction</a:t>
            </a:r>
            <a:endParaRPr lang="en-US" sz="1200" dirty="0"/>
          </a:p>
        </p:txBody>
      </p:sp>
      <p:sp>
        <p:nvSpPr>
          <p:cNvPr id="27" name="Shape 25"/>
          <p:cNvSpPr/>
          <p:nvPr/>
        </p:nvSpPr>
        <p:spPr>
          <a:xfrm>
            <a:off x="365760" y="3236976"/>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365760" y="3236976"/>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microscope</a:t>
            </a:r>
            <a:endParaRPr lang="en-US" sz="1200" dirty="0"/>
          </a:p>
        </p:txBody>
      </p:sp>
      <p:sp>
        <p:nvSpPr>
          <p:cNvPr id="29" name="Shape 27"/>
          <p:cNvSpPr/>
          <p:nvPr/>
        </p:nvSpPr>
        <p:spPr>
          <a:xfrm>
            <a:off x="2514600" y="3236976"/>
            <a:ext cx="6263640" cy="438912"/>
          </a:xfrm>
          <a:prstGeom prst="rect">
            <a:avLst>
              <a:gd name="adj" fmla="val 12500"/>
            </a:avLst>
          </a:prstGeom>
          <a:solidFill>
            <a:srgbClr val="F8FAFC"/>
          </a:solidFill>
          <a:ln w="12700">
            <a:solidFill>
              <a:srgbClr val="E2E8F0"/>
            </a:solidFill>
            <a:prstDash val="solid"/>
          </a:ln>
        </p:spPr>
      </p:sp>
      <p:sp>
        <p:nvSpPr>
          <p:cNvPr id="30" name="Text 28"/>
          <p:cNvSpPr/>
          <p:nvPr/>
        </p:nvSpPr>
        <p:spPr>
          <a:xfrm>
            <a:off x="2651760" y="3236976"/>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E.  an instrument with lenses used to see faraway objects, such as stars and planets, up close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'scope' Word Definitions — Answers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Check your matches.</a:t>
            </a:r>
            <a:endParaRPr lang="en-US" sz="1300" dirty="0"/>
          </a:p>
        </p:txBody>
      </p:sp>
      <p:sp>
        <p:nvSpPr>
          <p:cNvPr id="11" name="Shape 9"/>
          <p:cNvSpPr/>
          <p:nvPr/>
        </p:nvSpPr>
        <p:spPr>
          <a:xfrm>
            <a:off x="365760" y="1188720"/>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365760" y="1188720"/>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telescope</a:t>
            </a:r>
            <a:endParaRPr lang="en-US" sz="1200" dirty="0"/>
          </a:p>
        </p:txBody>
      </p:sp>
      <p:sp>
        <p:nvSpPr>
          <p:cNvPr id="13" name="Shape 11"/>
          <p:cNvSpPr/>
          <p:nvPr/>
        </p:nvSpPr>
        <p:spPr>
          <a:xfrm>
            <a:off x="2514600" y="1188720"/>
            <a:ext cx="6263640" cy="438912"/>
          </a:xfrm>
          <a:prstGeom prst="rect">
            <a:avLst>
              <a:gd name="adj" fmla="val 12500"/>
            </a:avLst>
          </a:prstGeom>
          <a:solidFill>
            <a:srgbClr val="DCFCE7"/>
          </a:solidFill>
          <a:ln w="12700">
            <a:solidFill>
              <a:srgbClr val="16A34A"/>
            </a:solidFill>
            <a:prstDash val="solid"/>
          </a:ln>
        </p:spPr>
      </p:sp>
      <p:sp>
        <p:nvSpPr>
          <p:cNvPr id="14" name="Text 12"/>
          <p:cNvSpPr/>
          <p:nvPr/>
        </p:nvSpPr>
        <p:spPr>
          <a:xfrm>
            <a:off x="2651760" y="1188720"/>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A.  an instrument with lenses used to see faraway objects, such as stars and planets, up close</a:t>
            </a:r>
            <a:endParaRPr lang="en-US" sz="1200" dirty="0"/>
          </a:p>
        </p:txBody>
      </p:sp>
      <p:sp>
        <p:nvSpPr>
          <p:cNvPr id="15" name="Shape 13"/>
          <p:cNvSpPr/>
          <p:nvPr/>
        </p:nvSpPr>
        <p:spPr>
          <a:xfrm>
            <a:off x="365760" y="1700784"/>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365760" y="1700784"/>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gyroscope</a:t>
            </a:r>
            <a:endParaRPr lang="en-US" sz="1200" dirty="0"/>
          </a:p>
        </p:txBody>
      </p:sp>
      <p:sp>
        <p:nvSpPr>
          <p:cNvPr id="17" name="Shape 15"/>
          <p:cNvSpPr/>
          <p:nvPr/>
        </p:nvSpPr>
        <p:spPr>
          <a:xfrm>
            <a:off x="2514600" y="1700784"/>
            <a:ext cx="6263640" cy="438912"/>
          </a:xfrm>
          <a:prstGeom prst="rect">
            <a:avLst>
              <a:gd name="adj" fmla="val 12500"/>
            </a:avLst>
          </a:prstGeom>
          <a:solidFill>
            <a:srgbClr val="DCFCE7"/>
          </a:solidFill>
          <a:ln w="12700">
            <a:solidFill>
              <a:srgbClr val="16A34A"/>
            </a:solidFill>
            <a:prstDash val="solid"/>
          </a:ln>
        </p:spPr>
      </p:sp>
      <p:sp>
        <p:nvSpPr>
          <p:cNvPr id="18" name="Text 16"/>
          <p:cNvSpPr/>
          <p:nvPr/>
        </p:nvSpPr>
        <p:spPr>
          <a:xfrm>
            <a:off x="2651760" y="1700784"/>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B.  a spinning device used to help keep balance or find direction</a:t>
            </a:r>
            <a:endParaRPr lang="en-US" sz="1200" dirty="0"/>
          </a:p>
        </p:txBody>
      </p:sp>
      <p:sp>
        <p:nvSpPr>
          <p:cNvPr id="19" name="Shape 17"/>
          <p:cNvSpPr/>
          <p:nvPr/>
        </p:nvSpPr>
        <p:spPr>
          <a:xfrm>
            <a:off x="365760" y="2212848"/>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365760" y="2212848"/>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periscope</a:t>
            </a:r>
            <a:endParaRPr lang="en-US" sz="1200" dirty="0"/>
          </a:p>
        </p:txBody>
      </p:sp>
      <p:sp>
        <p:nvSpPr>
          <p:cNvPr id="21" name="Shape 19"/>
          <p:cNvSpPr/>
          <p:nvPr/>
        </p:nvSpPr>
        <p:spPr>
          <a:xfrm>
            <a:off x="2514600" y="2212848"/>
            <a:ext cx="6263640" cy="438912"/>
          </a:xfrm>
          <a:prstGeom prst="rect">
            <a:avLst>
              <a:gd name="adj" fmla="val 12500"/>
            </a:avLst>
          </a:prstGeom>
          <a:solidFill>
            <a:srgbClr val="DCFCE7"/>
          </a:solidFill>
          <a:ln w="12700">
            <a:solidFill>
              <a:srgbClr val="16A34A"/>
            </a:solidFill>
            <a:prstDash val="solid"/>
          </a:ln>
        </p:spPr>
      </p:sp>
      <p:sp>
        <p:nvSpPr>
          <p:cNvPr id="22" name="Text 20"/>
          <p:cNvSpPr/>
          <p:nvPr/>
        </p:nvSpPr>
        <p:spPr>
          <a:xfrm>
            <a:off x="2651760" y="2212848"/>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C.  a tube with mirrors that lets you see over or around things</a:t>
            </a:r>
            <a:endParaRPr lang="en-US" sz="1200" dirty="0"/>
          </a:p>
        </p:txBody>
      </p:sp>
      <p:sp>
        <p:nvSpPr>
          <p:cNvPr id="23" name="Shape 21"/>
          <p:cNvSpPr/>
          <p:nvPr/>
        </p:nvSpPr>
        <p:spPr>
          <a:xfrm>
            <a:off x="365760" y="2724912"/>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365760" y="2724912"/>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horoscope</a:t>
            </a:r>
            <a:endParaRPr lang="en-US" sz="1200" dirty="0"/>
          </a:p>
        </p:txBody>
      </p:sp>
      <p:sp>
        <p:nvSpPr>
          <p:cNvPr id="25" name="Shape 23"/>
          <p:cNvSpPr/>
          <p:nvPr/>
        </p:nvSpPr>
        <p:spPr>
          <a:xfrm>
            <a:off x="2514600" y="2724912"/>
            <a:ext cx="6263640" cy="438912"/>
          </a:xfrm>
          <a:prstGeom prst="rect">
            <a:avLst>
              <a:gd name="adj" fmla="val 12500"/>
            </a:avLst>
          </a:prstGeom>
          <a:solidFill>
            <a:srgbClr val="DCFCE7"/>
          </a:solidFill>
          <a:ln w="12700">
            <a:solidFill>
              <a:srgbClr val="16A34A"/>
            </a:solidFill>
            <a:prstDash val="solid"/>
          </a:ln>
        </p:spPr>
      </p:sp>
      <p:sp>
        <p:nvSpPr>
          <p:cNvPr id="26" name="Text 24"/>
          <p:cNvSpPr/>
          <p:nvPr/>
        </p:nvSpPr>
        <p:spPr>
          <a:xfrm>
            <a:off x="2651760" y="2724912"/>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D.  a prediction about someone's future based on the position of the stars and planets</a:t>
            </a:r>
            <a:endParaRPr lang="en-US" sz="1200" dirty="0"/>
          </a:p>
        </p:txBody>
      </p:sp>
      <p:sp>
        <p:nvSpPr>
          <p:cNvPr id="27" name="Shape 25"/>
          <p:cNvSpPr/>
          <p:nvPr/>
        </p:nvSpPr>
        <p:spPr>
          <a:xfrm>
            <a:off x="365760" y="3236976"/>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365760" y="3236976"/>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microscope</a:t>
            </a:r>
            <a:endParaRPr lang="en-US" sz="1200" dirty="0"/>
          </a:p>
        </p:txBody>
      </p:sp>
      <p:sp>
        <p:nvSpPr>
          <p:cNvPr id="29" name="Shape 27"/>
          <p:cNvSpPr/>
          <p:nvPr/>
        </p:nvSpPr>
        <p:spPr>
          <a:xfrm>
            <a:off x="2514600" y="3236976"/>
            <a:ext cx="6263640" cy="438912"/>
          </a:xfrm>
          <a:prstGeom prst="rect">
            <a:avLst>
              <a:gd name="adj" fmla="val 12500"/>
            </a:avLst>
          </a:prstGeom>
          <a:solidFill>
            <a:srgbClr val="DCFCE7"/>
          </a:solidFill>
          <a:ln w="12700">
            <a:solidFill>
              <a:srgbClr val="16A34A"/>
            </a:solidFill>
            <a:prstDash val="solid"/>
          </a:ln>
        </p:spPr>
      </p:sp>
      <p:sp>
        <p:nvSpPr>
          <p:cNvPr id="30" name="Text 28"/>
          <p:cNvSpPr/>
          <p:nvPr/>
        </p:nvSpPr>
        <p:spPr>
          <a:xfrm>
            <a:off x="2651760" y="3236976"/>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E.  an instrument used to see things too small to see with the naked eye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Using 'scope' Words in Sentences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Read these sentences. Underline the 'scope' word and talk about what it means.</a:t>
            </a:r>
            <a:endParaRPr lang="en-US" sz="1300" dirty="0"/>
          </a:p>
        </p:txBody>
      </p:sp>
      <p:sp>
        <p:nvSpPr>
          <p:cNvPr id="11" name="Shape 9"/>
          <p:cNvSpPr/>
          <p:nvPr/>
        </p:nvSpPr>
        <p:spPr>
          <a:xfrm>
            <a:off x="365760" y="1261872"/>
            <a:ext cx="8412480" cy="1005840"/>
          </a:xfrm>
          <a:prstGeom prst="rect">
            <a:avLst>
              <a:gd name="adj" fmla="val 9091"/>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65760" y="1261872"/>
            <a:ext cx="502920" cy="1005840"/>
          </a:xfrm>
          <a:prstGeom prst="rect">
            <a:avLst>
              <a:gd name="adj" fmla="val 18182"/>
            </a:avLst>
          </a:prstGeom>
          <a:solidFill>
            <a:srgbClr val="4338CA"/>
          </a:solidFill>
          <a:ln w="12700">
            <a:solidFill>
              <a:srgbClr val="4338CA"/>
            </a:solidFill>
            <a:prstDash val="solid"/>
          </a:ln>
        </p:spPr>
      </p:sp>
      <p:sp>
        <p:nvSpPr>
          <p:cNvPr id="13" name="Shape 11"/>
          <p:cNvSpPr/>
          <p:nvPr/>
        </p:nvSpPr>
        <p:spPr>
          <a:xfrm>
            <a:off x="713232" y="1261872"/>
            <a:ext cx="91440" cy="1005840"/>
          </a:xfrm>
          <a:prstGeom prst="rect">
            <a:avLst/>
          </a:prstGeom>
          <a:solidFill>
            <a:srgbClr val="4338CA"/>
          </a:solidFill>
          <a:ln w="12700">
            <a:solidFill>
              <a:srgbClr val="4338CA"/>
            </a:solidFill>
            <a:prstDash val="solid"/>
          </a:ln>
        </p:spPr>
      </p:sp>
      <p:sp>
        <p:nvSpPr>
          <p:cNvPr id="14" name="Text 12"/>
          <p:cNvSpPr/>
          <p:nvPr/>
        </p:nvSpPr>
        <p:spPr>
          <a:xfrm>
            <a:off x="365760" y="1261872"/>
            <a:ext cx="50292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15" name="Text 13"/>
          <p:cNvSpPr/>
          <p:nvPr/>
        </p:nvSpPr>
        <p:spPr>
          <a:xfrm>
            <a:off x="960120" y="1307592"/>
            <a:ext cx="7635240" cy="914400"/>
          </a:xfrm>
          <a:prstGeom prst="rect">
            <a:avLst/>
          </a:prstGeom>
          <a:noFill/>
          <a:ln/>
        </p:spPr>
        <p:txBody>
          <a:bodyPr wrap="square" rtlCol="0" anchor="ctr">
            <a:normAutofit/>
          </a:bodyPr>
          <a:lstStyle/>
          <a:p>
            <a:pPr algn="l" indent="0" marL="0">
              <a:buNone/>
            </a:pPr>
            <a:r>
              <a:rPr lang="en-US" sz="1500" dirty="0">
                <a:solidFill>
                  <a:srgbClr val="0F172A"/>
                </a:solidFill>
                <a:latin typeface="Calibri" pitchFamily="34" charset="0"/>
                <a:ea typeface="Calibri" pitchFamily="34" charset="-122"/>
                <a:cs typeface="Calibri" pitchFamily="34" charset="-120"/>
              </a:rPr>
              <a:t>The astronomer pointed her telescope at the rings of Saturn.</a:t>
            </a:r>
            <a:endParaRPr lang="en-US" sz="1500" dirty="0"/>
          </a:p>
        </p:txBody>
      </p:sp>
      <p:sp>
        <p:nvSpPr>
          <p:cNvPr id="16" name="Shape 14"/>
          <p:cNvSpPr/>
          <p:nvPr/>
        </p:nvSpPr>
        <p:spPr>
          <a:xfrm>
            <a:off x="365760" y="2468880"/>
            <a:ext cx="8412480" cy="1005840"/>
          </a:xfrm>
          <a:prstGeom prst="rect">
            <a:avLst>
              <a:gd name="adj" fmla="val 9091"/>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365760" y="2468880"/>
            <a:ext cx="502920" cy="1005840"/>
          </a:xfrm>
          <a:prstGeom prst="rect">
            <a:avLst>
              <a:gd name="adj" fmla="val 18182"/>
            </a:avLst>
          </a:prstGeom>
          <a:solidFill>
            <a:srgbClr val="4338CA"/>
          </a:solidFill>
          <a:ln w="12700">
            <a:solidFill>
              <a:srgbClr val="4338CA"/>
            </a:solidFill>
            <a:prstDash val="solid"/>
          </a:ln>
        </p:spPr>
      </p:sp>
      <p:sp>
        <p:nvSpPr>
          <p:cNvPr id="18" name="Shape 16"/>
          <p:cNvSpPr/>
          <p:nvPr/>
        </p:nvSpPr>
        <p:spPr>
          <a:xfrm>
            <a:off x="713232" y="2468880"/>
            <a:ext cx="91440" cy="1005840"/>
          </a:xfrm>
          <a:prstGeom prst="rect">
            <a:avLst/>
          </a:prstGeom>
          <a:solidFill>
            <a:srgbClr val="4338CA"/>
          </a:solidFill>
          <a:ln w="12700">
            <a:solidFill>
              <a:srgbClr val="4338CA"/>
            </a:solidFill>
            <a:prstDash val="solid"/>
          </a:ln>
        </p:spPr>
      </p:sp>
      <p:sp>
        <p:nvSpPr>
          <p:cNvPr id="19" name="Text 17"/>
          <p:cNvSpPr/>
          <p:nvPr/>
        </p:nvSpPr>
        <p:spPr>
          <a:xfrm>
            <a:off x="365760" y="2468880"/>
            <a:ext cx="50292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20" name="Text 18"/>
          <p:cNvSpPr/>
          <p:nvPr/>
        </p:nvSpPr>
        <p:spPr>
          <a:xfrm>
            <a:off x="960120" y="2514600"/>
            <a:ext cx="7635240" cy="914400"/>
          </a:xfrm>
          <a:prstGeom prst="rect">
            <a:avLst/>
          </a:prstGeom>
          <a:noFill/>
          <a:ln/>
        </p:spPr>
        <p:txBody>
          <a:bodyPr wrap="square" rtlCol="0" anchor="ctr">
            <a:normAutofit/>
          </a:bodyPr>
          <a:lstStyle/>
          <a:p>
            <a:pPr algn="l" indent="0" marL="0">
              <a:buNone/>
            </a:pPr>
            <a:r>
              <a:rPr lang="en-US" sz="1500" dirty="0">
                <a:solidFill>
                  <a:srgbClr val="0F172A"/>
                </a:solidFill>
                <a:latin typeface="Calibri" pitchFamily="34" charset="0"/>
                <a:ea typeface="Calibri" pitchFamily="34" charset="-122"/>
                <a:cs typeface="Calibri" pitchFamily="34" charset="-120"/>
              </a:rPr>
              <a:t>The gyroscope inside the phone helps it know which way is up.</a:t>
            </a:r>
            <a:endParaRPr lang="en-US" sz="1500" dirty="0"/>
          </a:p>
        </p:txBody>
      </p:sp>
      <p:sp>
        <p:nvSpPr>
          <p:cNvPr id="21" name="Shape 19"/>
          <p:cNvSpPr/>
          <p:nvPr/>
        </p:nvSpPr>
        <p:spPr>
          <a:xfrm>
            <a:off x="365760" y="3675888"/>
            <a:ext cx="8412480" cy="1005840"/>
          </a:xfrm>
          <a:prstGeom prst="rect">
            <a:avLst>
              <a:gd name="adj" fmla="val 9091"/>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65760" y="3675888"/>
            <a:ext cx="502920" cy="1005840"/>
          </a:xfrm>
          <a:prstGeom prst="rect">
            <a:avLst>
              <a:gd name="adj" fmla="val 18182"/>
            </a:avLst>
          </a:prstGeom>
          <a:solidFill>
            <a:srgbClr val="4338CA"/>
          </a:solidFill>
          <a:ln w="12700">
            <a:solidFill>
              <a:srgbClr val="4338CA"/>
            </a:solidFill>
            <a:prstDash val="solid"/>
          </a:ln>
        </p:spPr>
      </p:sp>
      <p:sp>
        <p:nvSpPr>
          <p:cNvPr id="23" name="Shape 21"/>
          <p:cNvSpPr/>
          <p:nvPr/>
        </p:nvSpPr>
        <p:spPr>
          <a:xfrm>
            <a:off x="713232" y="3675888"/>
            <a:ext cx="91440" cy="1005840"/>
          </a:xfrm>
          <a:prstGeom prst="rect">
            <a:avLst/>
          </a:prstGeom>
          <a:solidFill>
            <a:srgbClr val="4338CA"/>
          </a:solidFill>
          <a:ln w="12700">
            <a:solidFill>
              <a:srgbClr val="4338CA"/>
            </a:solidFill>
            <a:prstDash val="solid"/>
          </a:ln>
        </p:spPr>
      </p:sp>
      <p:sp>
        <p:nvSpPr>
          <p:cNvPr id="24" name="Text 22"/>
          <p:cNvSpPr/>
          <p:nvPr/>
        </p:nvSpPr>
        <p:spPr>
          <a:xfrm>
            <a:off x="365760" y="3675888"/>
            <a:ext cx="50292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25" name="Text 23"/>
          <p:cNvSpPr/>
          <p:nvPr/>
        </p:nvSpPr>
        <p:spPr>
          <a:xfrm>
            <a:off x="960120" y="3721608"/>
            <a:ext cx="7635240" cy="914400"/>
          </a:xfrm>
          <a:prstGeom prst="rect">
            <a:avLst/>
          </a:prstGeom>
          <a:noFill/>
          <a:ln/>
        </p:spPr>
        <p:txBody>
          <a:bodyPr wrap="square" rtlCol="0" anchor="ctr">
            <a:normAutofit/>
          </a:bodyPr>
          <a:lstStyle/>
          <a:p>
            <a:pPr algn="l" indent="0" marL="0">
              <a:buNone/>
            </a:pPr>
            <a:r>
              <a:rPr lang="en-US" sz="1500" dirty="0">
                <a:solidFill>
                  <a:srgbClr val="0F172A"/>
                </a:solidFill>
                <a:latin typeface="Calibri" pitchFamily="34" charset="0"/>
                <a:ea typeface="Calibri" pitchFamily="34" charset="-122"/>
                <a:cs typeface="Calibri" pitchFamily="34" charset="-120"/>
              </a:rPr>
              <a:t>The submarine crew used the periscope to see ships on the surface.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457200" y="1645920"/>
            <a:ext cx="1097280" cy="411480"/>
          </a:xfrm>
          <a:prstGeom prst="rect">
            <a:avLst>
              <a:gd name="adj" fmla="val 17778"/>
            </a:avLst>
          </a:prstGeom>
          <a:solidFill>
            <a:srgbClr val="0D9488"/>
          </a:solidFill>
          <a:ln w="12700">
            <a:solidFill>
              <a:srgbClr val="0D9488"/>
            </a:solidFill>
            <a:prstDash val="solid"/>
          </a:ln>
        </p:spPr>
      </p:sp>
      <p:sp>
        <p:nvSpPr>
          <p:cNvPr id="4" name="Text 2"/>
          <p:cNvSpPr/>
          <p:nvPr/>
        </p:nvSpPr>
        <p:spPr>
          <a:xfrm>
            <a:off x="457200" y="1645920"/>
            <a:ext cx="10972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Day 2</a:t>
            </a:r>
            <a:endParaRPr lang="en-US" sz="1100" dirty="0"/>
          </a:p>
        </p:txBody>
      </p:sp>
      <p:sp>
        <p:nvSpPr>
          <p:cNvPr id="5" name="Text 3"/>
          <p:cNvSpPr/>
          <p:nvPr/>
        </p:nvSpPr>
        <p:spPr>
          <a:xfrm>
            <a:off x="457200" y="2148840"/>
            <a:ext cx="8412480" cy="1280160"/>
          </a:xfrm>
          <a:prstGeom prst="rect">
            <a:avLst/>
          </a:prstGeom>
          <a:noFill/>
          <a:ln/>
        </p:spPr>
        <p:txBody>
          <a:bodyPr wrap="square" lIns="0" tIns="0" rIns="0" bIns="0" rtlCol="0" anchor="t"/>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Dictation &amp;</a:t>
            </a:r>
            <a:endParaRPr lang="en-US" sz="4400" dirty="0"/>
          </a:p>
          <a:p>
            <a:pPr algn="l" indent="0" marL="0">
              <a:buNone/>
            </a:pPr>
            <a:r>
              <a:rPr lang="en-US" sz="4400" b="1" dirty="0">
                <a:solidFill>
                  <a:srgbClr val="FFFFFF"/>
                </a:solidFill>
                <a:latin typeface="Trebuchet MS" pitchFamily="34" charset="0"/>
                <a:ea typeface="Trebuchet MS" pitchFamily="34" charset="-122"/>
                <a:cs typeface="Trebuchet MS" pitchFamily="34" charset="-120"/>
              </a:rPr>
              <a:t>Breakdown</a:t>
            </a:r>
            <a:endParaRPr lang="en-US" sz="4400" dirty="0"/>
          </a:p>
        </p:txBody>
      </p:sp>
      <p:sp>
        <p:nvSpPr>
          <p:cNvPr id="6" name="Text 4"/>
          <p:cNvSpPr/>
          <p:nvPr/>
        </p:nvSpPr>
        <p:spPr>
          <a:xfrm>
            <a:off x="457200" y="3474720"/>
            <a:ext cx="8229600" cy="548640"/>
          </a:xfrm>
          <a:prstGeom prst="rect">
            <a:avLst/>
          </a:prstGeom>
          <a:noFill/>
          <a:ln/>
        </p:spPr>
        <p:txBody>
          <a:bodyPr wrap="square" lIns="0" tIns="0" rIns="0" bIns="0" rtlCol="0" anchor="t"/>
          <a:lstStyle/>
          <a:p>
            <a:pPr algn="l" indent="0" marL="0">
              <a:buNone/>
            </a:pPr>
            <a:r>
              <a:rPr lang="en-US" sz="1600" dirty="0">
                <a:solidFill>
                  <a:srgbClr val="A5B4FC"/>
                </a:solidFill>
                <a:latin typeface="Calibri" pitchFamily="34" charset="0"/>
                <a:ea typeface="Calibri" pitchFamily="34" charset="-122"/>
                <a:cs typeface="Calibri" pitchFamily="34" charset="-120"/>
              </a:rPr>
              <a:t>Listen → Write → Reveal → Check</a:t>
            </a:r>
            <a:endParaRPr lang="en-US" sz="1600" dirty="0"/>
          </a:p>
        </p:txBody>
      </p:sp>
      <p:sp>
        <p:nvSpPr>
          <p:cNvPr id="7" name="Shape 5"/>
          <p:cNvSpPr/>
          <p:nvPr/>
        </p:nvSpPr>
        <p:spPr>
          <a:xfrm>
            <a:off x="0" y="4754880"/>
            <a:ext cx="9144000" cy="388620"/>
          </a:xfrm>
          <a:prstGeom prst="rect">
            <a:avLst/>
          </a:prstGeom>
          <a:solidFill>
            <a:srgbClr val="0F172A"/>
          </a:solidFill>
          <a:ln w="12700">
            <a:solidFill>
              <a:srgbClr val="0F172A"/>
            </a:solidFill>
            <a:prstDash val="solid"/>
          </a:ln>
        </p:spPr>
      </p:sp>
      <p:sp>
        <p:nvSpPr>
          <p:cNvPr id="8" name="Text 6"/>
          <p:cNvSpPr/>
          <p:nvPr/>
        </p:nvSpPr>
        <p:spPr>
          <a:xfrm>
            <a:off x="0" y="4754880"/>
            <a:ext cx="9144000" cy="3886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Word Labs  •  wordlabs.app</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Dictation — Listen &amp; Write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77240"/>
            <a:ext cx="8412480" cy="530352"/>
          </a:xfrm>
          <a:prstGeom prst="rect">
            <a:avLst>
              <a:gd name="adj" fmla="val 13793"/>
            </a:avLst>
          </a:prstGeom>
          <a:solidFill>
            <a:srgbClr val="FEF3C7"/>
          </a:solidFill>
          <a:ln w="12700">
            <a:solidFill>
              <a:srgbClr val="D97706"/>
            </a:solidFill>
            <a:prstDash val="solid"/>
          </a:ln>
        </p:spPr>
      </p:sp>
      <p:sp>
        <p:nvSpPr>
          <p:cNvPr id="11" name="Text 9"/>
          <p:cNvSpPr/>
          <p:nvPr/>
        </p:nvSpPr>
        <p:spPr>
          <a:xfrm>
            <a:off x="502920" y="777240"/>
            <a:ext cx="8229600" cy="530352"/>
          </a:xfrm>
          <a:prstGeom prst="rect">
            <a:avLst/>
          </a:prstGeom>
          <a:noFill/>
          <a:ln/>
        </p:spPr>
        <p:txBody>
          <a:bodyPr wrap="square" rtlCol="0" anchor="ctr"/>
          <a:lstStyle/>
          <a:p>
            <a:pPr algn="l" indent="0" marL="0">
              <a:buNone/>
            </a:pPr>
            <a:r>
              <a:rPr lang="en-US" sz="1300" b="1" dirty="0">
                <a:solidFill>
                  <a:srgbClr val="92400E"/>
                </a:solidFill>
                <a:latin typeface="Calibri" pitchFamily="34" charset="0"/>
                <a:ea typeface="Calibri" pitchFamily="34" charset="-122"/>
                <a:cs typeface="Calibri" pitchFamily="34" charset="-120"/>
              </a:rPr>
              <a:t>📢  Teacher reads the passage aloud. Students write it in their books.</a:t>
            </a:r>
            <a:endParaRPr lang="en-US" sz="1300" dirty="0"/>
          </a:p>
        </p:txBody>
      </p:sp>
      <p:sp>
        <p:nvSpPr>
          <p:cNvPr id="12" name="Shape 10"/>
          <p:cNvSpPr/>
          <p:nvPr/>
        </p:nvSpPr>
        <p:spPr>
          <a:xfrm>
            <a:off x="365760" y="1600200"/>
            <a:ext cx="8412480" cy="0"/>
          </a:xfrm>
          <a:prstGeom prst="line">
            <a:avLst/>
          </a:prstGeom>
          <a:noFill/>
          <a:ln w="19050">
            <a:solidFill>
              <a:srgbClr val="E2E8F0"/>
            </a:solidFill>
            <a:prstDash val="solid"/>
          </a:ln>
        </p:spPr>
      </p:sp>
      <p:sp>
        <p:nvSpPr>
          <p:cNvPr id="13" name="Shape 11"/>
          <p:cNvSpPr/>
          <p:nvPr/>
        </p:nvSpPr>
        <p:spPr>
          <a:xfrm>
            <a:off x="365760" y="2194560"/>
            <a:ext cx="8412480" cy="0"/>
          </a:xfrm>
          <a:prstGeom prst="line">
            <a:avLst/>
          </a:prstGeom>
          <a:noFill/>
          <a:ln w="19050">
            <a:solidFill>
              <a:srgbClr val="E2E8F0"/>
            </a:solidFill>
            <a:prstDash val="solid"/>
          </a:ln>
        </p:spPr>
      </p:sp>
      <p:sp>
        <p:nvSpPr>
          <p:cNvPr id="14" name="Shape 12"/>
          <p:cNvSpPr/>
          <p:nvPr/>
        </p:nvSpPr>
        <p:spPr>
          <a:xfrm>
            <a:off x="365760" y="2788920"/>
            <a:ext cx="8412480" cy="0"/>
          </a:xfrm>
          <a:prstGeom prst="line">
            <a:avLst/>
          </a:prstGeom>
          <a:noFill/>
          <a:ln w="19050">
            <a:solidFill>
              <a:srgbClr val="E2E8F0"/>
            </a:solidFill>
            <a:prstDash val="solid"/>
          </a:ln>
        </p:spPr>
      </p:sp>
      <p:sp>
        <p:nvSpPr>
          <p:cNvPr id="15" name="Text 13"/>
          <p:cNvSpPr/>
          <p:nvPr/>
        </p:nvSpPr>
        <p:spPr>
          <a:xfrm>
            <a:off x="365760" y="3383280"/>
            <a:ext cx="8412480" cy="347472"/>
          </a:xfrm>
          <a:prstGeom prst="rect">
            <a:avLst/>
          </a:prstGeom>
          <a:noFill/>
          <a:ln/>
        </p:spPr>
        <p:txBody>
          <a:bodyPr wrap="square"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Write your passage here ↑</a:t>
            </a:r>
            <a:endParaRPr lang="en-US" sz="1100" dirty="0"/>
          </a:p>
        </p:txBody>
      </p:sp>
      <p:sp>
        <p:nvSpPr>
          <p:cNvPr id="16" name="Shape 14"/>
          <p:cNvSpPr/>
          <p:nvPr/>
        </p:nvSpPr>
        <p:spPr>
          <a:xfrm>
            <a:off x="1828800" y="3822192"/>
            <a:ext cx="2560320" cy="658368"/>
          </a:xfrm>
          <a:prstGeom prst="rect">
            <a:avLst>
              <a:gd name="adj" fmla="val 13889"/>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1828800" y="3822192"/>
            <a:ext cx="2560320" cy="658368"/>
          </a:xfrm>
          <a:prstGeom prst="rect">
            <a:avLst/>
          </a:prstGeom>
          <a:noFill/>
          <a:ln/>
        </p:spPr>
        <p:txBody>
          <a:bodyPr wrap="square" rtlCol="0" anchor="ctr"/>
          <a:lstStyle/>
          <a:p>
            <a:pPr algn="ctr" indent="0" marL="0">
              <a:buNone/>
            </a:pPr>
            <a:r>
              <a:rPr lang="en-US" sz="2800" b="1" dirty="0">
                <a:solidFill>
                  <a:srgbClr val="4338CA"/>
                </a:solidFill>
                <a:latin typeface="Trebuchet MS" pitchFamily="34" charset="0"/>
                <a:ea typeface="Trebuchet MS" pitchFamily="34" charset="-122"/>
                <a:cs typeface="Trebuchet MS" pitchFamily="34" charset="-120"/>
              </a:rPr>
              <a:t>2</a:t>
            </a:r>
            <a:pPr algn="ctr" indent="0" marL="0">
              <a:buNone/>
            </a:pPr>
            <a:r>
              <a:rPr lang="en-US" sz="1200" dirty="0">
                <a:solidFill>
                  <a:srgbClr val="475569"/>
                </a:solidFill>
                <a:latin typeface="Trebuchet MS" pitchFamily="34" charset="0"/>
                <a:ea typeface="Trebuchet MS" pitchFamily="34" charset="-122"/>
                <a:cs typeface="Trebuchet MS" pitchFamily="34" charset="-120"/>
              </a:rPr>
              <a:t>  focus words</a:t>
            </a:r>
            <a:endParaRPr lang="en-US" sz="2800" dirty="0"/>
          </a:p>
        </p:txBody>
      </p:sp>
      <p:sp>
        <p:nvSpPr>
          <p:cNvPr id="18" name="Shape 16"/>
          <p:cNvSpPr/>
          <p:nvPr/>
        </p:nvSpPr>
        <p:spPr>
          <a:xfrm>
            <a:off x="4754880" y="3822192"/>
            <a:ext cx="2560320" cy="658368"/>
          </a:xfrm>
          <a:prstGeom prst="rect">
            <a:avLst>
              <a:gd name="adj" fmla="val 13889"/>
            </a:avLst>
          </a:prstGeom>
          <a:solidFill>
            <a:srgbClr val="FEF3C7"/>
          </a:solidFill>
          <a:ln w="12700">
            <a:solidFill>
              <a:srgbClr val="D97706"/>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4754880" y="3822192"/>
            <a:ext cx="2560320" cy="658368"/>
          </a:xfrm>
          <a:prstGeom prst="rect">
            <a:avLst/>
          </a:prstGeom>
          <a:noFill/>
          <a:ln/>
        </p:spPr>
        <p:txBody>
          <a:bodyPr wrap="square" rtlCol="0" anchor="ctr"/>
          <a:lstStyle/>
          <a:p>
            <a:pPr algn="ctr" indent="0" marL="0">
              <a:buNone/>
            </a:pPr>
            <a:r>
              <a:rPr lang="en-US" sz="2800" b="1" dirty="0">
                <a:solidFill>
                  <a:srgbClr val="92400E"/>
                </a:solidFill>
                <a:latin typeface="Trebuchet MS" pitchFamily="34" charset="0"/>
                <a:ea typeface="Trebuchet MS" pitchFamily="34" charset="-122"/>
                <a:cs typeface="Trebuchet MS" pitchFamily="34" charset="-120"/>
              </a:rPr>
              <a:t>2</a:t>
            </a:r>
            <a:pPr algn="ctr" indent="0" marL="0">
              <a:buNone/>
            </a:pPr>
            <a:r>
              <a:rPr lang="en-US" sz="1200" dirty="0">
                <a:solidFill>
                  <a:srgbClr val="475569"/>
                </a:solidFill>
                <a:latin typeface="Trebuchet MS" pitchFamily="34" charset="0"/>
                <a:ea typeface="Trebuchet MS" pitchFamily="34" charset="-122"/>
                <a:cs typeface="Trebuchet MS" pitchFamily="34" charset="-120"/>
              </a:rPr>
              <a:t>  punctuation marks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Dictation — Reveal &amp; Underline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Check your writing. Underline the focus words.</a:t>
            </a:r>
            <a:endParaRPr lang="en-US" sz="1300" dirty="0"/>
          </a:p>
        </p:txBody>
      </p:sp>
      <p:sp>
        <p:nvSpPr>
          <p:cNvPr id="11" name="Shape 9"/>
          <p:cNvSpPr/>
          <p:nvPr/>
        </p:nvSpPr>
        <p:spPr>
          <a:xfrm>
            <a:off x="365760" y="1188720"/>
            <a:ext cx="8412480" cy="1554480"/>
          </a:xfrm>
          <a:prstGeom prst="rect">
            <a:avLst>
              <a:gd name="adj" fmla="val 7059"/>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548640" y="1261872"/>
            <a:ext cx="8046720" cy="1408176"/>
          </a:xfrm>
          <a:prstGeom prst="rect">
            <a:avLst/>
          </a:prstGeom>
          <a:noFill/>
          <a:ln/>
        </p:spPr>
        <p:txBody>
          <a:bodyPr wrap="square" rtlCol="0" anchor="ctr">
            <a:normAutofit/>
          </a:bodyPr>
          <a:lstStyle/>
          <a:p>
            <a:pPr algn="l" indent="0" marL="0">
              <a:buNone/>
            </a:pPr>
            <a:r>
              <a:rPr lang="en-US" sz="1800" dirty="0">
                <a:solidFill>
                  <a:srgbClr val="0F172A"/>
                </a:solidFill>
                <a:latin typeface="Calibri" pitchFamily="34" charset="0"/>
                <a:ea typeface="Calibri" pitchFamily="34" charset="-122"/>
                <a:cs typeface="Calibri" pitchFamily="34" charset="-120"/>
              </a:rPr>
              <a:t>The doctor let me listen through her </a:t>
            </a:r>
            <a:pPr algn="l" indent="0" marL="0">
              <a:buNone/>
            </a:pPr>
            <a:r>
              <a:rPr lang="en-US" sz="1800" b="1" dirty="0">
                <a:solidFill>
                  <a:srgbClr val="0D9488"/>
                </a:solidFill>
                <a:highlight>
                  <a:srgbClr val="CCFBF1"/>
                </a:highlight>
                <a:latin typeface="Calibri" pitchFamily="34" charset="0"/>
                <a:ea typeface="Calibri" pitchFamily="34" charset="-122"/>
                <a:cs typeface="Calibri" pitchFamily="34" charset="-120"/>
              </a:rPr>
              <a:t>stethoscope</a:t>
            </a:r>
            <a:pPr algn="l" indent="0" marL="0">
              <a:buNone/>
            </a:pPr>
            <a:r>
              <a:rPr lang="en-US" sz="1800" dirty="0">
                <a:solidFill>
                  <a:srgbClr val="0F172A"/>
                </a:solidFill>
                <a:latin typeface="Calibri" pitchFamily="34" charset="0"/>
                <a:ea typeface="Calibri" pitchFamily="34" charset="-122"/>
                <a:cs typeface="Calibri" pitchFamily="34" charset="-120"/>
              </a:rPr>
              <a:t>, then gave me a </a:t>
            </a:r>
            <a:pPr algn="l" indent="0" marL="0">
              <a:buNone/>
            </a:pPr>
            <a:r>
              <a:rPr lang="en-US" sz="1800" b="1" dirty="0">
                <a:solidFill>
                  <a:srgbClr val="0D9488"/>
                </a:solidFill>
                <a:highlight>
                  <a:srgbClr val="CCFBF1"/>
                </a:highlight>
                <a:latin typeface="Calibri" pitchFamily="34" charset="0"/>
                <a:ea typeface="Calibri" pitchFamily="34" charset="-122"/>
                <a:cs typeface="Calibri" pitchFamily="34" charset="-120"/>
              </a:rPr>
              <a:t>kaleidoscope</a:t>
            </a:r>
            <a:pPr algn="l" indent="0" marL="0">
              <a:buNone/>
            </a:pPr>
            <a:r>
              <a:rPr lang="en-US" sz="1800" dirty="0">
                <a:solidFill>
                  <a:srgbClr val="0F172A"/>
                </a:solidFill>
                <a:latin typeface="Calibri" pitchFamily="34" charset="0"/>
                <a:ea typeface="Calibri" pitchFamily="34" charset="-122"/>
                <a:cs typeface="Calibri" pitchFamily="34" charset="-120"/>
              </a:rPr>
              <a:t> to play with in the waiting room.</a:t>
            </a:r>
            <a:endParaRPr lang="en-US" sz="1800" dirty="0"/>
          </a:p>
        </p:txBody>
      </p:sp>
      <p:sp>
        <p:nvSpPr>
          <p:cNvPr id="13" name="Shape 11"/>
          <p:cNvSpPr/>
          <p:nvPr/>
        </p:nvSpPr>
        <p:spPr>
          <a:xfrm>
            <a:off x="365760" y="2852928"/>
            <a:ext cx="8412480" cy="475488"/>
          </a:xfrm>
          <a:prstGeom prst="rect">
            <a:avLst>
              <a:gd name="adj" fmla="val 15385"/>
            </a:avLst>
          </a:prstGeom>
          <a:solidFill>
            <a:srgbClr val="CCFBF1"/>
          </a:solidFill>
          <a:ln w="12700">
            <a:solidFill>
              <a:srgbClr val="0D9488"/>
            </a:solidFill>
            <a:prstDash val="solid"/>
          </a:ln>
        </p:spPr>
      </p:sp>
      <p:sp>
        <p:nvSpPr>
          <p:cNvPr id="14" name="Text 12"/>
          <p:cNvSpPr/>
          <p:nvPr/>
        </p:nvSpPr>
        <p:spPr>
          <a:xfrm>
            <a:off x="502920" y="285292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Now write each focus word below — leave room for your breakdown.</a:t>
            </a:r>
            <a:endParaRPr lang="en-US" sz="1200" dirty="0"/>
          </a:p>
        </p:txBody>
      </p:sp>
      <p:sp>
        <p:nvSpPr>
          <p:cNvPr id="15" name="Shape 13"/>
          <p:cNvSpPr/>
          <p:nvPr/>
        </p:nvSpPr>
        <p:spPr>
          <a:xfrm>
            <a:off x="1874520" y="3456432"/>
            <a:ext cx="2560320" cy="1005840"/>
          </a:xfrm>
          <a:prstGeom prst="rect">
            <a:avLst>
              <a:gd name="adj" fmla="val 7273"/>
            </a:avLst>
          </a:prstGeom>
          <a:solidFill>
            <a:srgbClr val="F8FAFC"/>
          </a:solidFill>
          <a:ln w="12700">
            <a:solidFill>
              <a:srgbClr val="E2E8F0"/>
            </a:solidFill>
            <a:prstDash val="solid"/>
          </a:ln>
        </p:spPr>
      </p:sp>
      <p:sp>
        <p:nvSpPr>
          <p:cNvPr id="16" name="Shape 14"/>
          <p:cNvSpPr/>
          <p:nvPr/>
        </p:nvSpPr>
        <p:spPr>
          <a:xfrm>
            <a:off x="1874520" y="3977640"/>
            <a:ext cx="2560320" cy="0"/>
          </a:xfrm>
          <a:prstGeom prst="line">
            <a:avLst/>
          </a:prstGeom>
          <a:noFill/>
          <a:ln w="12700">
            <a:solidFill>
              <a:srgbClr val="E2E8F0"/>
            </a:solidFill>
            <a:prstDash val="dash"/>
          </a:ln>
        </p:spPr>
      </p:sp>
      <p:sp>
        <p:nvSpPr>
          <p:cNvPr id="17" name="Text 15"/>
          <p:cNvSpPr/>
          <p:nvPr/>
        </p:nvSpPr>
        <p:spPr>
          <a:xfrm>
            <a:off x="1874520" y="3456432"/>
            <a:ext cx="2560320" cy="502920"/>
          </a:xfrm>
          <a:prstGeom prst="rect">
            <a:avLst/>
          </a:prstGeom>
          <a:noFill/>
          <a:ln/>
        </p:spPr>
        <p:txBody>
          <a:bodyPr wrap="square" lIns="0" tIns="0" rIns="0" bIns="0" rtlCol="0" anchor="ctr">
            <a:normAutofit/>
          </a:bodyP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stethoscope</a:t>
            </a:r>
            <a:endParaRPr lang="en-US" sz="1400" dirty="0"/>
          </a:p>
        </p:txBody>
      </p:sp>
      <p:sp>
        <p:nvSpPr>
          <p:cNvPr id="18" name="Text 16"/>
          <p:cNvSpPr/>
          <p:nvPr/>
        </p:nvSpPr>
        <p:spPr>
          <a:xfrm>
            <a:off x="1874520" y="4005072"/>
            <a:ext cx="2560320" cy="457200"/>
          </a:xfrm>
          <a:prstGeom prst="rect">
            <a:avLst/>
          </a:prstGeom>
          <a:noFill/>
          <a:ln/>
        </p:spPr>
        <p:txBody>
          <a:bodyPr wrap="square" lIns="0" tIns="0" rIns="0" bIns="0" rtlCol="0" anchor="ctr"/>
          <a:lstStyle/>
          <a:p>
            <a:pPr algn="ctr" indent="0" marL="0">
              <a:buNone/>
            </a:pPr>
            <a:r>
              <a:rPr lang="en-US" sz="900" i="1" dirty="0">
                <a:solidFill>
                  <a:srgbClr val="475569"/>
                </a:solidFill>
                <a:latin typeface="Calibri" pitchFamily="34" charset="0"/>
                <a:ea typeface="Calibri" pitchFamily="34" charset="-122"/>
                <a:cs typeface="Calibri" pitchFamily="34" charset="-120"/>
              </a:rPr>
              <a:t>write your breakdown below</a:t>
            </a:r>
            <a:endParaRPr lang="en-US" sz="900" dirty="0"/>
          </a:p>
        </p:txBody>
      </p:sp>
      <p:sp>
        <p:nvSpPr>
          <p:cNvPr id="19" name="Shape 17"/>
          <p:cNvSpPr/>
          <p:nvPr/>
        </p:nvSpPr>
        <p:spPr>
          <a:xfrm>
            <a:off x="4709160" y="3456432"/>
            <a:ext cx="2560320" cy="1005840"/>
          </a:xfrm>
          <a:prstGeom prst="rect">
            <a:avLst>
              <a:gd name="adj" fmla="val 7273"/>
            </a:avLst>
          </a:prstGeom>
          <a:solidFill>
            <a:srgbClr val="F8FAFC"/>
          </a:solidFill>
          <a:ln w="12700">
            <a:solidFill>
              <a:srgbClr val="E2E8F0"/>
            </a:solidFill>
            <a:prstDash val="solid"/>
          </a:ln>
        </p:spPr>
      </p:sp>
      <p:sp>
        <p:nvSpPr>
          <p:cNvPr id="20" name="Shape 18"/>
          <p:cNvSpPr/>
          <p:nvPr/>
        </p:nvSpPr>
        <p:spPr>
          <a:xfrm>
            <a:off x="4709160" y="3977640"/>
            <a:ext cx="2560320" cy="0"/>
          </a:xfrm>
          <a:prstGeom prst="line">
            <a:avLst/>
          </a:prstGeom>
          <a:noFill/>
          <a:ln w="12700">
            <a:solidFill>
              <a:srgbClr val="E2E8F0"/>
            </a:solidFill>
            <a:prstDash val="dash"/>
          </a:ln>
        </p:spPr>
      </p:sp>
      <p:sp>
        <p:nvSpPr>
          <p:cNvPr id="21" name="Text 19"/>
          <p:cNvSpPr/>
          <p:nvPr/>
        </p:nvSpPr>
        <p:spPr>
          <a:xfrm>
            <a:off x="4709160" y="3456432"/>
            <a:ext cx="2560320" cy="502920"/>
          </a:xfrm>
          <a:prstGeom prst="rect">
            <a:avLst/>
          </a:prstGeom>
          <a:noFill/>
          <a:ln/>
        </p:spPr>
        <p:txBody>
          <a:bodyPr wrap="square" lIns="0" tIns="0" rIns="0" bIns="0" rtlCol="0" anchor="ctr">
            <a:normAutofit/>
          </a:bodyP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kaleidoscope</a:t>
            </a:r>
            <a:endParaRPr lang="en-US" sz="1400" dirty="0"/>
          </a:p>
        </p:txBody>
      </p:sp>
      <p:sp>
        <p:nvSpPr>
          <p:cNvPr id="22" name="Text 20"/>
          <p:cNvSpPr/>
          <p:nvPr/>
        </p:nvSpPr>
        <p:spPr>
          <a:xfrm>
            <a:off x="4709160" y="4005072"/>
            <a:ext cx="2560320" cy="457200"/>
          </a:xfrm>
          <a:prstGeom prst="rect">
            <a:avLst/>
          </a:prstGeom>
          <a:noFill/>
          <a:ln/>
        </p:spPr>
        <p:txBody>
          <a:bodyPr wrap="square" lIns="0" tIns="0" rIns="0" bIns="0" rtlCol="0" anchor="ctr"/>
          <a:lstStyle/>
          <a:p>
            <a:pPr algn="ctr" indent="0" marL="0">
              <a:buNone/>
            </a:pPr>
            <a:r>
              <a:rPr lang="en-US" sz="900" i="1" dirty="0">
                <a:solidFill>
                  <a:srgbClr val="475569"/>
                </a:solidFill>
                <a:latin typeface="Calibri" pitchFamily="34" charset="0"/>
                <a:ea typeface="Calibri" pitchFamily="34" charset="-122"/>
                <a:cs typeface="Calibri" pitchFamily="34" charset="-120"/>
              </a:rPr>
              <a:t>write your breakdown below</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Attempt (Word 1 of 2)</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FEF3C7"/>
          </a:solidFill>
          <a:ln w="12700">
            <a:solidFill>
              <a:srgbClr val="D97706"/>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dirty="0">
                <a:solidFill>
                  <a:srgbClr val="92400E"/>
                </a:solidFill>
                <a:latin typeface="Calibri" pitchFamily="34" charset="0"/>
                <a:ea typeface="Calibri" pitchFamily="34" charset="-122"/>
                <a:cs typeface="Calibri" pitchFamily="34" charset="-120"/>
              </a:rPr>
              <a:t>Write the morpheme breakdown, syllables, and phonemes for this word. Check your work on the next slides.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stethoscope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1874520" y="2240280"/>
            <a:ext cx="6903720" cy="841248"/>
          </a:xfrm>
          <a:prstGeom prst="rect">
            <a:avLst>
              <a:gd name="adj" fmla="val 6522"/>
            </a:avLst>
          </a:prstGeom>
          <a:solidFill>
            <a:srgbClr val="F8FAFC"/>
          </a:solidFill>
          <a:ln w="12700">
            <a:solidFill>
              <a:srgbClr val="E2E8F0"/>
            </a:solidFill>
            <a:prstDash val="dash"/>
          </a:ln>
        </p:spPr>
      </p:sp>
      <p:sp>
        <p:nvSpPr>
          <p:cNvPr id="17" name="Text 15"/>
          <p:cNvSpPr/>
          <p:nvPr/>
        </p:nvSpPr>
        <p:spPr>
          <a:xfrm>
            <a:off x="1874520" y="2240280"/>
            <a:ext cx="6903720" cy="84124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18" name="Shape 16"/>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19" name="Text 17"/>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0" name="Shape 18"/>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1" name="Text 19"/>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2" name="Shape 20"/>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3" name="Text 21"/>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4" name="Shape 22"/>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5" name="Text 23"/>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Morphemes Revealed</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DDD6FE"/>
          </a:solidFill>
          <a:ln w="12700">
            <a:solidFill>
              <a:srgbClr val="7C3AED"/>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4C1D95"/>
                </a:solidFill>
                <a:latin typeface="Calibri" pitchFamily="34" charset="0"/>
                <a:ea typeface="Calibri" pitchFamily="34" charset="-122"/>
                <a:cs typeface="Calibri" pitchFamily="34" charset="-120"/>
              </a:rPr>
              <a:t>✓ Check your morpheme breakdown. Morphemes are the meaningful parts.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stethoscope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stetho</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chest</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317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5" name="Text 23"/>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6" name="Shape 24"/>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7" name="Text 25"/>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8" name="Shape 26"/>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9" name="Text 27"/>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Syllables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CCFBF1"/>
          </a:solidFill>
          <a:ln w="12700">
            <a:solidFill>
              <a:srgbClr val="0D9488"/>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 Now check your syllable split. Syllables are the beats in the word.</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stethoscope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stetho</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chest</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317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2313432" y="3364992"/>
            <a:ext cx="164592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23134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steth</a:t>
            </a:r>
            <a:endParaRPr lang="en-US" sz="1400" dirty="0"/>
          </a:p>
        </p:txBody>
      </p:sp>
      <p:sp>
        <p:nvSpPr>
          <p:cNvPr id="27" name="Text 25"/>
          <p:cNvSpPr/>
          <p:nvPr/>
        </p:nvSpPr>
        <p:spPr>
          <a:xfrm>
            <a:off x="39593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4370832" y="3364992"/>
            <a:ext cx="164592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43708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o</a:t>
            </a:r>
            <a:endParaRPr lang="en-US" sz="1400" dirty="0"/>
          </a:p>
        </p:txBody>
      </p:sp>
      <p:sp>
        <p:nvSpPr>
          <p:cNvPr id="30" name="Text 28"/>
          <p:cNvSpPr/>
          <p:nvPr/>
        </p:nvSpPr>
        <p:spPr>
          <a:xfrm>
            <a:off x="60167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6428232" y="3364992"/>
            <a:ext cx="164592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64282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scope</a:t>
            </a:r>
            <a:endParaRPr lang="en-US" sz="1400" dirty="0"/>
          </a:p>
        </p:txBody>
      </p:sp>
      <p:sp>
        <p:nvSpPr>
          <p:cNvPr id="33" name="Shape 31"/>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4" name="Text 32"/>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5" name="Shape 33"/>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36" name="Text 34"/>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Phonemes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FCE7F3"/>
          </a:solidFill>
          <a:ln w="12700">
            <a:solidFill>
              <a:srgbClr val="DB2777"/>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9D174D"/>
                </a:solidFill>
                <a:latin typeface="Calibri" pitchFamily="34" charset="0"/>
                <a:ea typeface="Calibri" pitchFamily="34" charset="-122"/>
                <a:cs typeface="Calibri" pitchFamily="34" charset="-120"/>
              </a:rPr>
              <a:t>✓ Now check your phonemes. Phonemes are the individual sounds.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stethoscope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stetho</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chest</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317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2313432" y="3364992"/>
            <a:ext cx="164592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23134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steth</a:t>
            </a:r>
            <a:endParaRPr lang="en-US" sz="1400" dirty="0"/>
          </a:p>
        </p:txBody>
      </p:sp>
      <p:sp>
        <p:nvSpPr>
          <p:cNvPr id="27" name="Text 25"/>
          <p:cNvSpPr/>
          <p:nvPr/>
        </p:nvSpPr>
        <p:spPr>
          <a:xfrm>
            <a:off x="39593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4370832" y="3364992"/>
            <a:ext cx="164592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43708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o</a:t>
            </a:r>
            <a:endParaRPr lang="en-US" sz="1400" dirty="0"/>
          </a:p>
        </p:txBody>
      </p:sp>
      <p:sp>
        <p:nvSpPr>
          <p:cNvPr id="30" name="Text 28"/>
          <p:cNvSpPr/>
          <p:nvPr/>
        </p:nvSpPr>
        <p:spPr>
          <a:xfrm>
            <a:off x="60167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6428232" y="3364992"/>
            <a:ext cx="164592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64282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scope</a:t>
            </a:r>
            <a:endParaRPr lang="en-US" sz="1400" dirty="0"/>
          </a:p>
        </p:txBody>
      </p:sp>
      <p:sp>
        <p:nvSpPr>
          <p:cNvPr id="33" name="Shape 31"/>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4" name="Text 32"/>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5" name="Shape 33"/>
          <p:cNvSpPr/>
          <p:nvPr/>
        </p:nvSpPr>
        <p:spPr>
          <a:xfrm>
            <a:off x="1874520" y="4096512"/>
            <a:ext cx="6903720" cy="731520"/>
          </a:xfrm>
          <a:prstGeom prst="rect">
            <a:avLst>
              <a:gd name="adj" fmla="val 7500"/>
            </a:avLst>
          </a:prstGeom>
          <a:solidFill>
            <a:srgbClr val="FCE7F3"/>
          </a:solidFill>
          <a:ln w="12700">
            <a:solidFill>
              <a:srgbClr val="DB2777"/>
            </a:solidFill>
            <a:prstDash val="solid"/>
          </a:ln>
        </p:spPr>
      </p:sp>
      <p:sp>
        <p:nvSpPr>
          <p:cNvPr id="36" name="Shape 34"/>
          <p:cNvSpPr/>
          <p:nvPr/>
        </p:nvSpPr>
        <p:spPr>
          <a:xfrm>
            <a:off x="1951330" y="4187952"/>
            <a:ext cx="676656" cy="475488"/>
          </a:xfrm>
          <a:prstGeom prst="rect">
            <a:avLst>
              <a:gd name="adj" fmla="val 7692"/>
            </a:avLst>
          </a:prstGeom>
          <a:solidFill>
            <a:srgbClr val="FFFFFF"/>
          </a:solidFill>
          <a:ln w="12700">
            <a:solidFill>
              <a:srgbClr val="DB2777"/>
            </a:solidFill>
            <a:prstDash val="solid"/>
          </a:ln>
        </p:spPr>
      </p:sp>
      <p:sp>
        <p:nvSpPr>
          <p:cNvPr id="37" name="Text 35"/>
          <p:cNvSpPr/>
          <p:nvPr/>
        </p:nvSpPr>
        <p:spPr>
          <a:xfrm>
            <a:off x="1951330" y="4187952"/>
            <a:ext cx="676656"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s</a:t>
            </a:r>
            <a:endParaRPr lang="en-US" sz="1000" dirty="0"/>
          </a:p>
        </p:txBody>
      </p:sp>
      <p:sp>
        <p:nvSpPr>
          <p:cNvPr id="38" name="Shape 36"/>
          <p:cNvSpPr/>
          <p:nvPr/>
        </p:nvSpPr>
        <p:spPr>
          <a:xfrm>
            <a:off x="2677363" y="4187952"/>
            <a:ext cx="676656" cy="475488"/>
          </a:xfrm>
          <a:prstGeom prst="rect">
            <a:avLst>
              <a:gd name="adj" fmla="val 7692"/>
            </a:avLst>
          </a:prstGeom>
          <a:solidFill>
            <a:srgbClr val="FFFFFF"/>
          </a:solidFill>
          <a:ln w="12700">
            <a:solidFill>
              <a:srgbClr val="DB2777"/>
            </a:solidFill>
            <a:prstDash val="solid"/>
          </a:ln>
        </p:spPr>
      </p:sp>
      <p:sp>
        <p:nvSpPr>
          <p:cNvPr id="39" name="Text 37"/>
          <p:cNvSpPr/>
          <p:nvPr/>
        </p:nvSpPr>
        <p:spPr>
          <a:xfrm>
            <a:off x="2677363" y="4187952"/>
            <a:ext cx="676656"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t</a:t>
            </a:r>
            <a:endParaRPr lang="en-US" sz="1000" dirty="0"/>
          </a:p>
        </p:txBody>
      </p:sp>
      <p:sp>
        <p:nvSpPr>
          <p:cNvPr id="40" name="Shape 38"/>
          <p:cNvSpPr/>
          <p:nvPr/>
        </p:nvSpPr>
        <p:spPr>
          <a:xfrm>
            <a:off x="3403397" y="4187952"/>
            <a:ext cx="676656" cy="475488"/>
          </a:xfrm>
          <a:prstGeom prst="rect">
            <a:avLst>
              <a:gd name="adj" fmla="val 7692"/>
            </a:avLst>
          </a:prstGeom>
          <a:solidFill>
            <a:srgbClr val="FFFFFF"/>
          </a:solidFill>
          <a:ln w="12700">
            <a:solidFill>
              <a:srgbClr val="DB2777"/>
            </a:solidFill>
            <a:prstDash val="solid"/>
          </a:ln>
        </p:spPr>
      </p:sp>
      <p:sp>
        <p:nvSpPr>
          <p:cNvPr id="41" name="Text 39"/>
          <p:cNvSpPr/>
          <p:nvPr/>
        </p:nvSpPr>
        <p:spPr>
          <a:xfrm>
            <a:off x="3403397" y="4187952"/>
            <a:ext cx="676656"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e</a:t>
            </a:r>
            <a:endParaRPr lang="en-US" sz="1000" dirty="0"/>
          </a:p>
        </p:txBody>
      </p:sp>
      <p:sp>
        <p:nvSpPr>
          <p:cNvPr id="42" name="Shape 40"/>
          <p:cNvSpPr/>
          <p:nvPr/>
        </p:nvSpPr>
        <p:spPr>
          <a:xfrm>
            <a:off x="4129430" y="4187952"/>
            <a:ext cx="676656" cy="475488"/>
          </a:xfrm>
          <a:prstGeom prst="rect">
            <a:avLst>
              <a:gd name="adj" fmla="val 7692"/>
            </a:avLst>
          </a:prstGeom>
          <a:solidFill>
            <a:srgbClr val="FFFFFF"/>
          </a:solidFill>
          <a:ln w="12700">
            <a:solidFill>
              <a:srgbClr val="DB2777"/>
            </a:solidFill>
            <a:prstDash val="solid"/>
          </a:ln>
        </p:spPr>
      </p:sp>
      <p:sp>
        <p:nvSpPr>
          <p:cNvPr id="43" name="Text 41"/>
          <p:cNvSpPr/>
          <p:nvPr/>
        </p:nvSpPr>
        <p:spPr>
          <a:xfrm>
            <a:off x="4129430" y="4187952"/>
            <a:ext cx="676656"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th</a:t>
            </a:r>
            <a:endParaRPr lang="en-US" sz="1000" dirty="0"/>
          </a:p>
        </p:txBody>
      </p:sp>
      <p:sp>
        <p:nvSpPr>
          <p:cNvPr id="44" name="Shape 42"/>
          <p:cNvSpPr/>
          <p:nvPr/>
        </p:nvSpPr>
        <p:spPr>
          <a:xfrm>
            <a:off x="4855464" y="4187952"/>
            <a:ext cx="676656" cy="475488"/>
          </a:xfrm>
          <a:prstGeom prst="rect">
            <a:avLst>
              <a:gd name="adj" fmla="val 7692"/>
            </a:avLst>
          </a:prstGeom>
          <a:solidFill>
            <a:srgbClr val="FFFFFF"/>
          </a:solidFill>
          <a:ln w="12700">
            <a:solidFill>
              <a:srgbClr val="DB2777"/>
            </a:solidFill>
            <a:prstDash val="solid"/>
          </a:ln>
        </p:spPr>
      </p:sp>
      <p:sp>
        <p:nvSpPr>
          <p:cNvPr id="45" name="Text 43"/>
          <p:cNvSpPr/>
          <p:nvPr/>
        </p:nvSpPr>
        <p:spPr>
          <a:xfrm>
            <a:off x="4855464" y="4187952"/>
            <a:ext cx="676656"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o</a:t>
            </a:r>
            <a:endParaRPr lang="en-US" sz="1000" dirty="0"/>
          </a:p>
        </p:txBody>
      </p:sp>
      <p:sp>
        <p:nvSpPr>
          <p:cNvPr id="46" name="Shape 44"/>
          <p:cNvSpPr/>
          <p:nvPr/>
        </p:nvSpPr>
        <p:spPr>
          <a:xfrm>
            <a:off x="5581498" y="4187952"/>
            <a:ext cx="676656" cy="475488"/>
          </a:xfrm>
          <a:prstGeom prst="rect">
            <a:avLst>
              <a:gd name="adj" fmla="val 7692"/>
            </a:avLst>
          </a:prstGeom>
          <a:solidFill>
            <a:srgbClr val="FFFFFF"/>
          </a:solidFill>
          <a:ln w="12700">
            <a:solidFill>
              <a:srgbClr val="DB2777"/>
            </a:solidFill>
            <a:prstDash val="solid"/>
          </a:ln>
        </p:spPr>
      </p:sp>
      <p:sp>
        <p:nvSpPr>
          <p:cNvPr id="47" name="Text 45"/>
          <p:cNvSpPr/>
          <p:nvPr/>
        </p:nvSpPr>
        <p:spPr>
          <a:xfrm>
            <a:off x="5581498" y="4187952"/>
            <a:ext cx="676656"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s</a:t>
            </a:r>
            <a:endParaRPr lang="en-US" sz="1000" dirty="0"/>
          </a:p>
        </p:txBody>
      </p:sp>
      <p:sp>
        <p:nvSpPr>
          <p:cNvPr id="48" name="Shape 46"/>
          <p:cNvSpPr/>
          <p:nvPr/>
        </p:nvSpPr>
        <p:spPr>
          <a:xfrm>
            <a:off x="6307531" y="4187952"/>
            <a:ext cx="676656" cy="475488"/>
          </a:xfrm>
          <a:prstGeom prst="rect">
            <a:avLst>
              <a:gd name="adj" fmla="val 7692"/>
            </a:avLst>
          </a:prstGeom>
          <a:solidFill>
            <a:srgbClr val="FFFFFF"/>
          </a:solidFill>
          <a:ln w="12700">
            <a:solidFill>
              <a:srgbClr val="DB2777"/>
            </a:solidFill>
            <a:prstDash val="solid"/>
          </a:ln>
        </p:spPr>
      </p:sp>
      <p:sp>
        <p:nvSpPr>
          <p:cNvPr id="49" name="Text 47"/>
          <p:cNvSpPr/>
          <p:nvPr/>
        </p:nvSpPr>
        <p:spPr>
          <a:xfrm>
            <a:off x="6307531" y="4187952"/>
            <a:ext cx="676656"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c</a:t>
            </a:r>
            <a:endParaRPr lang="en-US" sz="1000" dirty="0"/>
          </a:p>
        </p:txBody>
      </p:sp>
      <p:sp>
        <p:nvSpPr>
          <p:cNvPr id="50" name="Shape 48"/>
          <p:cNvSpPr/>
          <p:nvPr/>
        </p:nvSpPr>
        <p:spPr>
          <a:xfrm>
            <a:off x="7033565" y="4187952"/>
            <a:ext cx="676656" cy="475488"/>
          </a:xfrm>
          <a:prstGeom prst="rect">
            <a:avLst>
              <a:gd name="adj" fmla="val 7692"/>
            </a:avLst>
          </a:prstGeom>
          <a:solidFill>
            <a:srgbClr val="FFFFFF"/>
          </a:solidFill>
          <a:ln w="12700">
            <a:solidFill>
              <a:srgbClr val="DB2777"/>
            </a:solidFill>
            <a:prstDash val="solid"/>
          </a:ln>
        </p:spPr>
      </p:sp>
      <p:sp>
        <p:nvSpPr>
          <p:cNvPr id="51" name="Text 49"/>
          <p:cNvSpPr/>
          <p:nvPr/>
        </p:nvSpPr>
        <p:spPr>
          <a:xfrm>
            <a:off x="7033565" y="4187952"/>
            <a:ext cx="676656"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o_e</a:t>
            </a:r>
            <a:endParaRPr lang="en-US" sz="1000" dirty="0"/>
          </a:p>
        </p:txBody>
      </p:sp>
      <p:sp>
        <p:nvSpPr>
          <p:cNvPr id="52" name="Shape 50"/>
          <p:cNvSpPr/>
          <p:nvPr/>
        </p:nvSpPr>
        <p:spPr>
          <a:xfrm>
            <a:off x="7759598" y="4187952"/>
            <a:ext cx="676656" cy="475488"/>
          </a:xfrm>
          <a:prstGeom prst="rect">
            <a:avLst>
              <a:gd name="adj" fmla="val 7692"/>
            </a:avLst>
          </a:prstGeom>
          <a:solidFill>
            <a:srgbClr val="FFFFFF"/>
          </a:solidFill>
          <a:ln w="12700">
            <a:solidFill>
              <a:srgbClr val="DB2777"/>
            </a:solidFill>
            <a:prstDash val="solid"/>
          </a:ln>
        </p:spPr>
      </p:sp>
      <p:sp>
        <p:nvSpPr>
          <p:cNvPr id="53" name="Text 51"/>
          <p:cNvSpPr/>
          <p:nvPr/>
        </p:nvSpPr>
        <p:spPr>
          <a:xfrm>
            <a:off x="7759598" y="4187952"/>
            <a:ext cx="676656"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p</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Attempt (Word 2 of 2)</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FEF3C7"/>
          </a:solidFill>
          <a:ln w="12700">
            <a:solidFill>
              <a:srgbClr val="D97706"/>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dirty="0">
                <a:solidFill>
                  <a:srgbClr val="92400E"/>
                </a:solidFill>
                <a:latin typeface="Calibri" pitchFamily="34" charset="0"/>
                <a:ea typeface="Calibri" pitchFamily="34" charset="-122"/>
                <a:cs typeface="Calibri" pitchFamily="34" charset="-120"/>
              </a:rPr>
              <a:t>Write the morpheme breakdown, syllables, and phonemes for this word. Check your work on the next slides.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kaleidoscope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1874520" y="2240280"/>
            <a:ext cx="6903720" cy="841248"/>
          </a:xfrm>
          <a:prstGeom prst="rect">
            <a:avLst>
              <a:gd name="adj" fmla="val 6522"/>
            </a:avLst>
          </a:prstGeom>
          <a:solidFill>
            <a:srgbClr val="F8FAFC"/>
          </a:solidFill>
          <a:ln w="12700">
            <a:solidFill>
              <a:srgbClr val="E2E8F0"/>
            </a:solidFill>
            <a:prstDash val="dash"/>
          </a:ln>
        </p:spPr>
      </p:sp>
      <p:sp>
        <p:nvSpPr>
          <p:cNvPr id="17" name="Text 15"/>
          <p:cNvSpPr/>
          <p:nvPr/>
        </p:nvSpPr>
        <p:spPr>
          <a:xfrm>
            <a:off x="1874520" y="2240280"/>
            <a:ext cx="6903720" cy="84124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18" name="Shape 16"/>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19" name="Text 17"/>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0" name="Shape 18"/>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1" name="Text 19"/>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2" name="Shape 20"/>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3" name="Text 21"/>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4" name="Shape 22"/>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5" name="Text 23"/>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Morphemes Revealed</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DDD6FE"/>
          </a:solidFill>
          <a:ln w="12700">
            <a:solidFill>
              <a:srgbClr val="7C3AED"/>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4C1D95"/>
                </a:solidFill>
                <a:latin typeface="Calibri" pitchFamily="34" charset="0"/>
                <a:ea typeface="Calibri" pitchFamily="34" charset="-122"/>
                <a:cs typeface="Calibri" pitchFamily="34" charset="-120"/>
              </a:rPr>
              <a:t>✓ Check your morpheme breakdown. Morphemes are the meaningful parts.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kaleidoscope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kaleido</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beautiful form</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317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5" name="Text 23"/>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6" name="Shape 24"/>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7" name="Text 25"/>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8" name="Shape 26"/>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9" name="Text 27"/>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Syllables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CCFBF1"/>
          </a:solidFill>
          <a:ln w="12700">
            <a:solidFill>
              <a:srgbClr val="0D9488"/>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 Now check your syllable split. Syllables are the beats in the word.</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kaleidoscope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kaleido</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beautiful form</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317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1975104" y="3364992"/>
            <a:ext cx="155448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1975104"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ka</a:t>
            </a:r>
            <a:endParaRPr lang="en-US" sz="1400" dirty="0"/>
          </a:p>
        </p:txBody>
      </p:sp>
      <p:sp>
        <p:nvSpPr>
          <p:cNvPr id="27" name="Text 25"/>
          <p:cNvSpPr/>
          <p:nvPr/>
        </p:nvSpPr>
        <p:spPr>
          <a:xfrm>
            <a:off x="3529584"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3602736" y="3364992"/>
            <a:ext cx="155448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3602736"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lei</a:t>
            </a:r>
            <a:endParaRPr lang="en-US" sz="1400" dirty="0"/>
          </a:p>
        </p:txBody>
      </p:sp>
      <p:sp>
        <p:nvSpPr>
          <p:cNvPr id="30" name="Text 28"/>
          <p:cNvSpPr/>
          <p:nvPr/>
        </p:nvSpPr>
        <p:spPr>
          <a:xfrm>
            <a:off x="5157216"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5230368" y="3364992"/>
            <a:ext cx="155448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5230368"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do</a:t>
            </a:r>
            <a:endParaRPr lang="en-US" sz="1400" dirty="0"/>
          </a:p>
        </p:txBody>
      </p:sp>
      <p:sp>
        <p:nvSpPr>
          <p:cNvPr id="33" name="Text 31"/>
          <p:cNvSpPr/>
          <p:nvPr/>
        </p:nvSpPr>
        <p:spPr>
          <a:xfrm>
            <a:off x="6784848"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4" name="Shape 32"/>
          <p:cNvSpPr/>
          <p:nvPr/>
        </p:nvSpPr>
        <p:spPr>
          <a:xfrm>
            <a:off x="6858000" y="3364992"/>
            <a:ext cx="1554480" cy="475488"/>
          </a:xfrm>
          <a:prstGeom prst="rect">
            <a:avLst>
              <a:gd name="adj" fmla="val 9615"/>
            </a:avLst>
          </a:prstGeom>
          <a:solidFill>
            <a:srgbClr val="FFFFFF"/>
          </a:solidFill>
          <a:ln w="12700">
            <a:solidFill>
              <a:srgbClr val="0D9488"/>
            </a:solidFill>
            <a:prstDash val="solid"/>
          </a:ln>
        </p:spPr>
      </p:sp>
      <p:sp>
        <p:nvSpPr>
          <p:cNvPr id="35" name="Text 33"/>
          <p:cNvSpPr/>
          <p:nvPr/>
        </p:nvSpPr>
        <p:spPr>
          <a:xfrm>
            <a:off x="6858000"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scope</a:t>
            </a:r>
            <a:endParaRPr lang="en-US" sz="1400" dirty="0"/>
          </a:p>
        </p:txBody>
      </p:sp>
      <p:sp>
        <p:nvSpPr>
          <p:cNvPr id="36" name="Shape 34"/>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7" name="Text 35"/>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8" name="Shape 36"/>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39" name="Text 37"/>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Phonemes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FCE7F3"/>
          </a:solidFill>
          <a:ln w="12700">
            <a:solidFill>
              <a:srgbClr val="DB2777"/>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9D174D"/>
                </a:solidFill>
                <a:latin typeface="Calibri" pitchFamily="34" charset="0"/>
                <a:ea typeface="Calibri" pitchFamily="34" charset="-122"/>
                <a:cs typeface="Calibri" pitchFamily="34" charset="-120"/>
              </a:rPr>
              <a:t>✓ Now check your phonemes. Phonemes are the individual sounds.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kaleidoscope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kaleido</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beautiful form</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317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1975104" y="3364992"/>
            <a:ext cx="155448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1975104"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ka</a:t>
            </a:r>
            <a:endParaRPr lang="en-US" sz="1400" dirty="0"/>
          </a:p>
        </p:txBody>
      </p:sp>
      <p:sp>
        <p:nvSpPr>
          <p:cNvPr id="27" name="Text 25"/>
          <p:cNvSpPr/>
          <p:nvPr/>
        </p:nvSpPr>
        <p:spPr>
          <a:xfrm>
            <a:off x="3529584"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3602736" y="3364992"/>
            <a:ext cx="155448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3602736"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lei</a:t>
            </a:r>
            <a:endParaRPr lang="en-US" sz="1400" dirty="0"/>
          </a:p>
        </p:txBody>
      </p:sp>
      <p:sp>
        <p:nvSpPr>
          <p:cNvPr id="30" name="Text 28"/>
          <p:cNvSpPr/>
          <p:nvPr/>
        </p:nvSpPr>
        <p:spPr>
          <a:xfrm>
            <a:off x="5157216"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5230368" y="3364992"/>
            <a:ext cx="155448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5230368"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do</a:t>
            </a:r>
            <a:endParaRPr lang="en-US" sz="1400" dirty="0"/>
          </a:p>
        </p:txBody>
      </p:sp>
      <p:sp>
        <p:nvSpPr>
          <p:cNvPr id="33" name="Text 31"/>
          <p:cNvSpPr/>
          <p:nvPr/>
        </p:nvSpPr>
        <p:spPr>
          <a:xfrm>
            <a:off x="6784848"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4" name="Shape 32"/>
          <p:cNvSpPr/>
          <p:nvPr/>
        </p:nvSpPr>
        <p:spPr>
          <a:xfrm>
            <a:off x="6858000" y="3364992"/>
            <a:ext cx="1554480" cy="475488"/>
          </a:xfrm>
          <a:prstGeom prst="rect">
            <a:avLst>
              <a:gd name="adj" fmla="val 9615"/>
            </a:avLst>
          </a:prstGeom>
          <a:solidFill>
            <a:srgbClr val="FFFFFF"/>
          </a:solidFill>
          <a:ln w="12700">
            <a:solidFill>
              <a:srgbClr val="0D9488"/>
            </a:solidFill>
            <a:prstDash val="solid"/>
          </a:ln>
        </p:spPr>
      </p:sp>
      <p:sp>
        <p:nvSpPr>
          <p:cNvPr id="35" name="Text 33"/>
          <p:cNvSpPr/>
          <p:nvPr/>
        </p:nvSpPr>
        <p:spPr>
          <a:xfrm>
            <a:off x="6858000"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scope</a:t>
            </a:r>
            <a:endParaRPr lang="en-US" sz="1400" dirty="0"/>
          </a:p>
        </p:txBody>
      </p:sp>
      <p:sp>
        <p:nvSpPr>
          <p:cNvPr id="36" name="Shape 34"/>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7" name="Text 35"/>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8" name="Shape 36"/>
          <p:cNvSpPr/>
          <p:nvPr/>
        </p:nvSpPr>
        <p:spPr>
          <a:xfrm>
            <a:off x="1874520" y="4096512"/>
            <a:ext cx="6903720" cy="731520"/>
          </a:xfrm>
          <a:prstGeom prst="rect">
            <a:avLst>
              <a:gd name="adj" fmla="val 7500"/>
            </a:avLst>
          </a:prstGeom>
          <a:solidFill>
            <a:srgbClr val="FCE7F3"/>
          </a:solidFill>
          <a:ln w="12700">
            <a:solidFill>
              <a:srgbClr val="DB2777"/>
            </a:solidFill>
            <a:prstDash val="solid"/>
          </a:ln>
        </p:spPr>
      </p:sp>
      <p:sp>
        <p:nvSpPr>
          <p:cNvPr id="39" name="Shape 37"/>
          <p:cNvSpPr/>
          <p:nvPr/>
        </p:nvSpPr>
        <p:spPr>
          <a:xfrm>
            <a:off x="1951828" y="4187952"/>
            <a:ext cx="603504" cy="475488"/>
          </a:xfrm>
          <a:prstGeom prst="rect">
            <a:avLst>
              <a:gd name="adj" fmla="val 7692"/>
            </a:avLst>
          </a:prstGeom>
          <a:solidFill>
            <a:srgbClr val="FFFFFF"/>
          </a:solidFill>
          <a:ln w="12700">
            <a:solidFill>
              <a:srgbClr val="DB2777"/>
            </a:solidFill>
            <a:prstDash val="solid"/>
          </a:ln>
        </p:spPr>
      </p:sp>
      <p:sp>
        <p:nvSpPr>
          <p:cNvPr id="40" name="Text 38"/>
          <p:cNvSpPr/>
          <p:nvPr/>
        </p:nvSpPr>
        <p:spPr>
          <a:xfrm>
            <a:off x="1951828"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k</a:t>
            </a:r>
            <a:endParaRPr lang="en-US" sz="900" dirty="0"/>
          </a:p>
        </p:txBody>
      </p:sp>
      <p:sp>
        <p:nvSpPr>
          <p:cNvPr id="41" name="Shape 39"/>
          <p:cNvSpPr/>
          <p:nvPr/>
        </p:nvSpPr>
        <p:spPr>
          <a:xfrm>
            <a:off x="2605209" y="4187952"/>
            <a:ext cx="603504" cy="475488"/>
          </a:xfrm>
          <a:prstGeom prst="rect">
            <a:avLst>
              <a:gd name="adj" fmla="val 7692"/>
            </a:avLst>
          </a:prstGeom>
          <a:solidFill>
            <a:srgbClr val="FFFFFF"/>
          </a:solidFill>
          <a:ln w="12700">
            <a:solidFill>
              <a:srgbClr val="DB2777"/>
            </a:solidFill>
            <a:prstDash val="solid"/>
          </a:ln>
        </p:spPr>
      </p:sp>
      <p:sp>
        <p:nvSpPr>
          <p:cNvPr id="42" name="Text 40"/>
          <p:cNvSpPr/>
          <p:nvPr/>
        </p:nvSpPr>
        <p:spPr>
          <a:xfrm>
            <a:off x="2605209"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a</a:t>
            </a:r>
            <a:endParaRPr lang="en-US" sz="900" dirty="0"/>
          </a:p>
        </p:txBody>
      </p:sp>
      <p:sp>
        <p:nvSpPr>
          <p:cNvPr id="43" name="Shape 41"/>
          <p:cNvSpPr/>
          <p:nvPr/>
        </p:nvSpPr>
        <p:spPr>
          <a:xfrm>
            <a:off x="3258589" y="4187952"/>
            <a:ext cx="603504" cy="475488"/>
          </a:xfrm>
          <a:prstGeom prst="rect">
            <a:avLst>
              <a:gd name="adj" fmla="val 7692"/>
            </a:avLst>
          </a:prstGeom>
          <a:solidFill>
            <a:srgbClr val="FFFFFF"/>
          </a:solidFill>
          <a:ln w="12700">
            <a:solidFill>
              <a:srgbClr val="DB2777"/>
            </a:solidFill>
            <a:prstDash val="solid"/>
          </a:ln>
        </p:spPr>
      </p:sp>
      <p:sp>
        <p:nvSpPr>
          <p:cNvPr id="44" name="Text 42"/>
          <p:cNvSpPr/>
          <p:nvPr/>
        </p:nvSpPr>
        <p:spPr>
          <a:xfrm>
            <a:off x="3258589"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l</a:t>
            </a:r>
            <a:endParaRPr lang="en-US" sz="900" dirty="0"/>
          </a:p>
        </p:txBody>
      </p:sp>
      <p:sp>
        <p:nvSpPr>
          <p:cNvPr id="45" name="Shape 43"/>
          <p:cNvSpPr/>
          <p:nvPr/>
        </p:nvSpPr>
        <p:spPr>
          <a:xfrm>
            <a:off x="3911969" y="4187952"/>
            <a:ext cx="603504" cy="475488"/>
          </a:xfrm>
          <a:prstGeom prst="rect">
            <a:avLst>
              <a:gd name="adj" fmla="val 7692"/>
            </a:avLst>
          </a:prstGeom>
          <a:solidFill>
            <a:srgbClr val="FFFFFF"/>
          </a:solidFill>
          <a:ln w="12700">
            <a:solidFill>
              <a:srgbClr val="DB2777"/>
            </a:solidFill>
            <a:prstDash val="solid"/>
          </a:ln>
        </p:spPr>
      </p:sp>
      <p:sp>
        <p:nvSpPr>
          <p:cNvPr id="46" name="Text 44"/>
          <p:cNvSpPr/>
          <p:nvPr/>
        </p:nvSpPr>
        <p:spPr>
          <a:xfrm>
            <a:off x="3911969"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ei</a:t>
            </a:r>
            <a:endParaRPr lang="en-US" sz="900" dirty="0"/>
          </a:p>
        </p:txBody>
      </p:sp>
      <p:sp>
        <p:nvSpPr>
          <p:cNvPr id="47" name="Shape 45"/>
          <p:cNvSpPr/>
          <p:nvPr/>
        </p:nvSpPr>
        <p:spPr>
          <a:xfrm>
            <a:off x="4565350" y="4187952"/>
            <a:ext cx="603504" cy="475488"/>
          </a:xfrm>
          <a:prstGeom prst="rect">
            <a:avLst>
              <a:gd name="adj" fmla="val 7692"/>
            </a:avLst>
          </a:prstGeom>
          <a:solidFill>
            <a:srgbClr val="FFFFFF"/>
          </a:solidFill>
          <a:ln w="12700">
            <a:solidFill>
              <a:srgbClr val="DB2777"/>
            </a:solidFill>
            <a:prstDash val="solid"/>
          </a:ln>
        </p:spPr>
      </p:sp>
      <p:sp>
        <p:nvSpPr>
          <p:cNvPr id="48" name="Text 46"/>
          <p:cNvSpPr/>
          <p:nvPr/>
        </p:nvSpPr>
        <p:spPr>
          <a:xfrm>
            <a:off x="4565350"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d</a:t>
            </a:r>
            <a:endParaRPr lang="en-US" sz="900" dirty="0"/>
          </a:p>
        </p:txBody>
      </p:sp>
      <p:sp>
        <p:nvSpPr>
          <p:cNvPr id="49" name="Shape 47"/>
          <p:cNvSpPr/>
          <p:nvPr/>
        </p:nvSpPr>
        <p:spPr>
          <a:xfrm>
            <a:off x="5218730" y="4187952"/>
            <a:ext cx="603504" cy="475488"/>
          </a:xfrm>
          <a:prstGeom prst="rect">
            <a:avLst>
              <a:gd name="adj" fmla="val 7692"/>
            </a:avLst>
          </a:prstGeom>
          <a:solidFill>
            <a:srgbClr val="FFFFFF"/>
          </a:solidFill>
          <a:ln w="12700">
            <a:solidFill>
              <a:srgbClr val="DB2777"/>
            </a:solidFill>
            <a:prstDash val="solid"/>
          </a:ln>
        </p:spPr>
      </p:sp>
      <p:sp>
        <p:nvSpPr>
          <p:cNvPr id="50" name="Text 48"/>
          <p:cNvSpPr/>
          <p:nvPr/>
        </p:nvSpPr>
        <p:spPr>
          <a:xfrm>
            <a:off x="5218730"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o</a:t>
            </a:r>
            <a:endParaRPr lang="en-US" sz="900" dirty="0"/>
          </a:p>
        </p:txBody>
      </p:sp>
      <p:sp>
        <p:nvSpPr>
          <p:cNvPr id="51" name="Shape 49"/>
          <p:cNvSpPr/>
          <p:nvPr/>
        </p:nvSpPr>
        <p:spPr>
          <a:xfrm>
            <a:off x="5872111" y="4187952"/>
            <a:ext cx="603504" cy="475488"/>
          </a:xfrm>
          <a:prstGeom prst="rect">
            <a:avLst>
              <a:gd name="adj" fmla="val 7692"/>
            </a:avLst>
          </a:prstGeom>
          <a:solidFill>
            <a:srgbClr val="FFFFFF"/>
          </a:solidFill>
          <a:ln w="12700">
            <a:solidFill>
              <a:srgbClr val="DB2777"/>
            </a:solidFill>
            <a:prstDash val="solid"/>
          </a:ln>
        </p:spPr>
      </p:sp>
      <p:sp>
        <p:nvSpPr>
          <p:cNvPr id="52" name="Text 50"/>
          <p:cNvSpPr/>
          <p:nvPr/>
        </p:nvSpPr>
        <p:spPr>
          <a:xfrm>
            <a:off x="5872111"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s</a:t>
            </a:r>
            <a:endParaRPr lang="en-US" sz="900" dirty="0"/>
          </a:p>
        </p:txBody>
      </p:sp>
      <p:sp>
        <p:nvSpPr>
          <p:cNvPr id="53" name="Shape 51"/>
          <p:cNvSpPr/>
          <p:nvPr/>
        </p:nvSpPr>
        <p:spPr>
          <a:xfrm>
            <a:off x="6525491" y="4187952"/>
            <a:ext cx="603504" cy="475488"/>
          </a:xfrm>
          <a:prstGeom prst="rect">
            <a:avLst>
              <a:gd name="adj" fmla="val 7692"/>
            </a:avLst>
          </a:prstGeom>
          <a:solidFill>
            <a:srgbClr val="FFFFFF"/>
          </a:solidFill>
          <a:ln w="12700">
            <a:solidFill>
              <a:srgbClr val="DB2777"/>
            </a:solidFill>
            <a:prstDash val="solid"/>
          </a:ln>
        </p:spPr>
      </p:sp>
      <p:sp>
        <p:nvSpPr>
          <p:cNvPr id="54" name="Text 52"/>
          <p:cNvSpPr/>
          <p:nvPr/>
        </p:nvSpPr>
        <p:spPr>
          <a:xfrm>
            <a:off x="6525491"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c</a:t>
            </a:r>
            <a:endParaRPr lang="en-US" sz="900" dirty="0"/>
          </a:p>
        </p:txBody>
      </p:sp>
      <p:sp>
        <p:nvSpPr>
          <p:cNvPr id="55" name="Shape 53"/>
          <p:cNvSpPr/>
          <p:nvPr/>
        </p:nvSpPr>
        <p:spPr>
          <a:xfrm>
            <a:off x="7178871" y="4187952"/>
            <a:ext cx="603504" cy="475488"/>
          </a:xfrm>
          <a:prstGeom prst="rect">
            <a:avLst>
              <a:gd name="adj" fmla="val 7692"/>
            </a:avLst>
          </a:prstGeom>
          <a:solidFill>
            <a:srgbClr val="FFFFFF"/>
          </a:solidFill>
          <a:ln w="12700">
            <a:solidFill>
              <a:srgbClr val="DB2777"/>
            </a:solidFill>
            <a:prstDash val="solid"/>
          </a:ln>
        </p:spPr>
      </p:sp>
      <p:sp>
        <p:nvSpPr>
          <p:cNvPr id="56" name="Text 54"/>
          <p:cNvSpPr/>
          <p:nvPr/>
        </p:nvSpPr>
        <p:spPr>
          <a:xfrm>
            <a:off x="7178871"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o_e</a:t>
            </a:r>
            <a:endParaRPr lang="en-US" sz="900" dirty="0"/>
          </a:p>
        </p:txBody>
      </p:sp>
      <p:sp>
        <p:nvSpPr>
          <p:cNvPr id="57" name="Shape 55"/>
          <p:cNvSpPr/>
          <p:nvPr/>
        </p:nvSpPr>
        <p:spPr>
          <a:xfrm>
            <a:off x="7832252" y="4187952"/>
            <a:ext cx="603504" cy="475488"/>
          </a:xfrm>
          <a:prstGeom prst="rect">
            <a:avLst>
              <a:gd name="adj" fmla="val 7692"/>
            </a:avLst>
          </a:prstGeom>
          <a:solidFill>
            <a:srgbClr val="FFFFFF"/>
          </a:solidFill>
          <a:ln w="12700">
            <a:solidFill>
              <a:srgbClr val="DB2777"/>
            </a:solidFill>
            <a:prstDash val="solid"/>
          </a:ln>
        </p:spPr>
      </p:sp>
      <p:sp>
        <p:nvSpPr>
          <p:cNvPr id="58" name="Text 56"/>
          <p:cNvSpPr/>
          <p:nvPr/>
        </p:nvSpPr>
        <p:spPr>
          <a:xfrm>
            <a:off x="7832252"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p</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457200" y="1645920"/>
            <a:ext cx="1097280" cy="411480"/>
          </a:xfrm>
          <a:prstGeom prst="rect">
            <a:avLst>
              <a:gd name="adj" fmla="val 17778"/>
            </a:avLst>
          </a:prstGeom>
          <a:solidFill>
            <a:srgbClr val="0D9488"/>
          </a:solidFill>
          <a:ln w="12700">
            <a:solidFill>
              <a:srgbClr val="0D9488"/>
            </a:solidFill>
            <a:prstDash val="solid"/>
          </a:ln>
        </p:spPr>
      </p:sp>
      <p:sp>
        <p:nvSpPr>
          <p:cNvPr id="4" name="Text 2"/>
          <p:cNvSpPr/>
          <p:nvPr/>
        </p:nvSpPr>
        <p:spPr>
          <a:xfrm>
            <a:off x="457200" y="1645920"/>
            <a:ext cx="10972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Day 3</a:t>
            </a:r>
            <a:endParaRPr lang="en-US" sz="1100" dirty="0"/>
          </a:p>
        </p:txBody>
      </p:sp>
      <p:sp>
        <p:nvSpPr>
          <p:cNvPr id="5" name="Text 3"/>
          <p:cNvSpPr/>
          <p:nvPr/>
        </p:nvSpPr>
        <p:spPr>
          <a:xfrm>
            <a:off x="457200" y="2148840"/>
            <a:ext cx="8412480" cy="1280160"/>
          </a:xfrm>
          <a:prstGeom prst="rect">
            <a:avLst/>
          </a:prstGeom>
          <a:noFill/>
          <a:ln/>
        </p:spPr>
        <p:txBody>
          <a:bodyPr wrap="square" lIns="0" tIns="0" rIns="0" bIns="0" rtlCol="0" anchor="t"/>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Dictation &amp;</a:t>
            </a:r>
            <a:endParaRPr lang="en-US" sz="4400" dirty="0"/>
          </a:p>
          <a:p>
            <a:pPr algn="l" indent="0" marL="0">
              <a:buNone/>
            </a:pPr>
            <a:r>
              <a:rPr lang="en-US" sz="4400" b="1" dirty="0">
                <a:solidFill>
                  <a:srgbClr val="FFFFFF"/>
                </a:solidFill>
                <a:latin typeface="Trebuchet MS" pitchFamily="34" charset="0"/>
                <a:ea typeface="Trebuchet MS" pitchFamily="34" charset="-122"/>
                <a:cs typeface="Trebuchet MS" pitchFamily="34" charset="-120"/>
              </a:rPr>
              <a:t>Word Matrix</a:t>
            </a:r>
            <a:endParaRPr lang="en-US" sz="4400" dirty="0"/>
          </a:p>
        </p:txBody>
      </p:sp>
      <p:sp>
        <p:nvSpPr>
          <p:cNvPr id="6" name="Text 4"/>
          <p:cNvSpPr/>
          <p:nvPr/>
        </p:nvSpPr>
        <p:spPr>
          <a:xfrm>
            <a:off x="457200" y="3474720"/>
            <a:ext cx="8229600" cy="548640"/>
          </a:xfrm>
          <a:prstGeom prst="rect">
            <a:avLst/>
          </a:prstGeom>
          <a:noFill/>
          <a:ln/>
        </p:spPr>
        <p:txBody>
          <a:bodyPr wrap="square" lIns="0" tIns="0" rIns="0" bIns="0" rtlCol="0" anchor="t"/>
          <a:lstStyle/>
          <a:p>
            <a:pPr algn="l" indent="0" marL="0">
              <a:buNone/>
            </a:pPr>
            <a:r>
              <a:rPr lang="en-US" sz="1600" dirty="0">
                <a:solidFill>
                  <a:srgbClr val="A5B4FC"/>
                </a:solidFill>
                <a:latin typeface="Calibri" pitchFamily="34" charset="0"/>
                <a:ea typeface="Calibri" pitchFamily="34" charset="-122"/>
                <a:cs typeface="Calibri" pitchFamily="34" charset="-120"/>
              </a:rPr>
              <a:t>Listen → Write → Reveal → Build</a:t>
            </a:r>
            <a:endParaRPr lang="en-US" sz="1600" dirty="0"/>
          </a:p>
        </p:txBody>
      </p:sp>
      <p:sp>
        <p:nvSpPr>
          <p:cNvPr id="7" name="Shape 5"/>
          <p:cNvSpPr/>
          <p:nvPr/>
        </p:nvSpPr>
        <p:spPr>
          <a:xfrm>
            <a:off x="0" y="4754880"/>
            <a:ext cx="9144000" cy="388620"/>
          </a:xfrm>
          <a:prstGeom prst="rect">
            <a:avLst/>
          </a:prstGeom>
          <a:solidFill>
            <a:srgbClr val="0F172A"/>
          </a:solidFill>
          <a:ln w="12700">
            <a:solidFill>
              <a:srgbClr val="0F172A"/>
            </a:solidFill>
            <a:prstDash val="solid"/>
          </a:ln>
        </p:spPr>
      </p:sp>
      <p:sp>
        <p:nvSpPr>
          <p:cNvPr id="8" name="Text 6"/>
          <p:cNvSpPr/>
          <p:nvPr/>
        </p:nvSpPr>
        <p:spPr>
          <a:xfrm>
            <a:off x="0" y="4754880"/>
            <a:ext cx="9144000" cy="3886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Word Labs  •  wordlabs.app</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Dictation — Listen &amp; Write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77240"/>
            <a:ext cx="8412480" cy="530352"/>
          </a:xfrm>
          <a:prstGeom prst="rect">
            <a:avLst>
              <a:gd name="adj" fmla="val 13793"/>
            </a:avLst>
          </a:prstGeom>
          <a:solidFill>
            <a:srgbClr val="FEF3C7"/>
          </a:solidFill>
          <a:ln w="12700">
            <a:solidFill>
              <a:srgbClr val="D97706"/>
            </a:solidFill>
            <a:prstDash val="solid"/>
          </a:ln>
        </p:spPr>
      </p:sp>
      <p:sp>
        <p:nvSpPr>
          <p:cNvPr id="11" name="Text 9"/>
          <p:cNvSpPr/>
          <p:nvPr/>
        </p:nvSpPr>
        <p:spPr>
          <a:xfrm>
            <a:off x="502920" y="777240"/>
            <a:ext cx="8229600" cy="530352"/>
          </a:xfrm>
          <a:prstGeom prst="rect">
            <a:avLst/>
          </a:prstGeom>
          <a:noFill/>
          <a:ln/>
        </p:spPr>
        <p:txBody>
          <a:bodyPr wrap="square" rtlCol="0" anchor="ctr"/>
          <a:lstStyle/>
          <a:p>
            <a:pPr algn="l" indent="0" marL="0">
              <a:buNone/>
            </a:pPr>
            <a:r>
              <a:rPr lang="en-US" sz="1300" b="1" dirty="0">
                <a:solidFill>
                  <a:srgbClr val="92400E"/>
                </a:solidFill>
                <a:latin typeface="Calibri" pitchFamily="34" charset="0"/>
                <a:ea typeface="Calibri" pitchFamily="34" charset="-122"/>
                <a:cs typeface="Calibri" pitchFamily="34" charset="-120"/>
              </a:rPr>
              <a:t>📢  Teacher reads the passage aloud. Students write it in their books.</a:t>
            </a:r>
            <a:endParaRPr lang="en-US" sz="1300" dirty="0"/>
          </a:p>
        </p:txBody>
      </p:sp>
      <p:sp>
        <p:nvSpPr>
          <p:cNvPr id="12" name="Shape 10"/>
          <p:cNvSpPr/>
          <p:nvPr/>
        </p:nvSpPr>
        <p:spPr>
          <a:xfrm>
            <a:off x="365760" y="1600200"/>
            <a:ext cx="8412480" cy="0"/>
          </a:xfrm>
          <a:prstGeom prst="line">
            <a:avLst/>
          </a:prstGeom>
          <a:noFill/>
          <a:ln w="19050">
            <a:solidFill>
              <a:srgbClr val="E2E8F0"/>
            </a:solidFill>
            <a:prstDash val="solid"/>
          </a:ln>
        </p:spPr>
      </p:sp>
      <p:sp>
        <p:nvSpPr>
          <p:cNvPr id="13" name="Shape 11"/>
          <p:cNvSpPr/>
          <p:nvPr/>
        </p:nvSpPr>
        <p:spPr>
          <a:xfrm>
            <a:off x="365760" y="2194560"/>
            <a:ext cx="8412480" cy="0"/>
          </a:xfrm>
          <a:prstGeom prst="line">
            <a:avLst/>
          </a:prstGeom>
          <a:noFill/>
          <a:ln w="19050">
            <a:solidFill>
              <a:srgbClr val="E2E8F0"/>
            </a:solidFill>
            <a:prstDash val="solid"/>
          </a:ln>
        </p:spPr>
      </p:sp>
      <p:sp>
        <p:nvSpPr>
          <p:cNvPr id="14" name="Shape 12"/>
          <p:cNvSpPr/>
          <p:nvPr/>
        </p:nvSpPr>
        <p:spPr>
          <a:xfrm>
            <a:off x="365760" y="2788920"/>
            <a:ext cx="8412480" cy="0"/>
          </a:xfrm>
          <a:prstGeom prst="line">
            <a:avLst/>
          </a:prstGeom>
          <a:noFill/>
          <a:ln w="19050">
            <a:solidFill>
              <a:srgbClr val="E2E8F0"/>
            </a:solidFill>
            <a:prstDash val="solid"/>
          </a:ln>
        </p:spPr>
      </p:sp>
      <p:sp>
        <p:nvSpPr>
          <p:cNvPr id="15" name="Text 13"/>
          <p:cNvSpPr/>
          <p:nvPr/>
        </p:nvSpPr>
        <p:spPr>
          <a:xfrm>
            <a:off x="365760" y="3383280"/>
            <a:ext cx="8412480" cy="347472"/>
          </a:xfrm>
          <a:prstGeom prst="rect">
            <a:avLst/>
          </a:prstGeom>
          <a:noFill/>
          <a:ln/>
        </p:spPr>
        <p:txBody>
          <a:bodyPr wrap="square"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Write your passage here ↑</a:t>
            </a:r>
            <a:endParaRPr lang="en-US" sz="1100" dirty="0"/>
          </a:p>
        </p:txBody>
      </p:sp>
      <p:sp>
        <p:nvSpPr>
          <p:cNvPr id="16" name="Shape 14"/>
          <p:cNvSpPr/>
          <p:nvPr/>
        </p:nvSpPr>
        <p:spPr>
          <a:xfrm>
            <a:off x="1828800" y="3822192"/>
            <a:ext cx="2560320" cy="658368"/>
          </a:xfrm>
          <a:prstGeom prst="rect">
            <a:avLst>
              <a:gd name="adj" fmla="val 13889"/>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1828800" y="3822192"/>
            <a:ext cx="2560320" cy="658368"/>
          </a:xfrm>
          <a:prstGeom prst="rect">
            <a:avLst/>
          </a:prstGeom>
          <a:noFill/>
          <a:ln/>
        </p:spPr>
        <p:txBody>
          <a:bodyPr wrap="square" rtlCol="0" anchor="ctr"/>
          <a:lstStyle/>
          <a:p>
            <a:pPr algn="ctr" indent="0" marL="0">
              <a:buNone/>
            </a:pPr>
            <a:r>
              <a:rPr lang="en-US" sz="2800" b="1" dirty="0">
                <a:solidFill>
                  <a:srgbClr val="4338CA"/>
                </a:solidFill>
                <a:latin typeface="Trebuchet MS" pitchFamily="34" charset="0"/>
                <a:ea typeface="Trebuchet MS" pitchFamily="34" charset="-122"/>
                <a:cs typeface="Trebuchet MS" pitchFamily="34" charset="-120"/>
              </a:rPr>
              <a:t>1</a:t>
            </a:r>
            <a:pPr algn="ctr" indent="0" marL="0">
              <a:buNone/>
            </a:pPr>
            <a:r>
              <a:rPr lang="en-US" sz="1200" dirty="0">
                <a:solidFill>
                  <a:srgbClr val="475569"/>
                </a:solidFill>
                <a:latin typeface="Trebuchet MS" pitchFamily="34" charset="0"/>
                <a:ea typeface="Trebuchet MS" pitchFamily="34" charset="-122"/>
                <a:cs typeface="Trebuchet MS" pitchFamily="34" charset="-120"/>
              </a:rPr>
              <a:t>  focus word</a:t>
            </a:r>
            <a:endParaRPr lang="en-US" sz="2800" dirty="0"/>
          </a:p>
        </p:txBody>
      </p:sp>
      <p:sp>
        <p:nvSpPr>
          <p:cNvPr id="18" name="Shape 16"/>
          <p:cNvSpPr/>
          <p:nvPr/>
        </p:nvSpPr>
        <p:spPr>
          <a:xfrm>
            <a:off x="4754880" y="3822192"/>
            <a:ext cx="2560320" cy="658368"/>
          </a:xfrm>
          <a:prstGeom prst="rect">
            <a:avLst>
              <a:gd name="adj" fmla="val 13889"/>
            </a:avLst>
          </a:prstGeom>
          <a:solidFill>
            <a:srgbClr val="FEF3C7"/>
          </a:solidFill>
          <a:ln w="12700">
            <a:solidFill>
              <a:srgbClr val="D97706"/>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4754880" y="3822192"/>
            <a:ext cx="2560320" cy="658368"/>
          </a:xfrm>
          <a:prstGeom prst="rect">
            <a:avLst/>
          </a:prstGeom>
          <a:noFill/>
          <a:ln/>
        </p:spPr>
        <p:txBody>
          <a:bodyPr wrap="square" rtlCol="0" anchor="ctr"/>
          <a:lstStyle/>
          <a:p>
            <a:pPr algn="ctr" indent="0" marL="0">
              <a:buNone/>
            </a:pPr>
            <a:r>
              <a:rPr lang="en-US" sz="2800" b="1" dirty="0">
                <a:solidFill>
                  <a:srgbClr val="92400E"/>
                </a:solidFill>
                <a:latin typeface="Trebuchet MS" pitchFamily="34" charset="0"/>
                <a:ea typeface="Trebuchet MS" pitchFamily="34" charset="-122"/>
                <a:cs typeface="Trebuchet MS" pitchFamily="34" charset="-120"/>
              </a:rPr>
              <a:t>1</a:t>
            </a:r>
            <a:pPr algn="ctr" indent="0" marL="0">
              <a:buNone/>
            </a:pPr>
            <a:r>
              <a:rPr lang="en-US" sz="1200" dirty="0">
                <a:solidFill>
                  <a:srgbClr val="475569"/>
                </a:solidFill>
                <a:latin typeface="Trebuchet MS" pitchFamily="34" charset="0"/>
                <a:ea typeface="Trebuchet MS" pitchFamily="34" charset="-122"/>
                <a:cs typeface="Trebuchet MS" pitchFamily="34" charset="-120"/>
              </a:rPr>
              <a:t>  punctuation mark</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Dictation — Reveal &amp; Underline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Check your writing. Underline the focus words.</a:t>
            </a:r>
            <a:endParaRPr lang="en-US" sz="1300" dirty="0"/>
          </a:p>
        </p:txBody>
      </p:sp>
      <p:sp>
        <p:nvSpPr>
          <p:cNvPr id="11" name="Shape 9"/>
          <p:cNvSpPr/>
          <p:nvPr/>
        </p:nvSpPr>
        <p:spPr>
          <a:xfrm>
            <a:off x="365760" y="1188720"/>
            <a:ext cx="8412480" cy="1554480"/>
          </a:xfrm>
          <a:prstGeom prst="rect">
            <a:avLst>
              <a:gd name="adj" fmla="val 7059"/>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548640" y="1261872"/>
            <a:ext cx="8046720" cy="1408176"/>
          </a:xfrm>
          <a:prstGeom prst="rect">
            <a:avLst/>
          </a:prstGeom>
          <a:noFill/>
          <a:ln/>
        </p:spPr>
        <p:txBody>
          <a:bodyPr wrap="square" rtlCol="0" anchor="ctr">
            <a:normAutofit/>
          </a:bodyPr>
          <a:lstStyle/>
          <a:p>
            <a:pPr algn="l" indent="0" marL="0">
              <a:buNone/>
            </a:pPr>
            <a:r>
              <a:rPr lang="en-US" sz="1800" dirty="0">
                <a:solidFill>
                  <a:srgbClr val="0F172A"/>
                </a:solidFill>
                <a:latin typeface="Calibri" pitchFamily="34" charset="0"/>
                <a:ea typeface="Calibri" pitchFamily="34" charset="-122"/>
                <a:cs typeface="Calibri" pitchFamily="34" charset="-120"/>
              </a:rPr>
              <a:t>Dad pulled out the </a:t>
            </a:r>
            <a:pPr algn="l" indent="0" marL="0">
              <a:buNone/>
            </a:pPr>
            <a:r>
              <a:rPr lang="en-US" sz="1800" b="1" dirty="0">
                <a:solidFill>
                  <a:srgbClr val="0D9488"/>
                </a:solidFill>
                <a:highlight>
                  <a:srgbClr val="CCFBF1"/>
                </a:highlight>
                <a:latin typeface="Calibri" pitchFamily="34" charset="0"/>
                <a:ea typeface="Calibri" pitchFamily="34" charset="-122"/>
                <a:cs typeface="Calibri" pitchFamily="34" charset="-120"/>
              </a:rPr>
              <a:t>telescopic</a:t>
            </a:r>
            <a:pPr algn="l" indent="0" marL="0">
              <a:buNone/>
            </a:pPr>
            <a:r>
              <a:rPr lang="en-US" sz="1800" dirty="0">
                <a:solidFill>
                  <a:srgbClr val="0F172A"/>
                </a:solidFill>
                <a:latin typeface="Calibri" pitchFamily="34" charset="0"/>
                <a:ea typeface="Calibri" pitchFamily="34" charset="-122"/>
                <a:cs typeface="Calibri" pitchFamily="34" charset="-120"/>
              </a:rPr>
              <a:t> handle on his suitcase and wheeled it to the car.</a:t>
            </a:r>
            <a:endParaRPr lang="en-US" sz="1800" dirty="0"/>
          </a:p>
        </p:txBody>
      </p:sp>
      <p:sp>
        <p:nvSpPr>
          <p:cNvPr id="13" name="Shape 11"/>
          <p:cNvSpPr/>
          <p:nvPr/>
        </p:nvSpPr>
        <p:spPr>
          <a:xfrm>
            <a:off x="365760" y="2852928"/>
            <a:ext cx="8412480" cy="475488"/>
          </a:xfrm>
          <a:prstGeom prst="rect">
            <a:avLst>
              <a:gd name="adj" fmla="val 15385"/>
            </a:avLst>
          </a:prstGeom>
          <a:solidFill>
            <a:srgbClr val="CCFBF1"/>
          </a:solidFill>
          <a:ln w="12700">
            <a:solidFill>
              <a:srgbClr val="0D9488"/>
            </a:solidFill>
            <a:prstDash val="solid"/>
          </a:ln>
        </p:spPr>
      </p:sp>
      <p:sp>
        <p:nvSpPr>
          <p:cNvPr id="14" name="Text 12"/>
          <p:cNvSpPr/>
          <p:nvPr/>
        </p:nvSpPr>
        <p:spPr>
          <a:xfrm>
            <a:off x="502920" y="285292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Now write each focus word below — leave room for your breakdown.</a:t>
            </a:r>
            <a:endParaRPr lang="en-US" sz="1200" dirty="0"/>
          </a:p>
        </p:txBody>
      </p:sp>
      <p:sp>
        <p:nvSpPr>
          <p:cNvPr id="15" name="Shape 13"/>
          <p:cNvSpPr/>
          <p:nvPr/>
        </p:nvSpPr>
        <p:spPr>
          <a:xfrm>
            <a:off x="3291840" y="3456432"/>
            <a:ext cx="2560320" cy="1005840"/>
          </a:xfrm>
          <a:prstGeom prst="rect">
            <a:avLst>
              <a:gd name="adj" fmla="val 7273"/>
            </a:avLst>
          </a:prstGeom>
          <a:solidFill>
            <a:srgbClr val="F8FAFC"/>
          </a:solidFill>
          <a:ln w="12700">
            <a:solidFill>
              <a:srgbClr val="E2E8F0"/>
            </a:solidFill>
            <a:prstDash val="solid"/>
          </a:ln>
        </p:spPr>
      </p:sp>
      <p:sp>
        <p:nvSpPr>
          <p:cNvPr id="16" name="Shape 14"/>
          <p:cNvSpPr/>
          <p:nvPr/>
        </p:nvSpPr>
        <p:spPr>
          <a:xfrm>
            <a:off x="3291840" y="3977640"/>
            <a:ext cx="2560320" cy="0"/>
          </a:xfrm>
          <a:prstGeom prst="line">
            <a:avLst/>
          </a:prstGeom>
          <a:noFill/>
          <a:ln w="12700">
            <a:solidFill>
              <a:srgbClr val="E2E8F0"/>
            </a:solidFill>
            <a:prstDash val="dash"/>
          </a:ln>
        </p:spPr>
      </p:sp>
      <p:sp>
        <p:nvSpPr>
          <p:cNvPr id="17" name="Text 15"/>
          <p:cNvSpPr/>
          <p:nvPr/>
        </p:nvSpPr>
        <p:spPr>
          <a:xfrm>
            <a:off x="3291840" y="3456432"/>
            <a:ext cx="2560320" cy="502920"/>
          </a:xfrm>
          <a:prstGeom prst="rect">
            <a:avLst/>
          </a:prstGeom>
          <a:noFill/>
          <a:ln/>
        </p:spPr>
        <p:txBody>
          <a:bodyPr wrap="square" lIns="0" tIns="0" rIns="0" bIns="0" rtlCol="0" anchor="ctr">
            <a:normAutofit/>
          </a:bodyP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telescopic</a:t>
            </a:r>
            <a:endParaRPr lang="en-US" sz="1400" dirty="0"/>
          </a:p>
        </p:txBody>
      </p:sp>
      <p:sp>
        <p:nvSpPr>
          <p:cNvPr id="18" name="Text 16"/>
          <p:cNvSpPr/>
          <p:nvPr/>
        </p:nvSpPr>
        <p:spPr>
          <a:xfrm>
            <a:off x="3291840" y="4005072"/>
            <a:ext cx="2560320" cy="457200"/>
          </a:xfrm>
          <a:prstGeom prst="rect">
            <a:avLst/>
          </a:prstGeom>
          <a:noFill/>
          <a:ln/>
        </p:spPr>
        <p:txBody>
          <a:bodyPr wrap="square" lIns="0" tIns="0" rIns="0" bIns="0" rtlCol="0" anchor="ctr"/>
          <a:lstStyle/>
          <a:p>
            <a:pPr algn="ctr" indent="0" marL="0">
              <a:buNone/>
            </a:pPr>
            <a:r>
              <a:rPr lang="en-US" sz="900" i="1" dirty="0">
                <a:solidFill>
                  <a:srgbClr val="475569"/>
                </a:solidFill>
                <a:latin typeface="Calibri" pitchFamily="34" charset="0"/>
                <a:ea typeface="Calibri" pitchFamily="34" charset="-122"/>
                <a:cs typeface="Calibri" pitchFamily="34" charset="-120"/>
              </a:rPr>
              <a:t>write your breakdown below</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Attempt (Word 1 of 1)</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FEF3C7"/>
          </a:solidFill>
          <a:ln w="12700">
            <a:solidFill>
              <a:srgbClr val="D97706"/>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dirty="0">
                <a:solidFill>
                  <a:srgbClr val="92400E"/>
                </a:solidFill>
                <a:latin typeface="Calibri" pitchFamily="34" charset="0"/>
                <a:ea typeface="Calibri" pitchFamily="34" charset="-122"/>
                <a:cs typeface="Calibri" pitchFamily="34" charset="-120"/>
              </a:rPr>
              <a:t>Write the morpheme breakdown, syllables, and phonemes for this word. Check your work on the next slides.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telescopic</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1874520" y="2240280"/>
            <a:ext cx="6903720" cy="841248"/>
          </a:xfrm>
          <a:prstGeom prst="rect">
            <a:avLst>
              <a:gd name="adj" fmla="val 6522"/>
            </a:avLst>
          </a:prstGeom>
          <a:solidFill>
            <a:srgbClr val="F8FAFC"/>
          </a:solidFill>
          <a:ln w="12700">
            <a:solidFill>
              <a:srgbClr val="E2E8F0"/>
            </a:solidFill>
            <a:prstDash val="dash"/>
          </a:ln>
        </p:spPr>
      </p:sp>
      <p:sp>
        <p:nvSpPr>
          <p:cNvPr id="17" name="Text 15"/>
          <p:cNvSpPr/>
          <p:nvPr/>
        </p:nvSpPr>
        <p:spPr>
          <a:xfrm>
            <a:off x="1874520" y="2240280"/>
            <a:ext cx="6903720" cy="84124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18" name="Shape 16"/>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19" name="Text 17"/>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0" name="Shape 18"/>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1" name="Text 19"/>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2" name="Shape 20"/>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3" name="Text 21"/>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4" name="Shape 22"/>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5" name="Text 23"/>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Morphemes Revealed</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DDD6FE"/>
          </a:solidFill>
          <a:ln w="12700">
            <a:solidFill>
              <a:srgbClr val="7C3AED"/>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4C1D95"/>
                </a:solidFill>
                <a:latin typeface="Calibri" pitchFamily="34" charset="0"/>
                <a:ea typeface="Calibri" pitchFamily="34" charset="-122"/>
                <a:cs typeface="Calibri" pitchFamily="34" charset="-120"/>
              </a:rPr>
              <a:t>✓ Check your morpheme breakdown. Morphemes are the meaningful parts.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telescopic</a:t>
            </a:r>
            <a:endParaRPr lang="en-US" sz="2800" dirty="0"/>
          </a:p>
        </p:txBody>
      </p:sp>
      <p:sp>
        <p:nvSpPr>
          <p:cNvPr id="14" name="Shape 12"/>
          <p:cNvSpPr/>
          <p:nvPr/>
        </p:nvSpPr>
        <p:spPr>
          <a:xfrm>
            <a:off x="6537960" y="1325880"/>
            <a:ext cx="2240280" cy="731520"/>
          </a:xfrm>
          <a:prstGeom prst="rect">
            <a:avLst>
              <a:gd name="adj" fmla="val 10000"/>
            </a:avLst>
          </a:prstGeom>
          <a:solidFill>
            <a:srgbClr val="FEF3C7"/>
          </a:solidFill>
          <a:ln w="12700">
            <a:solidFill>
              <a:srgbClr val="D97706"/>
            </a:solidFill>
            <a:prstDash val="solid"/>
          </a:ln>
        </p:spPr>
      </p:sp>
      <p:sp>
        <p:nvSpPr>
          <p:cNvPr id="15" name="Text 13"/>
          <p:cNvSpPr/>
          <p:nvPr/>
        </p:nvSpPr>
        <p:spPr>
          <a:xfrm>
            <a:off x="6583680" y="1325880"/>
            <a:ext cx="2148840" cy="731520"/>
          </a:xfrm>
          <a:prstGeom prst="rect">
            <a:avLst/>
          </a:prstGeom>
          <a:noFill/>
          <a:ln/>
        </p:spPr>
        <p:txBody>
          <a:bodyPr wrap="square" lIns="25400" tIns="25400" rIns="25400" bIns="25400" rtlCol="0" anchor="ctr">
            <a:normAutofit/>
          </a:bodyPr>
          <a:lstStyle/>
          <a:p>
            <a:pPr algn="l" indent="0" marL="0">
              <a:buNone/>
            </a:pPr>
            <a:r>
              <a:rPr lang="en-US" sz="950" dirty="0">
                <a:solidFill>
                  <a:srgbClr val="92400E"/>
                </a:solidFill>
                <a:latin typeface="Calibri" pitchFamily="34" charset="0"/>
                <a:ea typeface="Calibri" pitchFamily="34" charset="-122"/>
                <a:cs typeface="Calibri" pitchFamily="34" charset="-120"/>
              </a:rPr>
              <a:t>Spelling: drop the final 'e' before -ic</a:t>
            </a:r>
            <a:endParaRPr lang="en-US" sz="950" dirty="0"/>
          </a:p>
        </p:txBody>
      </p:sp>
      <p:sp>
        <p:nvSpPr>
          <p:cNvPr id="16" name="Shape 14"/>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7" name="Text 15"/>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8" name="Shape 16"/>
          <p:cNvSpPr/>
          <p:nvPr/>
        </p:nvSpPr>
        <p:spPr>
          <a:xfrm>
            <a:off x="2221992" y="2276856"/>
            <a:ext cx="1828800" cy="365760"/>
          </a:xfrm>
          <a:prstGeom prst="rect">
            <a:avLst>
              <a:gd name="adj" fmla="val 20000"/>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22219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20" name="Text 18"/>
          <p:cNvSpPr/>
          <p:nvPr/>
        </p:nvSpPr>
        <p:spPr>
          <a:xfrm>
            <a:off x="22219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21" name="Shape 19"/>
          <p:cNvSpPr/>
          <p:nvPr/>
        </p:nvSpPr>
        <p:spPr>
          <a:xfrm>
            <a:off x="4370832" y="2276856"/>
            <a:ext cx="1828800" cy="365760"/>
          </a:xfrm>
          <a:prstGeom prst="rect">
            <a:avLst>
              <a:gd name="adj" fmla="val 20000"/>
            </a:avLst>
          </a:prstGeom>
          <a:solidFill>
            <a:srgbClr val="CCFBF1"/>
          </a:solidFill>
          <a:ln w="31750">
            <a:solidFill>
              <a:srgbClr val="0D9488"/>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37083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3" name="Text 21"/>
          <p:cNvSpPr/>
          <p:nvPr/>
        </p:nvSpPr>
        <p:spPr>
          <a:xfrm>
            <a:off x="437083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4" name="Shape 22"/>
          <p:cNvSpPr/>
          <p:nvPr/>
        </p:nvSpPr>
        <p:spPr>
          <a:xfrm>
            <a:off x="6519672" y="2276856"/>
            <a:ext cx="1828800" cy="365760"/>
          </a:xfrm>
          <a:prstGeom prst="rect">
            <a:avLst>
              <a:gd name="adj" fmla="val 20000"/>
            </a:avLst>
          </a:prstGeom>
          <a:solidFill>
            <a:srgbClr val="FCE7F3"/>
          </a:solidFill>
          <a:ln w="19050">
            <a:solidFill>
              <a:srgbClr val="DB2777"/>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65196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ic</a:t>
            </a:r>
            <a:endParaRPr lang="en-US" sz="1300" dirty="0"/>
          </a:p>
        </p:txBody>
      </p:sp>
      <p:sp>
        <p:nvSpPr>
          <p:cNvPr id="26" name="Text 24"/>
          <p:cNvSpPr/>
          <p:nvPr/>
        </p:nvSpPr>
        <p:spPr>
          <a:xfrm>
            <a:off x="65196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related to</a:t>
            </a:r>
            <a:endParaRPr lang="en-US" sz="850" dirty="0"/>
          </a:p>
        </p:txBody>
      </p:sp>
      <p:sp>
        <p:nvSpPr>
          <p:cNvPr id="27" name="Shape 25"/>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8" name="Text 26"/>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9" name="Shape 27"/>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30" name="Text 28"/>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31" name="Shape 29"/>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2" name="Text 30"/>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3" name="Shape 31"/>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34" name="Text 32"/>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Syllables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CCFBF1"/>
          </a:solidFill>
          <a:ln w="12700">
            <a:solidFill>
              <a:srgbClr val="0D9488"/>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 Now check your syllable split. Syllables are the beats in the word.</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telescopic</a:t>
            </a:r>
            <a:endParaRPr lang="en-US" sz="2800" dirty="0"/>
          </a:p>
        </p:txBody>
      </p:sp>
      <p:sp>
        <p:nvSpPr>
          <p:cNvPr id="14" name="Shape 12"/>
          <p:cNvSpPr/>
          <p:nvPr/>
        </p:nvSpPr>
        <p:spPr>
          <a:xfrm>
            <a:off x="6537960" y="1325880"/>
            <a:ext cx="2240280" cy="731520"/>
          </a:xfrm>
          <a:prstGeom prst="rect">
            <a:avLst>
              <a:gd name="adj" fmla="val 10000"/>
            </a:avLst>
          </a:prstGeom>
          <a:solidFill>
            <a:srgbClr val="FEF3C7"/>
          </a:solidFill>
          <a:ln w="12700">
            <a:solidFill>
              <a:srgbClr val="D97706"/>
            </a:solidFill>
            <a:prstDash val="solid"/>
          </a:ln>
        </p:spPr>
      </p:sp>
      <p:sp>
        <p:nvSpPr>
          <p:cNvPr id="15" name="Text 13"/>
          <p:cNvSpPr/>
          <p:nvPr/>
        </p:nvSpPr>
        <p:spPr>
          <a:xfrm>
            <a:off x="6583680" y="1325880"/>
            <a:ext cx="2148840" cy="731520"/>
          </a:xfrm>
          <a:prstGeom prst="rect">
            <a:avLst/>
          </a:prstGeom>
          <a:noFill/>
          <a:ln/>
        </p:spPr>
        <p:txBody>
          <a:bodyPr wrap="square" lIns="25400" tIns="25400" rIns="25400" bIns="25400" rtlCol="0" anchor="ctr">
            <a:normAutofit/>
          </a:bodyPr>
          <a:lstStyle/>
          <a:p>
            <a:pPr algn="l" indent="0" marL="0">
              <a:buNone/>
            </a:pPr>
            <a:r>
              <a:rPr lang="en-US" sz="950" dirty="0">
                <a:solidFill>
                  <a:srgbClr val="92400E"/>
                </a:solidFill>
                <a:latin typeface="Calibri" pitchFamily="34" charset="0"/>
                <a:ea typeface="Calibri" pitchFamily="34" charset="-122"/>
                <a:cs typeface="Calibri" pitchFamily="34" charset="-120"/>
              </a:rPr>
              <a:t>Spelling: drop the final 'e' before -ic</a:t>
            </a:r>
            <a:endParaRPr lang="en-US" sz="950" dirty="0"/>
          </a:p>
        </p:txBody>
      </p:sp>
      <p:sp>
        <p:nvSpPr>
          <p:cNvPr id="16" name="Shape 14"/>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7" name="Text 15"/>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8" name="Shape 16"/>
          <p:cNvSpPr/>
          <p:nvPr/>
        </p:nvSpPr>
        <p:spPr>
          <a:xfrm>
            <a:off x="2221992" y="2276856"/>
            <a:ext cx="1828800" cy="365760"/>
          </a:xfrm>
          <a:prstGeom prst="rect">
            <a:avLst>
              <a:gd name="adj" fmla="val 20000"/>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22219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20" name="Text 18"/>
          <p:cNvSpPr/>
          <p:nvPr/>
        </p:nvSpPr>
        <p:spPr>
          <a:xfrm>
            <a:off x="22219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21" name="Shape 19"/>
          <p:cNvSpPr/>
          <p:nvPr/>
        </p:nvSpPr>
        <p:spPr>
          <a:xfrm>
            <a:off x="4370832" y="2276856"/>
            <a:ext cx="1828800" cy="365760"/>
          </a:xfrm>
          <a:prstGeom prst="rect">
            <a:avLst>
              <a:gd name="adj" fmla="val 20000"/>
            </a:avLst>
          </a:prstGeom>
          <a:solidFill>
            <a:srgbClr val="CCFBF1"/>
          </a:solidFill>
          <a:ln w="31750">
            <a:solidFill>
              <a:srgbClr val="0D9488"/>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37083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3" name="Text 21"/>
          <p:cNvSpPr/>
          <p:nvPr/>
        </p:nvSpPr>
        <p:spPr>
          <a:xfrm>
            <a:off x="437083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4" name="Shape 22"/>
          <p:cNvSpPr/>
          <p:nvPr/>
        </p:nvSpPr>
        <p:spPr>
          <a:xfrm>
            <a:off x="6519672" y="2276856"/>
            <a:ext cx="1828800" cy="365760"/>
          </a:xfrm>
          <a:prstGeom prst="rect">
            <a:avLst>
              <a:gd name="adj" fmla="val 20000"/>
            </a:avLst>
          </a:prstGeom>
          <a:solidFill>
            <a:srgbClr val="FCE7F3"/>
          </a:solidFill>
          <a:ln w="19050">
            <a:solidFill>
              <a:srgbClr val="DB2777"/>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65196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ic</a:t>
            </a:r>
            <a:endParaRPr lang="en-US" sz="1300" dirty="0"/>
          </a:p>
        </p:txBody>
      </p:sp>
      <p:sp>
        <p:nvSpPr>
          <p:cNvPr id="26" name="Text 24"/>
          <p:cNvSpPr/>
          <p:nvPr/>
        </p:nvSpPr>
        <p:spPr>
          <a:xfrm>
            <a:off x="65196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related to</a:t>
            </a:r>
            <a:endParaRPr lang="en-US" sz="850" dirty="0"/>
          </a:p>
        </p:txBody>
      </p:sp>
      <p:sp>
        <p:nvSpPr>
          <p:cNvPr id="27" name="Shape 25"/>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8" name="Text 26"/>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9" name="Shape 27"/>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30" name="Shape 28"/>
          <p:cNvSpPr/>
          <p:nvPr/>
        </p:nvSpPr>
        <p:spPr>
          <a:xfrm>
            <a:off x="1975104" y="3364992"/>
            <a:ext cx="1554480" cy="475488"/>
          </a:xfrm>
          <a:prstGeom prst="rect">
            <a:avLst>
              <a:gd name="adj" fmla="val 9615"/>
            </a:avLst>
          </a:prstGeom>
          <a:solidFill>
            <a:srgbClr val="FFFFFF"/>
          </a:solidFill>
          <a:ln w="12700">
            <a:solidFill>
              <a:srgbClr val="0D9488"/>
            </a:solidFill>
            <a:prstDash val="solid"/>
          </a:ln>
        </p:spPr>
      </p:sp>
      <p:sp>
        <p:nvSpPr>
          <p:cNvPr id="31" name="Text 29"/>
          <p:cNvSpPr/>
          <p:nvPr/>
        </p:nvSpPr>
        <p:spPr>
          <a:xfrm>
            <a:off x="1975104"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a:t>
            </a:r>
            <a:endParaRPr lang="en-US" sz="1400" dirty="0"/>
          </a:p>
        </p:txBody>
      </p:sp>
      <p:sp>
        <p:nvSpPr>
          <p:cNvPr id="32" name="Text 30"/>
          <p:cNvSpPr/>
          <p:nvPr/>
        </p:nvSpPr>
        <p:spPr>
          <a:xfrm>
            <a:off x="3529584"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3" name="Shape 31"/>
          <p:cNvSpPr/>
          <p:nvPr/>
        </p:nvSpPr>
        <p:spPr>
          <a:xfrm>
            <a:off x="3602736" y="3364992"/>
            <a:ext cx="1554480" cy="475488"/>
          </a:xfrm>
          <a:prstGeom prst="rect">
            <a:avLst>
              <a:gd name="adj" fmla="val 9615"/>
            </a:avLst>
          </a:prstGeom>
          <a:solidFill>
            <a:srgbClr val="FFFFFF"/>
          </a:solidFill>
          <a:ln w="12700">
            <a:solidFill>
              <a:srgbClr val="0D9488"/>
            </a:solidFill>
            <a:prstDash val="solid"/>
          </a:ln>
        </p:spPr>
      </p:sp>
      <p:sp>
        <p:nvSpPr>
          <p:cNvPr id="34" name="Text 32"/>
          <p:cNvSpPr/>
          <p:nvPr/>
        </p:nvSpPr>
        <p:spPr>
          <a:xfrm>
            <a:off x="3602736"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e</a:t>
            </a:r>
            <a:endParaRPr lang="en-US" sz="1400" dirty="0"/>
          </a:p>
        </p:txBody>
      </p:sp>
      <p:sp>
        <p:nvSpPr>
          <p:cNvPr id="35" name="Text 33"/>
          <p:cNvSpPr/>
          <p:nvPr/>
        </p:nvSpPr>
        <p:spPr>
          <a:xfrm>
            <a:off x="5157216"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6" name="Shape 34"/>
          <p:cNvSpPr/>
          <p:nvPr/>
        </p:nvSpPr>
        <p:spPr>
          <a:xfrm>
            <a:off x="5230368" y="3364992"/>
            <a:ext cx="1554480" cy="475488"/>
          </a:xfrm>
          <a:prstGeom prst="rect">
            <a:avLst>
              <a:gd name="adj" fmla="val 9615"/>
            </a:avLst>
          </a:prstGeom>
          <a:solidFill>
            <a:srgbClr val="FFFFFF"/>
          </a:solidFill>
          <a:ln w="12700">
            <a:solidFill>
              <a:srgbClr val="0D9488"/>
            </a:solidFill>
            <a:prstDash val="solid"/>
          </a:ln>
        </p:spPr>
      </p:sp>
      <p:sp>
        <p:nvSpPr>
          <p:cNvPr id="37" name="Text 35"/>
          <p:cNvSpPr/>
          <p:nvPr/>
        </p:nvSpPr>
        <p:spPr>
          <a:xfrm>
            <a:off x="5230368"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scop</a:t>
            </a:r>
            <a:endParaRPr lang="en-US" sz="1400" dirty="0"/>
          </a:p>
        </p:txBody>
      </p:sp>
      <p:sp>
        <p:nvSpPr>
          <p:cNvPr id="38" name="Text 36"/>
          <p:cNvSpPr/>
          <p:nvPr/>
        </p:nvSpPr>
        <p:spPr>
          <a:xfrm>
            <a:off x="6784848"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9" name="Shape 37"/>
          <p:cNvSpPr/>
          <p:nvPr/>
        </p:nvSpPr>
        <p:spPr>
          <a:xfrm>
            <a:off x="6858000" y="3364992"/>
            <a:ext cx="1554480" cy="475488"/>
          </a:xfrm>
          <a:prstGeom prst="rect">
            <a:avLst>
              <a:gd name="adj" fmla="val 9615"/>
            </a:avLst>
          </a:prstGeom>
          <a:solidFill>
            <a:srgbClr val="FFFFFF"/>
          </a:solidFill>
          <a:ln w="12700">
            <a:solidFill>
              <a:srgbClr val="0D9488"/>
            </a:solidFill>
            <a:prstDash val="solid"/>
          </a:ln>
        </p:spPr>
      </p:sp>
      <p:sp>
        <p:nvSpPr>
          <p:cNvPr id="40" name="Text 38"/>
          <p:cNvSpPr/>
          <p:nvPr/>
        </p:nvSpPr>
        <p:spPr>
          <a:xfrm>
            <a:off x="6858000"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ic</a:t>
            </a:r>
            <a:endParaRPr lang="en-US" sz="1400" dirty="0"/>
          </a:p>
        </p:txBody>
      </p:sp>
      <p:sp>
        <p:nvSpPr>
          <p:cNvPr id="41" name="Shape 39"/>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42" name="Text 40"/>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43" name="Shape 41"/>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44" name="Text 42"/>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Phonemes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Shape 8"/>
          <p:cNvSpPr/>
          <p:nvPr/>
        </p:nvSpPr>
        <p:spPr>
          <a:xfrm>
            <a:off x="365760" y="749808"/>
            <a:ext cx="8412480" cy="475488"/>
          </a:xfrm>
          <a:prstGeom prst="rect">
            <a:avLst>
              <a:gd name="adj" fmla="val 15385"/>
            </a:avLst>
          </a:prstGeom>
          <a:solidFill>
            <a:srgbClr val="FCE7F3"/>
          </a:solidFill>
          <a:ln w="12700">
            <a:solidFill>
              <a:srgbClr val="DB2777"/>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9D174D"/>
                </a:solidFill>
                <a:latin typeface="Calibri" pitchFamily="34" charset="0"/>
                <a:ea typeface="Calibri" pitchFamily="34" charset="-122"/>
                <a:cs typeface="Calibri" pitchFamily="34" charset="-120"/>
              </a:rPr>
              <a:t>✓ Now check your phonemes. Phonemes are the individual sounds.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telescopic</a:t>
            </a:r>
            <a:endParaRPr lang="en-US" sz="2800" dirty="0"/>
          </a:p>
        </p:txBody>
      </p:sp>
      <p:sp>
        <p:nvSpPr>
          <p:cNvPr id="14" name="Shape 12"/>
          <p:cNvSpPr/>
          <p:nvPr/>
        </p:nvSpPr>
        <p:spPr>
          <a:xfrm>
            <a:off x="6537960" y="1325880"/>
            <a:ext cx="2240280" cy="731520"/>
          </a:xfrm>
          <a:prstGeom prst="rect">
            <a:avLst>
              <a:gd name="adj" fmla="val 10000"/>
            </a:avLst>
          </a:prstGeom>
          <a:solidFill>
            <a:srgbClr val="FEF3C7"/>
          </a:solidFill>
          <a:ln w="12700">
            <a:solidFill>
              <a:srgbClr val="D97706"/>
            </a:solidFill>
            <a:prstDash val="solid"/>
          </a:ln>
        </p:spPr>
      </p:sp>
      <p:sp>
        <p:nvSpPr>
          <p:cNvPr id="15" name="Text 13"/>
          <p:cNvSpPr/>
          <p:nvPr/>
        </p:nvSpPr>
        <p:spPr>
          <a:xfrm>
            <a:off x="6583680" y="1325880"/>
            <a:ext cx="2148840" cy="731520"/>
          </a:xfrm>
          <a:prstGeom prst="rect">
            <a:avLst/>
          </a:prstGeom>
          <a:noFill/>
          <a:ln/>
        </p:spPr>
        <p:txBody>
          <a:bodyPr wrap="square" lIns="25400" tIns="25400" rIns="25400" bIns="25400" rtlCol="0" anchor="ctr">
            <a:normAutofit/>
          </a:bodyPr>
          <a:lstStyle/>
          <a:p>
            <a:pPr algn="l" indent="0" marL="0">
              <a:buNone/>
            </a:pPr>
            <a:r>
              <a:rPr lang="en-US" sz="950" dirty="0">
                <a:solidFill>
                  <a:srgbClr val="92400E"/>
                </a:solidFill>
                <a:latin typeface="Calibri" pitchFamily="34" charset="0"/>
                <a:ea typeface="Calibri" pitchFamily="34" charset="-122"/>
                <a:cs typeface="Calibri" pitchFamily="34" charset="-120"/>
              </a:rPr>
              <a:t>Spelling: drop the final 'e' before -ic</a:t>
            </a:r>
            <a:endParaRPr lang="en-US" sz="950" dirty="0"/>
          </a:p>
        </p:txBody>
      </p:sp>
      <p:sp>
        <p:nvSpPr>
          <p:cNvPr id="16" name="Shape 14"/>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7" name="Text 15"/>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8" name="Shape 16"/>
          <p:cNvSpPr/>
          <p:nvPr/>
        </p:nvSpPr>
        <p:spPr>
          <a:xfrm>
            <a:off x="2221992" y="2276856"/>
            <a:ext cx="1828800" cy="365760"/>
          </a:xfrm>
          <a:prstGeom prst="rect">
            <a:avLst>
              <a:gd name="adj" fmla="val 20000"/>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22219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20" name="Text 18"/>
          <p:cNvSpPr/>
          <p:nvPr/>
        </p:nvSpPr>
        <p:spPr>
          <a:xfrm>
            <a:off x="22219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21" name="Shape 19"/>
          <p:cNvSpPr/>
          <p:nvPr/>
        </p:nvSpPr>
        <p:spPr>
          <a:xfrm>
            <a:off x="4370832" y="2276856"/>
            <a:ext cx="1828800" cy="365760"/>
          </a:xfrm>
          <a:prstGeom prst="rect">
            <a:avLst>
              <a:gd name="adj" fmla="val 20000"/>
            </a:avLst>
          </a:prstGeom>
          <a:solidFill>
            <a:srgbClr val="CCFBF1"/>
          </a:solidFill>
          <a:ln w="31750">
            <a:solidFill>
              <a:srgbClr val="0D9488"/>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37083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3" name="Text 21"/>
          <p:cNvSpPr/>
          <p:nvPr/>
        </p:nvSpPr>
        <p:spPr>
          <a:xfrm>
            <a:off x="437083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4" name="Shape 22"/>
          <p:cNvSpPr/>
          <p:nvPr/>
        </p:nvSpPr>
        <p:spPr>
          <a:xfrm>
            <a:off x="6519672" y="2276856"/>
            <a:ext cx="1828800" cy="365760"/>
          </a:xfrm>
          <a:prstGeom prst="rect">
            <a:avLst>
              <a:gd name="adj" fmla="val 20000"/>
            </a:avLst>
          </a:prstGeom>
          <a:solidFill>
            <a:srgbClr val="FCE7F3"/>
          </a:solidFill>
          <a:ln w="19050">
            <a:solidFill>
              <a:srgbClr val="DB2777"/>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65196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ic</a:t>
            </a:r>
            <a:endParaRPr lang="en-US" sz="1300" dirty="0"/>
          </a:p>
        </p:txBody>
      </p:sp>
      <p:sp>
        <p:nvSpPr>
          <p:cNvPr id="26" name="Text 24"/>
          <p:cNvSpPr/>
          <p:nvPr/>
        </p:nvSpPr>
        <p:spPr>
          <a:xfrm>
            <a:off x="65196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related to</a:t>
            </a:r>
            <a:endParaRPr lang="en-US" sz="850" dirty="0"/>
          </a:p>
        </p:txBody>
      </p:sp>
      <p:sp>
        <p:nvSpPr>
          <p:cNvPr id="27" name="Shape 25"/>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8" name="Text 26"/>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9" name="Shape 27"/>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30" name="Shape 28"/>
          <p:cNvSpPr/>
          <p:nvPr/>
        </p:nvSpPr>
        <p:spPr>
          <a:xfrm>
            <a:off x="1975104" y="3364992"/>
            <a:ext cx="1554480" cy="475488"/>
          </a:xfrm>
          <a:prstGeom prst="rect">
            <a:avLst>
              <a:gd name="adj" fmla="val 9615"/>
            </a:avLst>
          </a:prstGeom>
          <a:solidFill>
            <a:srgbClr val="FFFFFF"/>
          </a:solidFill>
          <a:ln w="12700">
            <a:solidFill>
              <a:srgbClr val="0D9488"/>
            </a:solidFill>
            <a:prstDash val="solid"/>
          </a:ln>
        </p:spPr>
      </p:sp>
      <p:sp>
        <p:nvSpPr>
          <p:cNvPr id="31" name="Text 29"/>
          <p:cNvSpPr/>
          <p:nvPr/>
        </p:nvSpPr>
        <p:spPr>
          <a:xfrm>
            <a:off x="1975104"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a:t>
            </a:r>
            <a:endParaRPr lang="en-US" sz="1400" dirty="0"/>
          </a:p>
        </p:txBody>
      </p:sp>
      <p:sp>
        <p:nvSpPr>
          <p:cNvPr id="32" name="Text 30"/>
          <p:cNvSpPr/>
          <p:nvPr/>
        </p:nvSpPr>
        <p:spPr>
          <a:xfrm>
            <a:off x="3529584"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3" name="Shape 31"/>
          <p:cNvSpPr/>
          <p:nvPr/>
        </p:nvSpPr>
        <p:spPr>
          <a:xfrm>
            <a:off x="3602736" y="3364992"/>
            <a:ext cx="1554480" cy="475488"/>
          </a:xfrm>
          <a:prstGeom prst="rect">
            <a:avLst>
              <a:gd name="adj" fmla="val 9615"/>
            </a:avLst>
          </a:prstGeom>
          <a:solidFill>
            <a:srgbClr val="FFFFFF"/>
          </a:solidFill>
          <a:ln w="12700">
            <a:solidFill>
              <a:srgbClr val="0D9488"/>
            </a:solidFill>
            <a:prstDash val="solid"/>
          </a:ln>
        </p:spPr>
      </p:sp>
      <p:sp>
        <p:nvSpPr>
          <p:cNvPr id="34" name="Text 32"/>
          <p:cNvSpPr/>
          <p:nvPr/>
        </p:nvSpPr>
        <p:spPr>
          <a:xfrm>
            <a:off x="3602736"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e</a:t>
            </a:r>
            <a:endParaRPr lang="en-US" sz="1400" dirty="0"/>
          </a:p>
        </p:txBody>
      </p:sp>
      <p:sp>
        <p:nvSpPr>
          <p:cNvPr id="35" name="Text 33"/>
          <p:cNvSpPr/>
          <p:nvPr/>
        </p:nvSpPr>
        <p:spPr>
          <a:xfrm>
            <a:off x="5157216"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6" name="Shape 34"/>
          <p:cNvSpPr/>
          <p:nvPr/>
        </p:nvSpPr>
        <p:spPr>
          <a:xfrm>
            <a:off x="5230368" y="3364992"/>
            <a:ext cx="1554480" cy="475488"/>
          </a:xfrm>
          <a:prstGeom prst="rect">
            <a:avLst>
              <a:gd name="adj" fmla="val 9615"/>
            </a:avLst>
          </a:prstGeom>
          <a:solidFill>
            <a:srgbClr val="FFFFFF"/>
          </a:solidFill>
          <a:ln w="12700">
            <a:solidFill>
              <a:srgbClr val="0D9488"/>
            </a:solidFill>
            <a:prstDash val="solid"/>
          </a:ln>
        </p:spPr>
      </p:sp>
      <p:sp>
        <p:nvSpPr>
          <p:cNvPr id="37" name="Text 35"/>
          <p:cNvSpPr/>
          <p:nvPr/>
        </p:nvSpPr>
        <p:spPr>
          <a:xfrm>
            <a:off x="5230368"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scop</a:t>
            </a:r>
            <a:endParaRPr lang="en-US" sz="1400" dirty="0"/>
          </a:p>
        </p:txBody>
      </p:sp>
      <p:sp>
        <p:nvSpPr>
          <p:cNvPr id="38" name="Text 36"/>
          <p:cNvSpPr/>
          <p:nvPr/>
        </p:nvSpPr>
        <p:spPr>
          <a:xfrm>
            <a:off x="6784848" y="3364992"/>
            <a:ext cx="73152"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9" name="Shape 37"/>
          <p:cNvSpPr/>
          <p:nvPr/>
        </p:nvSpPr>
        <p:spPr>
          <a:xfrm>
            <a:off x="6858000" y="3364992"/>
            <a:ext cx="1554480" cy="475488"/>
          </a:xfrm>
          <a:prstGeom prst="rect">
            <a:avLst>
              <a:gd name="adj" fmla="val 9615"/>
            </a:avLst>
          </a:prstGeom>
          <a:solidFill>
            <a:srgbClr val="FFFFFF"/>
          </a:solidFill>
          <a:ln w="12700">
            <a:solidFill>
              <a:srgbClr val="0D9488"/>
            </a:solidFill>
            <a:prstDash val="solid"/>
          </a:ln>
        </p:spPr>
      </p:sp>
      <p:sp>
        <p:nvSpPr>
          <p:cNvPr id="40" name="Text 38"/>
          <p:cNvSpPr/>
          <p:nvPr/>
        </p:nvSpPr>
        <p:spPr>
          <a:xfrm>
            <a:off x="6858000" y="3364992"/>
            <a:ext cx="155448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ic</a:t>
            </a:r>
            <a:endParaRPr lang="en-US" sz="1400" dirty="0"/>
          </a:p>
        </p:txBody>
      </p:sp>
      <p:sp>
        <p:nvSpPr>
          <p:cNvPr id="41" name="Shape 39"/>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42" name="Text 40"/>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43" name="Shape 41"/>
          <p:cNvSpPr/>
          <p:nvPr/>
        </p:nvSpPr>
        <p:spPr>
          <a:xfrm>
            <a:off x="1874520" y="4096512"/>
            <a:ext cx="6903720" cy="731520"/>
          </a:xfrm>
          <a:prstGeom prst="rect">
            <a:avLst>
              <a:gd name="adj" fmla="val 7500"/>
            </a:avLst>
          </a:prstGeom>
          <a:solidFill>
            <a:srgbClr val="FCE7F3"/>
          </a:solidFill>
          <a:ln w="12700">
            <a:solidFill>
              <a:srgbClr val="DB2777"/>
            </a:solidFill>
            <a:prstDash val="solid"/>
          </a:ln>
        </p:spPr>
      </p:sp>
      <p:sp>
        <p:nvSpPr>
          <p:cNvPr id="44" name="Shape 42"/>
          <p:cNvSpPr/>
          <p:nvPr/>
        </p:nvSpPr>
        <p:spPr>
          <a:xfrm>
            <a:off x="1951828" y="4187952"/>
            <a:ext cx="603504" cy="475488"/>
          </a:xfrm>
          <a:prstGeom prst="rect">
            <a:avLst>
              <a:gd name="adj" fmla="val 7692"/>
            </a:avLst>
          </a:prstGeom>
          <a:solidFill>
            <a:srgbClr val="FFFFFF"/>
          </a:solidFill>
          <a:ln w="12700">
            <a:solidFill>
              <a:srgbClr val="DB2777"/>
            </a:solidFill>
            <a:prstDash val="solid"/>
          </a:ln>
        </p:spPr>
      </p:sp>
      <p:sp>
        <p:nvSpPr>
          <p:cNvPr id="45" name="Text 43"/>
          <p:cNvSpPr/>
          <p:nvPr/>
        </p:nvSpPr>
        <p:spPr>
          <a:xfrm>
            <a:off x="1951828"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t</a:t>
            </a:r>
            <a:endParaRPr lang="en-US" sz="900" dirty="0"/>
          </a:p>
        </p:txBody>
      </p:sp>
      <p:sp>
        <p:nvSpPr>
          <p:cNvPr id="46" name="Shape 44"/>
          <p:cNvSpPr/>
          <p:nvPr/>
        </p:nvSpPr>
        <p:spPr>
          <a:xfrm>
            <a:off x="2605209" y="4187952"/>
            <a:ext cx="603504" cy="475488"/>
          </a:xfrm>
          <a:prstGeom prst="rect">
            <a:avLst>
              <a:gd name="adj" fmla="val 7692"/>
            </a:avLst>
          </a:prstGeom>
          <a:solidFill>
            <a:srgbClr val="FFFFFF"/>
          </a:solidFill>
          <a:ln w="12700">
            <a:solidFill>
              <a:srgbClr val="DB2777"/>
            </a:solidFill>
            <a:prstDash val="solid"/>
          </a:ln>
        </p:spPr>
      </p:sp>
      <p:sp>
        <p:nvSpPr>
          <p:cNvPr id="47" name="Text 45"/>
          <p:cNvSpPr/>
          <p:nvPr/>
        </p:nvSpPr>
        <p:spPr>
          <a:xfrm>
            <a:off x="2605209"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e</a:t>
            </a:r>
            <a:endParaRPr lang="en-US" sz="900" dirty="0"/>
          </a:p>
        </p:txBody>
      </p:sp>
      <p:sp>
        <p:nvSpPr>
          <p:cNvPr id="48" name="Shape 46"/>
          <p:cNvSpPr/>
          <p:nvPr/>
        </p:nvSpPr>
        <p:spPr>
          <a:xfrm>
            <a:off x="3258589" y="4187952"/>
            <a:ext cx="603504" cy="475488"/>
          </a:xfrm>
          <a:prstGeom prst="rect">
            <a:avLst>
              <a:gd name="adj" fmla="val 7692"/>
            </a:avLst>
          </a:prstGeom>
          <a:solidFill>
            <a:srgbClr val="FFFFFF"/>
          </a:solidFill>
          <a:ln w="12700">
            <a:solidFill>
              <a:srgbClr val="DB2777"/>
            </a:solidFill>
            <a:prstDash val="solid"/>
          </a:ln>
        </p:spPr>
      </p:sp>
      <p:sp>
        <p:nvSpPr>
          <p:cNvPr id="49" name="Text 47"/>
          <p:cNvSpPr/>
          <p:nvPr/>
        </p:nvSpPr>
        <p:spPr>
          <a:xfrm>
            <a:off x="3258589"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l</a:t>
            </a:r>
            <a:endParaRPr lang="en-US" sz="900" dirty="0"/>
          </a:p>
        </p:txBody>
      </p:sp>
      <p:sp>
        <p:nvSpPr>
          <p:cNvPr id="50" name="Shape 48"/>
          <p:cNvSpPr/>
          <p:nvPr/>
        </p:nvSpPr>
        <p:spPr>
          <a:xfrm>
            <a:off x="3911969" y="4187952"/>
            <a:ext cx="603504" cy="475488"/>
          </a:xfrm>
          <a:prstGeom prst="rect">
            <a:avLst>
              <a:gd name="adj" fmla="val 7692"/>
            </a:avLst>
          </a:prstGeom>
          <a:solidFill>
            <a:srgbClr val="FFFFFF"/>
          </a:solidFill>
          <a:ln w="12700">
            <a:solidFill>
              <a:srgbClr val="DB2777"/>
            </a:solidFill>
            <a:prstDash val="solid"/>
          </a:ln>
        </p:spPr>
      </p:sp>
      <p:sp>
        <p:nvSpPr>
          <p:cNvPr id="51" name="Text 49"/>
          <p:cNvSpPr/>
          <p:nvPr/>
        </p:nvSpPr>
        <p:spPr>
          <a:xfrm>
            <a:off x="3911969"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e</a:t>
            </a:r>
            <a:endParaRPr lang="en-US" sz="900" dirty="0"/>
          </a:p>
        </p:txBody>
      </p:sp>
      <p:sp>
        <p:nvSpPr>
          <p:cNvPr id="52" name="Shape 50"/>
          <p:cNvSpPr/>
          <p:nvPr/>
        </p:nvSpPr>
        <p:spPr>
          <a:xfrm>
            <a:off x="4565350" y="4187952"/>
            <a:ext cx="603504" cy="475488"/>
          </a:xfrm>
          <a:prstGeom prst="rect">
            <a:avLst>
              <a:gd name="adj" fmla="val 7692"/>
            </a:avLst>
          </a:prstGeom>
          <a:solidFill>
            <a:srgbClr val="FFFFFF"/>
          </a:solidFill>
          <a:ln w="12700">
            <a:solidFill>
              <a:srgbClr val="DB2777"/>
            </a:solidFill>
            <a:prstDash val="solid"/>
          </a:ln>
        </p:spPr>
      </p:sp>
      <p:sp>
        <p:nvSpPr>
          <p:cNvPr id="53" name="Text 51"/>
          <p:cNvSpPr/>
          <p:nvPr/>
        </p:nvSpPr>
        <p:spPr>
          <a:xfrm>
            <a:off x="4565350"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s</a:t>
            </a:r>
            <a:endParaRPr lang="en-US" sz="900" dirty="0"/>
          </a:p>
        </p:txBody>
      </p:sp>
      <p:sp>
        <p:nvSpPr>
          <p:cNvPr id="54" name="Shape 52"/>
          <p:cNvSpPr/>
          <p:nvPr/>
        </p:nvSpPr>
        <p:spPr>
          <a:xfrm>
            <a:off x="5218730" y="4187952"/>
            <a:ext cx="603504" cy="475488"/>
          </a:xfrm>
          <a:prstGeom prst="rect">
            <a:avLst>
              <a:gd name="adj" fmla="val 7692"/>
            </a:avLst>
          </a:prstGeom>
          <a:solidFill>
            <a:srgbClr val="FFFFFF"/>
          </a:solidFill>
          <a:ln w="12700">
            <a:solidFill>
              <a:srgbClr val="DB2777"/>
            </a:solidFill>
            <a:prstDash val="solid"/>
          </a:ln>
        </p:spPr>
      </p:sp>
      <p:sp>
        <p:nvSpPr>
          <p:cNvPr id="55" name="Text 53"/>
          <p:cNvSpPr/>
          <p:nvPr/>
        </p:nvSpPr>
        <p:spPr>
          <a:xfrm>
            <a:off x="5218730"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c</a:t>
            </a:r>
            <a:endParaRPr lang="en-US" sz="900" dirty="0"/>
          </a:p>
        </p:txBody>
      </p:sp>
      <p:sp>
        <p:nvSpPr>
          <p:cNvPr id="56" name="Shape 54"/>
          <p:cNvSpPr/>
          <p:nvPr/>
        </p:nvSpPr>
        <p:spPr>
          <a:xfrm>
            <a:off x="5872111" y="4187952"/>
            <a:ext cx="603504" cy="475488"/>
          </a:xfrm>
          <a:prstGeom prst="rect">
            <a:avLst>
              <a:gd name="adj" fmla="val 7692"/>
            </a:avLst>
          </a:prstGeom>
          <a:solidFill>
            <a:srgbClr val="FFFFFF"/>
          </a:solidFill>
          <a:ln w="12700">
            <a:solidFill>
              <a:srgbClr val="DB2777"/>
            </a:solidFill>
            <a:prstDash val="solid"/>
          </a:ln>
        </p:spPr>
      </p:sp>
      <p:sp>
        <p:nvSpPr>
          <p:cNvPr id="57" name="Text 55"/>
          <p:cNvSpPr/>
          <p:nvPr/>
        </p:nvSpPr>
        <p:spPr>
          <a:xfrm>
            <a:off x="5872111"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o</a:t>
            </a:r>
            <a:endParaRPr lang="en-US" sz="900" dirty="0"/>
          </a:p>
        </p:txBody>
      </p:sp>
      <p:sp>
        <p:nvSpPr>
          <p:cNvPr id="58" name="Shape 56"/>
          <p:cNvSpPr/>
          <p:nvPr/>
        </p:nvSpPr>
        <p:spPr>
          <a:xfrm>
            <a:off x="6525491" y="4187952"/>
            <a:ext cx="603504" cy="475488"/>
          </a:xfrm>
          <a:prstGeom prst="rect">
            <a:avLst>
              <a:gd name="adj" fmla="val 7692"/>
            </a:avLst>
          </a:prstGeom>
          <a:solidFill>
            <a:srgbClr val="FFFFFF"/>
          </a:solidFill>
          <a:ln w="12700">
            <a:solidFill>
              <a:srgbClr val="DB2777"/>
            </a:solidFill>
            <a:prstDash val="solid"/>
          </a:ln>
        </p:spPr>
      </p:sp>
      <p:sp>
        <p:nvSpPr>
          <p:cNvPr id="59" name="Text 57"/>
          <p:cNvSpPr/>
          <p:nvPr/>
        </p:nvSpPr>
        <p:spPr>
          <a:xfrm>
            <a:off x="6525491"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p</a:t>
            </a:r>
            <a:endParaRPr lang="en-US" sz="900" dirty="0"/>
          </a:p>
        </p:txBody>
      </p:sp>
      <p:sp>
        <p:nvSpPr>
          <p:cNvPr id="60" name="Shape 58"/>
          <p:cNvSpPr/>
          <p:nvPr/>
        </p:nvSpPr>
        <p:spPr>
          <a:xfrm>
            <a:off x="7178871" y="4187952"/>
            <a:ext cx="603504" cy="475488"/>
          </a:xfrm>
          <a:prstGeom prst="rect">
            <a:avLst>
              <a:gd name="adj" fmla="val 7692"/>
            </a:avLst>
          </a:prstGeom>
          <a:solidFill>
            <a:srgbClr val="FFFFFF"/>
          </a:solidFill>
          <a:ln w="12700">
            <a:solidFill>
              <a:srgbClr val="DB2777"/>
            </a:solidFill>
            <a:prstDash val="solid"/>
          </a:ln>
        </p:spPr>
      </p:sp>
      <p:sp>
        <p:nvSpPr>
          <p:cNvPr id="61" name="Text 59"/>
          <p:cNvSpPr/>
          <p:nvPr/>
        </p:nvSpPr>
        <p:spPr>
          <a:xfrm>
            <a:off x="7178871"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i</a:t>
            </a:r>
            <a:endParaRPr lang="en-US" sz="900" dirty="0"/>
          </a:p>
        </p:txBody>
      </p:sp>
      <p:sp>
        <p:nvSpPr>
          <p:cNvPr id="62" name="Shape 60"/>
          <p:cNvSpPr/>
          <p:nvPr/>
        </p:nvSpPr>
        <p:spPr>
          <a:xfrm>
            <a:off x="7832252" y="4187952"/>
            <a:ext cx="603504" cy="475488"/>
          </a:xfrm>
          <a:prstGeom prst="rect">
            <a:avLst>
              <a:gd name="adj" fmla="val 7692"/>
            </a:avLst>
          </a:prstGeom>
          <a:solidFill>
            <a:srgbClr val="FFFFFF"/>
          </a:solidFill>
          <a:ln w="12700">
            <a:solidFill>
              <a:srgbClr val="DB2777"/>
            </a:solidFill>
            <a:prstDash val="solid"/>
          </a:ln>
        </p:spPr>
      </p:sp>
      <p:sp>
        <p:nvSpPr>
          <p:cNvPr id="63" name="Text 61"/>
          <p:cNvSpPr/>
          <p:nvPr/>
        </p:nvSpPr>
        <p:spPr>
          <a:xfrm>
            <a:off x="7832252" y="4187952"/>
            <a:ext cx="603504" cy="475488"/>
          </a:xfrm>
          <a:prstGeom prst="rect">
            <a:avLst/>
          </a:prstGeom>
          <a:noFill/>
          <a:ln/>
        </p:spPr>
        <p:txBody>
          <a:bodyPr wrap="square" lIns="0" tIns="0" rIns="0" bIns="0" rtlCol="0" anchor="ctr"/>
          <a:lstStyle/>
          <a:p>
            <a:pPr algn="ctr" indent="0" marL="0">
              <a:buNone/>
            </a:pPr>
            <a:r>
              <a:rPr lang="en-US" sz="900" b="1" dirty="0">
                <a:solidFill>
                  <a:srgbClr val="9D174D"/>
                </a:solidFill>
                <a:latin typeface="Trebuchet MS" pitchFamily="34" charset="0"/>
                <a:ea typeface="Trebuchet MS" pitchFamily="34" charset="-122"/>
                <a:cs typeface="Trebuchet MS" pitchFamily="34" charset="-120"/>
              </a:rPr>
              <a:t>c</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Word Matrix — Build Your Own Words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Use the Word Labs Morpheme Builder to find words, then fill in the matrix below.</a:t>
            </a:r>
            <a:endParaRPr lang="en-US" sz="1300" dirty="0"/>
          </a:p>
        </p:txBody>
      </p:sp>
      <p:sp>
        <p:nvSpPr>
          <p:cNvPr id="11" name="Text 9"/>
          <p:cNvSpPr/>
          <p:nvPr/>
        </p:nvSpPr>
        <p:spPr>
          <a:xfrm>
            <a:off x="365760" y="1143000"/>
            <a:ext cx="731520" cy="329184"/>
          </a:xfrm>
          <a:prstGeom prst="rect">
            <a:avLst/>
          </a:prstGeom>
          <a:noFill/>
          <a:ln/>
        </p:spPr>
        <p:txBody>
          <a:bodyPr wrap="square" lIns="0" tIns="0" rIns="0" bIns="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Name:</a:t>
            </a:r>
            <a:endParaRPr lang="en-US" sz="1100" dirty="0"/>
          </a:p>
        </p:txBody>
      </p:sp>
      <p:sp>
        <p:nvSpPr>
          <p:cNvPr id="12" name="Shape 10"/>
          <p:cNvSpPr/>
          <p:nvPr/>
        </p:nvSpPr>
        <p:spPr>
          <a:xfrm>
            <a:off x="1143000" y="1371600"/>
            <a:ext cx="2926080" cy="0"/>
          </a:xfrm>
          <a:prstGeom prst="line">
            <a:avLst/>
          </a:prstGeom>
          <a:noFill/>
          <a:ln w="12700">
            <a:solidFill>
              <a:srgbClr val="475569"/>
            </a:solidFill>
            <a:prstDash val="solid"/>
          </a:ln>
        </p:spPr>
      </p:sp>
      <p:sp>
        <p:nvSpPr>
          <p:cNvPr id="13" name="Text 11"/>
          <p:cNvSpPr/>
          <p:nvPr/>
        </p:nvSpPr>
        <p:spPr>
          <a:xfrm>
            <a:off x="4663440" y="1143000"/>
            <a:ext cx="640080" cy="329184"/>
          </a:xfrm>
          <a:prstGeom prst="rect">
            <a:avLst/>
          </a:prstGeom>
          <a:noFill/>
          <a:ln/>
        </p:spPr>
        <p:txBody>
          <a:bodyPr wrap="square" lIns="0" tIns="0" rIns="0" bIns="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Date:</a:t>
            </a:r>
            <a:endParaRPr lang="en-US" sz="1100" dirty="0"/>
          </a:p>
        </p:txBody>
      </p:sp>
      <p:sp>
        <p:nvSpPr>
          <p:cNvPr id="14" name="Shape 12"/>
          <p:cNvSpPr/>
          <p:nvPr/>
        </p:nvSpPr>
        <p:spPr>
          <a:xfrm>
            <a:off x="5349240" y="1371600"/>
            <a:ext cx="3246120" cy="0"/>
          </a:xfrm>
          <a:prstGeom prst="line">
            <a:avLst/>
          </a:prstGeom>
          <a:noFill/>
          <a:ln w="12700">
            <a:solidFill>
              <a:srgbClr val="475569"/>
            </a:solidFill>
            <a:prstDash val="solid"/>
          </a:ln>
        </p:spPr>
      </p:sp>
      <p:sp>
        <p:nvSpPr>
          <p:cNvPr id="15" name="Shape 13"/>
          <p:cNvSpPr/>
          <p:nvPr/>
        </p:nvSpPr>
        <p:spPr>
          <a:xfrm>
            <a:off x="1051560" y="1536192"/>
            <a:ext cx="2194560" cy="402336"/>
          </a:xfrm>
          <a:prstGeom prst="rect">
            <a:avLst>
              <a:gd name="adj" fmla="val 13636"/>
            </a:avLst>
          </a:prstGeom>
          <a:solidFill>
            <a:srgbClr val="7C3AED"/>
          </a:solidFill>
          <a:ln w="12700">
            <a:solidFill>
              <a:srgbClr val="7C3AED"/>
            </a:solidFill>
            <a:prstDash val="solid"/>
          </a:ln>
        </p:spPr>
      </p:sp>
      <p:sp>
        <p:nvSpPr>
          <p:cNvPr id="16" name="Text 14"/>
          <p:cNvSpPr/>
          <p:nvPr/>
        </p:nvSpPr>
        <p:spPr>
          <a:xfrm>
            <a:off x="1051560" y="1536192"/>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Prefixes</a:t>
            </a:r>
            <a:endParaRPr lang="en-US" sz="1200" dirty="0"/>
          </a:p>
        </p:txBody>
      </p:sp>
      <p:sp>
        <p:nvSpPr>
          <p:cNvPr id="17" name="Shape 15"/>
          <p:cNvSpPr/>
          <p:nvPr/>
        </p:nvSpPr>
        <p:spPr>
          <a:xfrm>
            <a:off x="1051560" y="1975104"/>
            <a:ext cx="2194560" cy="301752"/>
          </a:xfrm>
          <a:prstGeom prst="rect">
            <a:avLst/>
          </a:prstGeom>
          <a:solidFill>
            <a:srgbClr val="F8FAFC"/>
          </a:solidFill>
          <a:ln w="9525">
            <a:solidFill>
              <a:srgbClr val="E2E8F0"/>
            </a:solidFill>
            <a:prstDash val="solid"/>
          </a:ln>
        </p:spPr>
      </p:sp>
      <p:sp>
        <p:nvSpPr>
          <p:cNvPr id="18" name="Shape 16"/>
          <p:cNvSpPr/>
          <p:nvPr/>
        </p:nvSpPr>
        <p:spPr>
          <a:xfrm>
            <a:off x="1051560" y="2313432"/>
            <a:ext cx="2194560" cy="301752"/>
          </a:xfrm>
          <a:prstGeom prst="rect">
            <a:avLst/>
          </a:prstGeom>
          <a:solidFill>
            <a:srgbClr val="F1F5F9"/>
          </a:solidFill>
          <a:ln w="9525">
            <a:solidFill>
              <a:srgbClr val="E2E8F0"/>
            </a:solidFill>
            <a:prstDash val="solid"/>
          </a:ln>
        </p:spPr>
      </p:sp>
      <p:sp>
        <p:nvSpPr>
          <p:cNvPr id="19" name="Shape 17"/>
          <p:cNvSpPr/>
          <p:nvPr/>
        </p:nvSpPr>
        <p:spPr>
          <a:xfrm>
            <a:off x="1051560" y="2651760"/>
            <a:ext cx="2194560" cy="301752"/>
          </a:xfrm>
          <a:prstGeom prst="rect">
            <a:avLst/>
          </a:prstGeom>
          <a:solidFill>
            <a:srgbClr val="F8FAFC"/>
          </a:solidFill>
          <a:ln w="9525">
            <a:solidFill>
              <a:srgbClr val="E2E8F0"/>
            </a:solidFill>
            <a:prstDash val="solid"/>
          </a:ln>
        </p:spPr>
      </p:sp>
      <p:sp>
        <p:nvSpPr>
          <p:cNvPr id="20" name="Shape 18"/>
          <p:cNvSpPr/>
          <p:nvPr/>
        </p:nvSpPr>
        <p:spPr>
          <a:xfrm>
            <a:off x="1051560" y="2990088"/>
            <a:ext cx="2194560" cy="301752"/>
          </a:xfrm>
          <a:prstGeom prst="rect">
            <a:avLst/>
          </a:prstGeom>
          <a:solidFill>
            <a:srgbClr val="F1F5F9"/>
          </a:solidFill>
          <a:ln w="9525">
            <a:solidFill>
              <a:srgbClr val="E2E8F0"/>
            </a:solidFill>
            <a:prstDash val="solid"/>
          </a:ln>
        </p:spPr>
      </p:sp>
      <p:sp>
        <p:nvSpPr>
          <p:cNvPr id="21" name="Shape 19"/>
          <p:cNvSpPr/>
          <p:nvPr/>
        </p:nvSpPr>
        <p:spPr>
          <a:xfrm>
            <a:off x="3474720" y="1536192"/>
            <a:ext cx="2194560" cy="402336"/>
          </a:xfrm>
          <a:prstGeom prst="rect">
            <a:avLst>
              <a:gd name="adj" fmla="val 13636"/>
            </a:avLst>
          </a:prstGeom>
          <a:solidFill>
            <a:srgbClr val="0D9488"/>
          </a:solidFill>
          <a:ln w="12700">
            <a:solidFill>
              <a:srgbClr val="0D9488"/>
            </a:solidFill>
            <a:prstDash val="solid"/>
          </a:ln>
        </p:spPr>
      </p:sp>
      <p:sp>
        <p:nvSpPr>
          <p:cNvPr id="22" name="Text 20"/>
          <p:cNvSpPr/>
          <p:nvPr/>
        </p:nvSpPr>
        <p:spPr>
          <a:xfrm>
            <a:off x="3474720" y="1536192"/>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Roots</a:t>
            </a:r>
            <a:endParaRPr lang="en-US" sz="1200" dirty="0"/>
          </a:p>
        </p:txBody>
      </p:sp>
      <p:sp>
        <p:nvSpPr>
          <p:cNvPr id="23" name="Shape 21"/>
          <p:cNvSpPr/>
          <p:nvPr/>
        </p:nvSpPr>
        <p:spPr>
          <a:xfrm>
            <a:off x="3474720" y="1975104"/>
            <a:ext cx="2194560" cy="301752"/>
          </a:xfrm>
          <a:prstGeom prst="rect">
            <a:avLst/>
          </a:prstGeom>
          <a:solidFill>
            <a:srgbClr val="F8FAFC"/>
          </a:solidFill>
          <a:ln w="9525">
            <a:solidFill>
              <a:srgbClr val="E2E8F0"/>
            </a:solidFill>
            <a:prstDash val="solid"/>
          </a:ln>
        </p:spPr>
      </p:sp>
      <p:sp>
        <p:nvSpPr>
          <p:cNvPr id="24" name="Shape 22"/>
          <p:cNvSpPr/>
          <p:nvPr/>
        </p:nvSpPr>
        <p:spPr>
          <a:xfrm>
            <a:off x="3474720" y="2313432"/>
            <a:ext cx="2194560" cy="301752"/>
          </a:xfrm>
          <a:prstGeom prst="rect">
            <a:avLst/>
          </a:prstGeom>
          <a:solidFill>
            <a:srgbClr val="F1F5F9"/>
          </a:solidFill>
          <a:ln w="9525">
            <a:solidFill>
              <a:srgbClr val="E2E8F0"/>
            </a:solidFill>
            <a:prstDash val="solid"/>
          </a:ln>
        </p:spPr>
      </p:sp>
      <p:sp>
        <p:nvSpPr>
          <p:cNvPr id="25" name="Shape 23"/>
          <p:cNvSpPr/>
          <p:nvPr/>
        </p:nvSpPr>
        <p:spPr>
          <a:xfrm>
            <a:off x="3474720" y="2651760"/>
            <a:ext cx="2194560" cy="301752"/>
          </a:xfrm>
          <a:prstGeom prst="rect">
            <a:avLst/>
          </a:prstGeom>
          <a:solidFill>
            <a:srgbClr val="F8FAFC"/>
          </a:solidFill>
          <a:ln w="9525">
            <a:solidFill>
              <a:srgbClr val="E2E8F0"/>
            </a:solidFill>
            <a:prstDash val="solid"/>
          </a:ln>
        </p:spPr>
      </p:sp>
      <p:sp>
        <p:nvSpPr>
          <p:cNvPr id="26" name="Shape 24"/>
          <p:cNvSpPr/>
          <p:nvPr/>
        </p:nvSpPr>
        <p:spPr>
          <a:xfrm>
            <a:off x="3474720" y="2990088"/>
            <a:ext cx="2194560" cy="301752"/>
          </a:xfrm>
          <a:prstGeom prst="rect">
            <a:avLst/>
          </a:prstGeom>
          <a:solidFill>
            <a:srgbClr val="F1F5F9"/>
          </a:solidFill>
          <a:ln w="9525">
            <a:solidFill>
              <a:srgbClr val="E2E8F0"/>
            </a:solidFill>
            <a:prstDash val="solid"/>
          </a:ln>
        </p:spPr>
      </p:sp>
      <p:sp>
        <p:nvSpPr>
          <p:cNvPr id="27" name="Shape 25"/>
          <p:cNvSpPr/>
          <p:nvPr/>
        </p:nvSpPr>
        <p:spPr>
          <a:xfrm>
            <a:off x="5897880" y="1536192"/>
            <a:ext cx="2194560" cy="402336"/>
          </a:xfrm>
          <a:prstGeom prst="rect">
            <a:avLst>
              <a:gd name="adj" fmla="val 13636"/>
            </a:avLst>
          </a:prstGeom>
          <a:solidFill>
            <a:srgbClr val="DB2777"/>
          </a:solidFill>
          <a:ln w="12700">
            <a:solidFill>
              <a:srgbClr val="DB2777"/>
            </a:solidFill>
            <a:prstDash val="solid"/>
          </a:ln>
        </p:spPr>
      </p:sp>
      <p:sp>
        <p:nvSpPr>
          <p:cNvPr id="28" name="Text 26"/>
          <p:cNvSpPr/>
          <p:nvPr/>
        </p:nvSpPr>
        <p:spPr>
          <a:xfrm>
            <a:off x="5897880" y="1536192"/>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Suffixes</a:t>
            </a:r>
            <a:endParaRPr lang="en-US" sz="1200" dirty="0"/>
          </a:p>
        </p:txBody>
      </p:sp>
      <p:sp>
        <p:nvSpPr>
          <p:cNvPr id="29" name="Shape 27"/>
          <p:cNvSpPr/>
          <p:nvPr/>
        </p:nvSpPr>
        <p:spPr>
          <a:xfrm>
            <a:off x="5897880" y="1975104"/>
            <a:ext cx="2194560" cy="301752"/>
          </a:xfrm>
          <a:prstGeom prst="rect">
            <a:avLst/>
          </a:prstGeom>
          <a:solidFill>
            <a:srgbClr val="F8FAFC"/>
          </a:solidFill>
          <a:ln w="9525">
            <a:solidFill>
              <a:srgbClr val="E2E8F0"/>
            </a:solidFill>
            <a:prstDash val="solid"/>
          </a:ln>
        </p:spPr>
      </p:sp>
      <p:sp>
        <p:nvSpPr>
          <p:cNvPr id="30" name="Shape 28"/>
          <p:cNvSpPr/>
          <p:nvPr/>
        </p:nvSpPr>
        <p:spPr>
          <a:xfrm>
            <a:off x="5897880" y="2313432"/>
            <a:ext cx="2194560" cy="301752"/>
          </a:xfrm>
          <a:prstGeom prst="rect">
            <a:avLst/>
          </a:prstGeom>
          <a:solidFill>
            <a:srgbClr val="F1F5F9"/>
          </a:solidFill>
          <a:ln w="9525">
            <a:solidFill>
              <a:srgbClr val="E2E8F0"/>
            </a:solidFill>
            <a:prstDash val="solid"/>
          </a:ln>
        </p:spPr>
      </p:sp>
      <p:sp>
        <p:nvSpPr>
          <p:cNvPr id="31" name="Shape 29"/>
          <p:cNvSpPr/>
          <p:nvPr/>
        </p:nvSpPr>
        <p:spPr>
          <a:xfrm>
            <a:off x="5897880" y="2651760"/>
            <a:ext cx="2194560" cy="301752"/>
          </a:xfrm>
          <a:prstGeom prst="rect">
            <a:avLst/>
          </a:prstGeom>
          <a:solidFill>
            <a:srgbClr val="F8FAFC"/>
          </a:solidFill>
          <a:ln w="9525">
            <a:solidFill>
              <a:srgbClr val="E2E8F0"/>
            </a:solidFill>
            <a:prstDash val="solid"/>
          </a:ln>
        </p:spPr>
      </p:sp>
      <p:sp>
        <p:nvSpPr>
          <p:cNvPr id="32" name="Shape 30"/>
          <p:cNvSpPr/>
          <p:nvPr/>
        </p:nvSpPr>
        <p:spPr>
          <a:xfrm>
            <a:off x="5897880" y="2990088"/>
            <a:ext cx="2194560" cy="301752"/>
          </a:xfrm>
          <a:prstGeom prst="rect">
            <a:avLst/>
          </a:prstGeom>
          <a:solidFill>
            <a:srgbClr val="F1F5F9"/>
          </a:solidFill>
          <a:ln w="9525">
            <a:solidFill>
              <a:srgbClr val="E2E8F0"/>
            </a:solidFill>
            <a:prstDash val="solid"/>
          </a:ln>
        </p:spPr>
      </p:sp>
      <p:sp>
        <p:nvSpPr>
          <p:cNvPr id="33" name="Text 31"/>
          <p:cNvSpPr/>
          <p:nvPr/>
        </p:nvSpPr>
        <p:spPr>
          <a:xfrm>
            <a:off x="365760" y="3474720"/>
            <a:ext cx="8412480" cy="292608"/>
          </a:xfrm>
          <a:prstGeom prst="rect">
            <a:avLst/>
          </a:prstGeom>
          <a:noFill/>
          <a:ln/>
        </p:spPr>
        <p:txBody>
          <a:bodyPr wrap="square" lIns="0" tIns="0" rIns="0" bIns="0" rtlCol="0" anchor="ctr"/>
          <a:lstStyle/>
          <a:p>
            <a:pPr algn="l" indent="0" marL="0">
              <a:buNone/>
            </a:pPr>
            <a:r>
              <a:rPr lang="en-US" sz="1200" b="1" dirty="0">
                <a:solidFill>
                  <a:srgbClr val="0F172A"/>
                </a:solidFill>
                <a:latin typeface="Trebuchet MS" pitchFamily="34" charset="0"/>
                <a:ea typeface="Trebuchet MS" pitchFamily="34" charset="-122"/>
                <a:cs typeface="Trebuchet MS" pitchFamily="34" charset="-120"/>
              </a:rPr>
              <a:t>Words I made:</a:t>
            </a:r>
            <a:endParaRPr lang="en-US" sz="1200" dirty="0"/>
          </a:p>
        </p:txBody>
      </p:sp>
      <p:sp>
        <p:nvSpPr>
          <p:cNvPr id="34" name="Shape 32"/>
          <p:cNvSpPr/>
          <p:nvPr/>
        </p:nvSpPr>
        <p:spPr>
          <a:xfrm>
            <a:off x="365760" y="4069080"/>
            <a:ext cx="2606040" cy="0"/>
          </a:xfrm>
          <a:prstGeom prst="line">
            <a:avLst/>
          </a:prstGeom>
          <a:noFill/>
          <a:ln w="9525">
            <a:solidFill>
              <a:srgbClr val="475569"/>
            </a:solidFill>
            <a:prstDash val="solid"/>
          </a:ln>
        </p:spPr>
      </p:sp>
      <p:sp>
        <p:nvSpPr>
          <p:cNvPr id="35" name="Shape 33"/>
          <p:cNvSpPr/>
          <p:nvPr/>
        </p:nvSpPr>
        <p:spPr>
          <a:xfrm>
            <a:off x="3200400" y="4069080"/>
            <a:ext cx="2606040" cy="0"/>
          </a:xfrm>
          <a:prstGeom prst="line">
            <a:avLst/>
          </a:prstGeom>
          <a:noFill/>
          <a:ln w="9525">
            <a:solidFill>
              <a:srgbClr val="475569"/>
            </a:solidFill>
            <a:prstDash val="solid"/>
          </a:ln>
        </p:spPr>
      </p:sp>
      <p:sp>
        <p:nvSpPr>
          <p:cNvPr id="36" name="Shape 34"/>
          <p:cNvSpPr/>
          <p:nvPr/>
        </p:nvSpPr>
        <p:spPr>
          <a:xfrm>
            <a:off x="6035040" y="4069080"/>
            <a:ext cx="2606040" cy="0"/>
          </a:xfrm>
          <a:prstGeom prst="line">
            <a:avLst/>
          </a:prstGeom>
          <a:noFill/>
          <a:ln w="9525">
            <a:solidFill>
              <a:srgbClr val="475569"/>
            </a:solidFill>
            <a:prstDash val="solid"/>
          </a:ln>
        </p:spPr>
      </p:sp>
      <p:sp>
        <p:nvSpPr>
          <p:cNvPr id="37" name="Shape 35"/>
          <p:cNvSpPr/>
          <p:nvPr/>
        </p:nvSpPr>
        <p:spPr>
          <a:xfrm>
            <a:off x="365760" y="4416552"/>
            <a:ext cx="2606040" cy="0"/>
          </a:xfrm>
          <a:prstGeom prst="line">
            <a:avLst/>
          </a:prstGeom>
          <a:noFill/>
          <a:ln w="9525">
            <a:solidFill>
              <a:srgbClr val="475569"/>
            </a:solidFill>
            <a:prstDash val="solid"/>
          </a:ln>
        </p:spPr>
      </p:sp>
      <p:sp>
        <p:nvSpPr>
          <p:cNvPr id="38" name="Shape 36"/>
          <p:cNvSpPr/>
          <p:nvPr/>
        </p:nvSpPr>
        <p:spPr>
          <a:xfrm>
            <a:off x="3200400" y="4416552"/>
            <a:ext cx="2606040" cy="0"/>
          </a:xfrm>
          <a:prstGeom prst="line">
            <a:avLst/>
          </a:prstGeom>
          <a:noFill/>
          <a:ln w="9525">
            <a:solidFill>
              <a:srgbClr val="475569"/>
            </a:solidFill>
            <a:prstDash val="solid"/>
          </a:ln>
        </p:spPr>
      </p:sp>
      <p:sp>
        <p:nvSpPr>
          <p:cNvPr id="39" name="Shape 37"/>
          <p:cNvSpPr/>
          <p:nvPr/>
        </p:nvSpPr>
        <p:spPr>
          <a:xfrm>
            <a:off x="6035040" y="4416552"/>
            <a:ext cx="2606040" cy="0"/>
          </a:xfrm>
          <a:prstGeom prst="line">
            <a:avLst/>
          </a:prstGeom>
          <a:noFill/>
          <a:ln w="9525">
            <a:solidFill>
              <a:srgbClr val="475569"/>
            </a:solidFill>
            <a:prstDash val="solid"/>
          </a:ln>
        </p:spPr>
      </p:sp>
      <p:sp>
        <p:nvSpPr>
          <p:cNvPr id="40" name="Text 38"/>
          <p:cNvSpPr/>
          <p:nvPr/>
        </p:nvSpPr>
        <p:spPr>
          <a:xfrm>
            <a:off x="365760" y="4535424"/>
            <a:ext cx="8412480" cy="274320"/>
          </a:xfrm>
          <a:prstGeom prst="rect">
            <a:avLst/>
          </a:prstGeom>
          <a:noFill/>
          <a:ln/>
        </p:spPr>
        <p:txBody>
          <a:bodyPr wrap="square" lIns="0" tIns="0" rIns="0" bIns="0" rtlCol="0" anchor="ctr"/>
          <a:lstStyle/>
          <a:p>
            <a:pPr algn="l" indent="0" marL="0">
              <a:buNone/>
            </a:pPr>
            <a:r>
              <a:rPr lang="en-US" sz="1000" b="1" dirty="0">
                <a:solidFill>
                  <a:srgbClr val="0F172A"/>
                </a:solidFill>
                <a:latin typeface="Trebuchet MS" pitchFamily="34" charset="0"/>
                <a:ea typeface="Trebuchet MS" pitchFamily="34" charset="-122"/>
                <a:cs typeface="Trebuchet MS" pitchFamily="34" charset="-120"/>
              </a:rPr>
              <a:t>Choose 3 words and write a sentence for each.</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Word Matrix — Review Answers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Root: 'scope' = look; view; examine</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Here are more words this matrix can build. Did you find them?</a:t>
            </a:r>
            <a:endParaRPr lang="en-US" sz="1300" dirty="0"/>
          </a:p>
        </p:txBody>
      </p:sp>
      <p:sp>
        <p:nvSpPr>
          <p:cNvPr id="11" name="Shape 9"/>
          <p:cNvSpPr/>
          <p:nvPr/>
        </p:nvSpPr>
        <p:spPr>
          <a:xfrm>
            <a:off x="1051560" y="1143000"/>
            <a:ext cx="2194560" cy="402336"/>
          </a:xfrm>
          <a:prstGeom prst="rect">
            <a:avLst>
              <a:gd name="adj" fmla="val 13636"/>
            </a:avLst>
          </a:prstGeom>
          <a:solidFill>
            <a:srgbClr val="7C3AED"/>
          </a:solidFill>
          <a:ln w="12700">
            <a:solidFill>
              <a:srgbClr val="7C3AED"/>
            </a:solidFill>
            <a:prstDash val="solid"/>
          </a:ln>
        </p:spPr>
      </p:sp>
      <p:sp>
        <p:nvSpPr>
          <p:cNvPr id="12" name="Text 10"/>
          <p:cNvSpPr/>
          <p:nvPr/>
        </p:nvSpPr>
        <p:spPr>
          <a:xfrm>
            <a:off x="1051560" y="1143000"/>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Prefixes</a:t>
            </a:r>
            <a:endParaRPr lang="en-US" sz="1200" dirty="0"/>
          </a:p>
        </p:txBody>
      </p:sp>
      <p:sp>
        <p:nvSpPr>
          <p:cNvPr id="13" name="Shape 11"/>
          <p:cNvSpPr/>
          <p:nvPr/>
        </p:nvSpPr>
        <p:spPr>
          <a:xfrm>
            <a:off x="1051560" y="1581912"/>
            <a:ext cx="2194560" cy="292608"/>
          </a:xfrm>
          <a:prstGeom prst="rect">
            <a:avLst/>
          </a:prstGeom>
          <a:solidFill>
            <a:srgbClr val="DDD6FE"/>
          </a:solidFill>
          <a:ln w="9525">
            <a:solidFill>
              <a:srgbClr val="E2E8F0"/>
            </a:solidFill>
            <a:prstDash val="solid"/>
          </a:ln>
        </p:spPr>
      </p:sp>
      <p:sp>
        <p:nvSpPr>
          <p:cNvPr id="14" name="Text 12"/>
          <p:cNvSpPr/>
          <p:nvPr/>
        </p:nvSpPr>
        <p:spPr>
          <a:xfrm>
            <a:off x="1051560" y="1581912"/>
            <a:ext cx="2194560" cy="292608"/>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5" name="Shape 13"/>
          <p:cNvSpPr/>
          <p:nvPr/>
        </p:nvSpPr>
        <p:spPr>
          <a:xfrm>
            <a:off x="1051560" y="1911096"/>
            <a:ext cx="2194560" cy="292608"/>
          </a:xfrm>
          <a:prstGeom prst="rect">
            <a:avLst/>
          </a:prstGeom>
          <a:solidFill>
            <a:srgbClr val="DDD6FE"/>
          </a:solidFill>
          <a:ln w="9525">
            <a:solidFill>
              <a:srgbClr val="E2E8F0"/>
            </a:solidFill>
            <a:prstDash val="solid"/>
          </a:ln>
        </p:spPr>
      </p:sp>
      <p:sp>
        <p:nvSpPr>
          <p:cNvPr id="16" name="Text 14"/>
          <p:cNvSpPr/>
          <p:nvPr/>
        </p:nvSpPr>
        <p:spPr>
          <a:xfrm>
            <a:off x="1051560" y="1911096"/>
            <a:ext cx="2194560" cy="292608"/>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gyro-</a:t>
            </a:r>
            <a:endParaRPr lang="en-US" sz="1300" dirty="0"/>
          </a:p>
        </p:txBody>
      </p:sp>
      <p:sp>
        <p:nvSpPr>
          <p:cNvPr id="17" name="Shape 15"/>
          <p:cNvSpPr/>
          <p:nvPr/>
        </p:nvSpPr>
        <p:spPr>
          <a:xfrm>
            <a:off x="1051560" y="2240280"/>
            <a:ext cx="2194560" cy="292608"/>
          </a:xfrm>
          <a:prstGeom prst="rect">
            <a:avLst/>
          </a:prstGeom>
          <a:solidFill>
            <a:srgbClr val="DDD6FE"/>
          </a:solidFill>
          <a:ln w="9525">
            <a:solidFill>
              <a:srgbClr val="E2E8F0"/>
            </a:solidFill>
            <a:prstDash val="solid"/>
          </a:ln>
        </p:spPr>
      </p:sp>
      <p:sp>
        <p:nvSpPr>
          <p:cNvPr id="18" name="Text 16"/>
          <p:cNvSpPr/>
          <p:nvPr/>
        </p:nvSpPr>
        <p:spPr>
          <a:xfrm>
            <a:off x="1051560" y="2240280"/>
            <a:ext cx="2194560" cy="292608"/>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peri-</a:t>
            </a:r>
            <a:endParaRPr lang="en-US" sz="1300" dirty="0"/>
          </a:p>
        </p:txBody>
      </p:sp>
      <p:sp>
        <p:nvSpPr>
          <p:cNvPr id="19" name="Shape 17"/>
          <p:cNvSpPr/>
          <p:nvPr/>
        </p:nvSpPr>
        <p:spPr>
          <a:xfrm>
            <a:off x="1051560" y="2569464"/>
            <a:ext cx="2194560" cy="292608"/>
          </a:xfrm>
          <a:prstGeom prst="rect">
            <a:avLst/>
          </a:prstGeom>
          <a:solidFill>
            <a:srgbClr val="DDD6FE"/>
          </a:solidFill>
          <a:ln w="9525">
            <a:solidFill>
              <a:srgbClr val="E2E8F0"/>
            </a:solidFill>
            <a:prstDash val="solid"/>
          </a:ln>
        </p:spPr>
      </p:sp>
      <p:sp>
        <p:nvSpPr>
          <p:cNvPr id="20" name="Text 18"/>
          <p:cNvSpPr/>
          <p:nvPr/>
        </p:nvSpPr>
        <p:spPr>
          <a:xfrm>
            <a:off x="1051560" y="2569464"/>
            <a:ext cx="2194560" cy="292608"/>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horo-</a:t>
            </a:r>
            <a:endParaRPr lang="en-US" sz="1300" dirty="0"/>
          </a:p>
        </p:txBody>
      </p:sp>
      <p:sp>
        <p:nvSpPr>
          <p:cNvPr id="21" name="Shape 19"/>
          <p:cNvSpPr/>
          <p:nvPr/>
        </p:nvSpPr>
        <p:spPr>
          <a:xfrm>
            <a:off x="1051560" y="2898648"/>
            <a:ext cx="2194560" cy="292608"/>
          </a:xfrm>
          <a:prstGeom prst="rect">
            <a:avLst/>
          </a:prstGeom>
          <a:solidFill>
            <a:srgbClr val="DDD6FE"/>
          </a:solidFill>
          <a:ln w="9525">
            <a:solidFill>
              <a:srgbClr val="E2E8F0"/>
            </a:solidFill>
            <a:prstDash val="solid"/>
          </a:ln>
        </p:spPr>
      </p:sp>
      <p:sp>
        <p:nvSpPr>
          <p:cNvPr id="22" name="Text 20"/>
          <p:cNvSpPr/>
          <p:nvPr/>
        </p:nvSpPr>
        <p:spPr>
          <a:xfrm>
            <a:off x="1051560" y="2898648"/>
            <a:ext cx="2194560" cy="292608"/>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micro-</a:t>
            </a:r>
            <a:endParaRPr lang="en-US" sz="1300" dirty="0"/>
          </a:p>
        </p:txBody>
      </p:sp>
      <p:sp>
        <p:nvSpPr>
          <p:cNvPr id="23" name="Shape 21"/>
          <p:cNvSpPr/>
          <p:nvPr/>
        </p:nvSpPr>
        <p:spPr>
          <a:xfrm>
            <a:off x="3474720" y="1143000"/>
            <a:ext cx="2194560" cy="402336"/>
          </a:xfrm>
          <a:prstGeom prst="rect">
            <a:avLst>
              <a:gd name="adj" fmla="val 13636"/>
            </a:avLst>
          </a:prstGeom>
          <a:solidFill>
            <a:srgbClr val="0D9488"/>
          </a:solidFill>
          <a:ln w="12700">
            <a:solidFill>
              <a:srgbClr val="0D9488"/>
            </a:solidFill>
            <a:prstDash val="solid"/>
          </a:ln>
        </p:spPr>
      </p:sp>
      <p:sp>
        <p:nvSpPr>
          <p:cNvPr id="24" name="Text 22"/>
          <p:cNvSpPr/>
          <p:nvPr/>
        </p:nvSpPr>
        <p:spPr>
          <a:xfrm>
            <a:off x="3474720" y="1143000"/>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Roots</a:t>
            </a:r>
            <a:endParaRPr lang="en-US" sz="1200" dirty="0"/>
          </a:p>
        </p:txBody>
      </p:sp>
      <p:sp>
        <p:nvSpPr>
          <p:cNvPr id="25" name="Shape 23"/>
          <p:cNvSpPr/>
          <p:nvPr/>
        </p:nvSpPr>
        <p:spPr>
          <a:xfrm>
            <a:off x="3474720" y="1581912"/>
            <a:ext cx="2194560" cy="292608"/>
          </a:xfrm>
          <a:prstGeom prst="rect">
            <a:avLst/>
          </a:prstGeom>
          <a:solidFill>
            <a:srgbClr val="CCFBF1"/>
          </a:solidFill>
          <a:ln w="25400">
            <a:solidFill>
              <a:srgbClr val="0D9488"/>
            </a:solidFill>
            <a:prstDash val="solid"/>
          </a:ln>
        </p:spPr>
      </p:sp>
      <p:sp>
        <p:nvSpPr>
          <p:cNvPr id="26" name="Text 24"/>
          <p:cNvSpPr/>
          <p:nvPr/>
        </p:nvSpPr>
        <p:spPr>
          <a:xfrm>
            <a:off x="3474720" y="1581912"/>
            <a:ext cx="2194560" cy="292608"/>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7" name="Shape 25"/>
          <p:cNvSpPr/>
          <p:nvPr/>
        </p:nvSpPr>
        <p:spPr>
          <a:xfrm>
            <a:off x="3474720" y="1911096"/>
            <a:ext cx="2194560" cy="292608"/>
          </a:xfrm>
          <a:prstGeom prst="rect">
            <a:avLst/>
          </a:prstGeom>
          <a:solidFill>
            <a:srgbClr val="F1F5F9"/>
          </a:solidFill>
          <a:ln w="9525">
            <a:solidFill>
              <a:srgbClr val="E2E8F0"/>
            </a:solidFill>
            <a:prstDash val="solid"/>
          </a:ln>
        </p:spPr>
      </p:sp>
      <p:sp>
        <p:nvSpPr>
          <p:cNvPr id="28" name="Shape 26"/>
          <p:cNvSpPr/>
          <p:nvPr/>
        </p:nvSpPr>
        <p:spPr>
          <a:xfrm>
            <a:off x="3474720" y="2240280"/>
            <a:ext cx="2194560" cy="292608"/>
          </a:xfrm>
          <a:prstGeom prst="rect">
            <a:avLst/>
          </a:prstGeom>
          <a:solidFill>
            <a:srgbClr val="F8FAFC"/>
          </a:solidFill>
          <a:ln w="9525">
            <a:solidFill>
              <a:srgbClr val="E2E8F0"/>
            </a:solidFill>
            <a:prstDash val="solid"/>
          </a:ln>
        </p:spPr>
      </p:sp>
      <p:sp>
        <p:nvSpPr>
          <p:cNvPr id="29" name="Shape 27"/>
          <p:cNvSpPr/>
          <p:nvPr/>
        </p:nvSpPr>
        <p:spPr>
          <a:xfrm>
            <a:off x="3474720" y="2569464"/>
            <a:ext cx="2194560" cy="292608"/>
          </a:xfrm>
          <a:prstGeom prst="rect">
            <a:avLst/>
          </a:prstGeom>
          <a:solidFill>
            <a:srgbClr val="F1F5F9"/>
          </a:solidFill>
          <a:ln w="9525">
            <a:solidFill>
              <a:srgbClr val="E2E8F0"/>
            </a:solidFill>
            <a:prstDash val="solid"/>
          </a:ln>
        </p:spPr>
      </p:sp>
      <p:sp>
        <p:nvSpPr>
          <p:cNvPr id="30" name="Shape 28"/>
          <p:cNvSpPr/>
          <p:nvPr/>
        </p:nvSpPr>
        <p:spPr>
          <a:xfrm>
            <a:off x="3474720" y="2898648"/>
            <a:ext cx="2194560" cy="292608"/>
          </a:xfrm>
          <a:prstGeom prst="rect">
            <a:avLst/>
          </a:prstGeom>
          <a:solidFill>
            <a:srgbClr val="F8FAFC"/>
          </a:solidFill>
          <a:ln w="9525">
            <a:solidFill>
              <a:srgbClr val="E2E8F0"/>
            </a:solidFill>
            <a:prstDash val="solid"/>
          </a:ln>
        </p:spPr>
      </p:sp>
      <p:sp>
        <p:nvSpPr>
          <p:cNvPr id="31" name="Shape 29"/>
          <p:cNvSpPr/>
          <p:nvPr/>
        </p:nvSpPr>
        <p:spPr>
          <a:xfrm>
            <a:off x="5897880" y="1143000"/>
            <a:ext cx="2194560" cy="402336"/>
          </a:xfrm>
          <a:prstGeom prst="rect">
            <a:avLst>
              <a:gd name="adj" fmla="val 13636"/>
            </a:avLst>
          </a:prstGeom>
          <a:solidFill>
            <a:srgbClr val="DB2777"/>
          </a:solidFill>
          <a:ln w="12700">
            <a:solidFill>
              <a:srgbClr val="DB2777"/>
            </a:solidFill>
            <a:prstDash val="solid"/>
          </a:ln>
        </p:spPr>
      </p:sp>
      <p:sp>
        <p:nvSpPr>
          <p:cNvPr id="32" name="Text 30"/>
          <p:cNvSpPr/>
          <p:nvPr/>
        </p:nvSpPr>
        <p:spPr>
          <a:xfrm>
            <a:off x="5897880" y="1143000"/>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Suffixes</a:t>
            </a:r>
            <a:endParaRPr lang="en-US" sz="1200" dirty="0"/>
          </a:p>
        </p:txBody>
      </p:sp>
      <p:sp>
        <p:nvSpPr>
          <p:cNvPr id="33" name="Shape 31"/>
          <p:cNvSpPr/>
          <p:nvPr/>
        </p:nvSpPr>
        <p:spPr>
          <a:xfrm>
            <a:off x="5897880" y="1581912"/>
            <a:ext cx="2194560" cy="292608"/>
          </a:xfrm>
          <a:prstGeom prst="rect">
            <a:avLst/>
          </a:prstGeom>
          <a:solidFill>
            <a:srgbClr val="FCE7F3"/>
          </a:solidFill>
          <a:ln w="9525">
            <a:solidFill>
              <a:srgbClr val="E2E8F0"/>
            </a:solidFill>
            <a:prstDash val="solid"/>
          </a:ln>
        </p:spPr>
      </p:sp>
      <p:sp>
        <p:nvSpPr>
          <p:cNvPr id="34" name="Text 32"/>
          <p:cNvSpPr/>
          <p:nvPr/>
        </p:nvSpPr>
        <p:spPr>
          <a:xfrm>
            <a:off x="5897880" y="1581912"/>
            <a:ext cx="2194560" cy="292608"/>
          </a:xfrm>
          <a:prstGeom prst="rect">
            <a:avLst/>
          </a:prstGeom>
          <a:noFill/>
          <a:ln/>
        </p:spPr>
        <p:txBody>
          <a:bodyPr wrap="square" lIns="0" tIns="0" rIns="0" bIns="0" rtlCol="0" anchor="ct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-ic</a:t>
            </a:r>
            <a:endParaRPr lang="en-US" sz="1300" dirty="0"/>
          </a:p>
        </p:txBody>
      </p:sp>
      <p:sp>
        <p:nvSpPr>
          <p:cNvPr id="35" name="Shape 33"/>
          <p:cNvSpPr/>
          <p:nvPr/>
        </p:nvSpPr>
        <p:spPr>
          <a:xfrm>
            <a:off x="5897880" y="1911096"/>
            <a:ext cx="2194560" cy="292608"/>
          </a:xfrm>
          <a:prstGeom prst="rect">
            <a:avLst/>
          </a:prstGeom>
          <a:solidFill>
            <a:srgbClr val="F1F5F9"/>
          </a:solidFill>
          <a:ln w="9525">
            <a:solidFill>
              <a:srgbClr val="E2E8F0"/>
            </a:solidFill>
            <a:prstDash val="solid"/>
          </a:ln>
        </p:spPr>
      </p:sp>
      <p:sp>
        <p:nvSpPr>
          <p:cNvPr id="36" name="Shape 34"/>
          <p:cNvSpPr/>
          <p:nvPr/>
        </p:nvSpPr>
        <p:spPr>
          <a:xfrm>
            <a:off x="5897880" y="2240280"/>
            <a:ext cx="2194560" cy="292608"/>
          </a:xfrm>
          <a:prstGeom prst="rect">
            <a:avLst/>
          </a:prstGeom>
          <a:solidFill>
            <a:srgbClr val="F8FAFC"/>
          </a:solidFill>
          <a:ln w="9525">
            <a:solidFill>
              <a:srgbClr val="E2E8F0"/>
            </a:solidFill>
            <a:prstDash val="solid"/>
          </a:ln>
        </p:spPr>
      </p:sp>
      <p:sp>
        <p:nvSpPr>
          <p:cNvPr id="37" name="Shape 35"/>
          <p:cNvSpPr/>
          <p:nvPr/>
        </p:nvSpPr>
        <p:spPr>
          <a:xfrm>
            <a:off x="5897880" y="2569464"/>
            <a:ext cx="2194560" cy="292608"/>
          </a:xfrm>
          <a:prstGeom prst="rect">
            <a:avLst/>
          </a:prstGeom>
          <a:solidFill>
            <a:srgbClr val="F1F5F9"/>
          </a:solidFill>
          <a:ln w="9525">
            <a:solidFill>
              <a:srgbClr val="E2E8F0"/>
            </a:solidFill>
            <a:prstDash val="solid"/>
          </a:ln>
        </p:spPr>
      </p:sp>
      <p:sp>
        <p:nvSpPr>
          <p:cNvPr id="38" name="Shape 36"/>
          <p:cNvSpPr/>
          <p:nvPr/>
        </p:nvSpPr>
        <p:spPr>
          <a:xfrm>
            <a:off x="5897880" y="2898648"/>
            <a:ext cx="2194560" cy="292608"/>
          </a:xfrm>
          <a:prstGeom prst="rect">
            <a:avLst/>
          </a:prstGeom>
          <a:solidFill>
            <a:srgbClr val="F8FAFC"/>
          </a:solidFill>
          <a:ln w="9525">
            <a:solidFill>
              <a:srgbClr val="E2E8F0"/>
            </a:solidFill>
            <a:prstDash val="solid"/>
          </a:ln>
        </p:spPr>
      </p:sp>
      <p:sp>
        <p:nvSpPr>
          <p:cNvPr id="39" name="Text 37"/>
          <p:cNvSpPr/>
          <p:nvPr/>
        </p:nvSpPr>
        <p:spPr>
          <a:xfrm>
            <a:off x="365760" y="3319272"/>
            <a:ext cx="1828800" cy="329184"/>
          </a:xfrm>
          <a:prstGeom prst="rect">
            <a:avLst/>
          </a:prstGeom>
          <a:noFill/>
          <a:ln/>
        </p:spPr>
        <p:txBody>
          <a:bodyPr wrap="square" lIns="0" tIns="0" rIns="0" bIns="0" rtlCol="0" anchor="ctr"/>
          <a:lstStyle/>
          <a:p>
            <a:pPr algn="l" indent="0" marL="0">
              <a:buNone/>
            </a:pPr>
            <a:r>
              <a:rPr lang="en-US" sz="1200" b="1" dirty="0">
                <a:solidFill>
                  <a:srgbClr val="0F172A"/>
                </a:solidFill>
                <a:latin typeface="Trebuchet MS" pitchFamily="34" charset="0"/>
                <a:ea typeface="Trebuchet MS" pitchFamily="34" charset="-122"/>
                <a:cs typeface="Trebuchet MS" pitchFamily="34" charset="-120"/>
              </a:rPr>
              <a:t>Sample words:</a:t>
            </a:r>
            <a:endParaRPr lang="en-US" sz="1200" dirty="0"/>
          </a:p>
        </p:txBody>
      </p:sp>
      <p:sp>
        <p:nvSpPr>
          <p:cNvPr id="40" name="Shape 38"/>
          <p:cNvSpPr/>
          <p:nvPr/>
        </p:nvSpPr>
        <p:spPr>
          <a:xfrm>
            <a:off x="365760" y="3685032"/>
            <a:ext cx="2011680" cy="365760"/>
          </a:xfrm>
          <a:prstGeom prst="rect">
            <a:avLst>
              <a:gd name="adj" fmla="val 15000"/>
            </a:avLst>
          </a:prstGeom>
          <a:solidFill>
            <a:srgbClr val="EEF2FF"/>
          </a:solidFill>
          <a:ln w="12700">
            <a:solidFill>
              <a:srgbClr val="6366F1"/>
            </a:solidFill>
            <a:prstDash val="solid"/>
          </a:ln>
        </p:spPr>
      </p:sp>
      <p:sp>
        <p:nvSpPr>
          <p:cNvPr id="41" name="Text 39"/>
          <p:cNvSpPr/>
          <p:nvPr/>
        </p:nvSpPr>
        <p:spPr>
          <a:xfrm>
            <a:off x="365760" y="3685032"/>
            <a:ext cx="2011680" cy="365760"/>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microscopic</a:t>
            </a:r>
            <a:endParaRPr lang="en-US" sz="1200" dirty="0"/>
          </a:p>
        </p:txBody>
      </p:sp>
      <p:sp>
        <p:nvSpPr>
          <p:cNvPr id="42" name="Shape 40"/>
          <p:cNvSpPr/>
          <p:nvPr/>
        </p:nvSpPr>
        <p:spPr>
          <a:xfrm>
            <a:off x="2542032" y="3685032"/>
            <a:ext cx="2011680" cy="365760"/>
          </a:xfrm>
          <a:prstGeom prst="rect">
            <a:avLst>
              <a:gd name="adj" fmla="val 15000"/>
            </a:avLst>
          </a:prstGeom>
          <a:solidFill>
            <a:srgbClr val="EEF2FF"/>
          </a:solidFill>
          <a:ln w="12700">
            <a:solidFill>
              <a:srgbClr val="6366F1"/>
            </a:solidFill>
            <a:prstDash val="solid"/>
          </a:ln>
        </p:spPr>
      </p:sp>
      <p:sp>
        <p:nvSpPr>
          <p:cNvPr id="43" name="Text 41"/>
          <p:cNvSpPr/>
          <p:nvPr/>
        </p:nvSpPr>
        <p:spPr>
          <a:xfrm>
            <a:off x="2542032" y="3685032"/>
            <a:ext cx="2011680" cy="365760"/>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telescopic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Word Labs — Root 'scope' — Teaching Deck</dc:title>
  <dc:subject>PptxGenJS Presentation</dc:subject>
  <dc:creator>Word Labs</dc:creator>
  <cp:lastModifiedBy>Word Labs</cp:lastModifiedBy>
  <cp:revision>1</cp:revision>
  <dcterms:created xsi:type="dcterms:W3CDTF">2026-10-22T10:14:34Z</dcterms:created>
  <dcterms:modified xsi:type="dcterms:W3CDTF">2026-10-22T10:14:34Z</dcterms:modified>
</cp:coreProperties>
</file>