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Only 9 word families with 'tele-' suit Years 3–7, so Day 3 has 1 dictation word instead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 statements, corrected:
'telecommunications' really means 'the sending of messages or signals over long distances, such as by phone or internet'.
'television' really means 'a device that receives and shows moving pictures and sound as a broadcast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I wish I could teleport to Grandma's house instead of just talking to her on the telephone.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On a clear night, we set up the telescope in the backyard and spotted craters on the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D9488"/>
            </a:solidFill>
            <a:prstDash val="solid"/>
          </a:ln>
        </p:spPr>
      </p:sp>
      <p:sp>
        <p:nvSpPr>
          <p:cNvPr id="3" name="Shape 1"/>
          <p:cNvSpPr/>
          <p:nvPr/>
        </p:nvSpPr>
        <p:spPr>
          <a:xfrm>
            <a:off x="0" y="3931920"/>
            <a:ext cx="9144000" cy="1211580"/>
          </a:xfrm>
          <a:prstGeom prst="rect">
            <a:avLst/>
          </a:prstGeom>
          <a:solidFill>
            <a:srgbClr val="0F172A"/>
          </a:solidFill>
          <a:ln w="12700">
            <a:solidFill>
              <a:srgbClr val="0F172A"/>
            </a:solidFill>
            <a:prstDash val="solid"/>
          </a:ln>
        </p:spPr>
      </p:sp>
      <p:sp>
        <p:nvSpPr>
          <p:cNvPr id="4" name="Text 2"/>
          <p:cNvSpPr/>
          <p:nvPr/>
        </p:nvSpPr>
        <p:spPr>
          <a:xfrm>
            <a:off x="457200" y="502920"/>
            <a:ext cx="8229600" cy="502920"/>
          </a:xfrm>
          <a:prstGeom prst="rect">
            <a:avLst/>
          </a:prstGeom>
          <a:noFill/>
          <a:ln/>
        </p:spPr>
        <p:txBody>
          <a:bodyPr wrap="square" lIns="0" tIns="0" rIns="0" bIns="0" rtlCol="0" anchor="ctr"/>
          <a:lstStyle/>
          <a:p>
            <a:pPr algn="l" indent="0" marL="0">
              <a:buNone/>
            </a:pPr>
            <a:r>
              <a:rPr lang="en-US" sz="1300" b="1" spc="800" kern="0" dirty="0">
                <a:solidFill>
                  <a:srgbClr val="0D9488"/>
                </a:solidFill>
                <a:latin typeface="Trebuchet MS" pitchFamily="34" charset="0"/>
                <a:ea typeface="Trebuchet MS" pitchFamily="34" charset="-122"/>
                <a:cs typeface="Trebuchet MS" pitchFamily="34" charset="-120"/>
              </a:rPr>
              <a:t>WORD LABS</a:t>
            </a:r>
            <a:endParaRPr lang="en-US" sz="1300" dirty="0"/>
          </a:p>
        </p:txBody>
      </p:sp>
      <p:sp>
        <p:nvSpPr>
          <p:cNvPr id="5" name="Text 3"/>
          <p:cNvSpPr/>
          <p:nvPr/>
        </p:nvSpPr>
        <p:spPr>
          <a:xfrm>
            <a:off x="457200" y="1005840"/>
            <a:ext cx="8229600" cy="1280160"/>
          </a:xfrm>
          <a:prstGeom prst="rect">
            <a:avLst/>
          </a:prstGeom>
          <a:noFill/>
          <a:ln/>
        </p:spPr>
        <p:txBody>
          <a:bodyPr wrap="square" lIns="0" tIns="0" rIns="0" bIns="0" rtlCol="0" anchor="t">
            <a:normAutofit/>
          </a:bodyPr>
          <a:lstStyle/>
          <a:p>
            <a:pPr algn="l" indent="0" marL="0">
              <a:buNone/>
            </a:pPr>
            <a:r>
              <a:rPr lang="en-US" sz="6400" b="1" dirty="0">
                <a:solidFill>
                  <a:srgbClr val="FFFFFF"/>
                </a:solidFill>
                <a:latin typeface="Trebuchet MS" pitchFamily="34" charset="0"/>
                <a:ea typeface="Trebuchet MS" pitchFamily="34" charset="-122"/>
                <a:cs typeface="Trebuchet MS" pitchFamily="34" charset="-120"/>
              </a:rPr>
              <a:t>Prefix: 'tele-'</a:t>
            </a:r>
            <a:endParaRPr lang="en-US" sz="6400" dirty="0"/>
          </a:p>
        </p:txBody>
      </p:sp>
      <p:sp>
        <p:nvSpPr>
          <p:cNvPr id="6" name="Text 4"/>
          <p:cNvSpPr/>
          <p:nvPr/>
        </p:nvSpPr>
        <p:spPr>
          <a:xfrm>
            <a:off x="457200" y="2331720"/>
            <a:ext cx="8229600" cy="548640"/>
          </a:xfrm>
          <a:prstGeom prst="rect">
            <a:avLst/>
          </a:prstGeom>
          <a:noFill/>
          <a:ln/>
        </p:spPr>
        <p:txBody>
          <a:bodyPr wrap="square" rtlCol="0" anchor="ctr">
            <a:normAutofit/>
          </a:bodyPr>
          <a:lstStyle/>
          <a:p>
            <a:pPr algn="l" indent="0" marL="0">
              <a:buNone/>
            </a:pPr>
            <a:r>
              <a:rPr lang="en-US" sz="2200" i="1" dirty="0">
                <a:solidFill>
                  <a:srgbClr val="A5B4FC"/>
                </a:solidFill>
                <a:latin typeface="Calibri" pitchFamily="34" charset="0"/>
                <a:ea typeface="Calibri" pitchFamily="34" charset="-122"/>
                <a:cs typeface="Calibri" pitchFamily="34" charset="-120"/>
              </a:rPr>
              <a:t>"far; distant"</a:t>
            </a:r>
            <a:endParaRPr lang="en-US" sz="2200" dirty="0"/>
          </a:p>
        </p:txBody>
      </p:sp>
      <p:sp>
        <p:nvSpPr>
          <p:cNvPr id="7" name="Text 5"/>
          <p:cNvSpPr/>
          <p:nvPr/>
        </p:nvSpPr>
        <p:spPr>
          <a:xfrm>
            <a:off x="457200" y="2926080"/>
            <a:ext cx="4572000" cy="365760"/>
          </a:xfrm>
          <a:prstGeom prst="rect">
            <a:avLst/>
          </a:prstGeom>
          <a:noFill/>
          <a:ln/>
        </p:spPr>
        <p:txBody>
          <a:bodyPr wrap="square" lIns="0" tIns="0" rIns="0" bIns="0" rtlCol="0" anchor="ctr"/>
          <a:lstStyle/>
          <a:p>
            <a:pPr algn="l" indent="0" marL="0">
              <a:buNone/>
            </a:pPr>
            <a:r>
              <a:rPr lang="en-US" sz="1300" dirty="0">
                <a:solidFill>
                  <a:srgbClr val="818CF8"/>
                </a:solidFill>
                <a:latin typeface="Calibri" pitchFamily="34" charset="0"/>
                <a:ea typeface="Calibri" pitchFamily="34" charset="-122"/>
                <a:cs typeface="Calibri" pitchFamily="34" charset="-120"/>
              </a:rPr>
              <a:t>Origin: Greek</a:t>
            </a:r>
            <a:endParaRPr lang="en-US" sz="1300" dirty="0"/>
          </a:p>
        </p:txBody>
      </p:sp>
      <p:sp>
        <p:nvSpPr>
          <p:cNvPr id="8" name="Shape 6"/>
          <p:cNvSpPr/>
          <p:nvPr/>
        </p:nvSpPr>
        <p:spPr>
          <a:xfrm>
            <a:off x="457200" y="3401568"/>
            <a:ext cx="4023360" cy="329184"/>
          </a:xfrm>
          <a:prstGeom prst="rect">
            <a:avLst>
              <a:gd name="adj" fmla="val 16667"/>
            </a:avLst>
          </a:prstGeom>
          <a:solidFill>
            <a:srgbClr val="0D9488"/>
          </a:solidFill>
          <a:ln w="12700">
            <a:solidFill>
              <a:srgbClr val="0D9488"/>
            </a:solidFill>
            <a:prstDash val="solid"/>
          </a:ln>
        </p:spPr>
      </p:sp>
      <p:sp>
        <p:nvSpPr>
          <p:cNvPr id="9" name="Text 7"/>
          <p:cNvSpPr/>
          <p:nvPr/>
        </p:nvSpPr>
        <p:spPr>
          <a:xfrm>
            <a:off x="457200" y="3401568"/>
            <a:ext cx="402336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 1 — Morpheme Meaning</a:t>
            </a:r>
            <a:endParaRPr lang="en-US" sz="1100" dirty="0"/>
          </a:p>
        </p:txBody>
      </p:sp>
      <p:sp>
        <p:nvSpPr>
          <p:cNvPr id="10" name="Shape 8"/>
          <p:cNvSpPr/>
          <p:nvPr/>
        </p:nvSpPr>
        <p:spPr>
          <a:xfrm>
            <a:off x="457200" y="3858768"/>
            <a:ext cx="4023360" cy="329184"/>
          </a:xfrm>
          <a:prstGeom prst="rect">
            <a:avLst>
              <a:gd name="adj" fmla="val 16667"/>
            </a:avLst>
          </a:prstGeom>
          <a:solidFill>
            <a:srgbClr val="1E1B4B"/>
          </a:solidFill>
          <a:ln w="12700">
            <a:solidFill>
              <a:srgbClr val="6366F1"/>
            </a:solidFill>
            <a:prstDash val="solid"/>
          </a:ln>
        </p:spPr>
      </p:sp>
      <p:sp>
        <p:nvSpPr>
          <p:cNvPr id="11" name="Text 9"/>
          <p:cNvSpPr/>
          <p:nvPr/>
        </p:nvSpPr>
        <p:spPr>
          <a:xfrm>
            <a:off x="457200" y="3858768"/>
            <a:ext cx="4023360" cy="329184"/>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Day 2 — Dictation &amp; Breakdown</a:t>
            </a:r>
            <a:endParaRPr lang="en-US" sz="1100" dirty="0"/>
          </a:p>
        </p:txBody>
      </p:sp>
      <p:sp>
        <p:nvSpPr>
          <p:cNvPr id="12" name="Shape 10"/>
          <p:cNvSpPr/>
          <p:nvPr/>
        </p:nvSpPr>
        <p:spPr>
          <a:xfrm>
            <a:off x="457200" y="4242816"/>
            <a:ext cx="4023360" cy="329184"/>
          </a:xfrm>
          <a:prstGeom prst="rect">
            <a:avLst>
              <a:gd name="adj" fmla="val 16667"/>
            </a:avLst>
          </a:prstGeom>
          <a:solidFill>
            <a:srgbClr val="1E1B4B"/>
          </a:solidFill>
          <a:ln w="12700">
            <a:solidFill>
              <a:srgbClr val="6366F1"/>
            </a:solidFill>
            <a:prstDash val="solid"/>
          </a:ln>
        </p:spPr>
      </p:sp>
      <p:sp>
        <p:nvSpPr>
          <p:cNvPr id="13" name="Text 11"/>
          <p:cNvSpPr/>
          <p:nvPr/>
        </p:nvSpPr>
        <p:spPr>
          <a:xfrm>
            <a:off x="457200" y="4242816"/>
            <a:ext cx="4023360" cy="329184"/>
          </a:xfrm>
          <a:prstGeom prst="rect">
            <a:avLst/>
          </a:prstGeom>
          <a:noFill/>
          <a:ln/>
        </p:spPr>
        <p:txBody>
          <a:bodyPr wrap="square" lIns="0" tIns="0" rIns="0" bIns="0" rtlCol="0" anchor="ctr"/>
          <a:lstStyle/>
          <a:p>
            <a:pPr algn="ctr" indent="0" marL="0">
              <a:buNone/>
            </a:pPr>
            <a:r>
              <a:rPr lang="en-US" sz="1100" dirty="0">
                <a:solidFill>
                  <a:srgbClr val="A5B4FC"/>
                </a:solidFill>
                <a:latin typeface="Calibri" pitchFamily="34" charset="0"/>
                <a:ea typeface="Calibri" pitchFamily="34" charset="-122"/>
                <a:cs typeface="Calibri" pitchFamily="34" charset="-120"/>
              </a:rPr>
              <a:t>Day 3 — Dictation &amp; Word Matrix</a:t>
            </a:r>
            <a:endParaRPr lang="en-US" sz="1100" dirty="0"/>
          </a:p>
        </p:txBody>
      </p:sp>
      <p:sp>
        <p:nvSpPr>
          <p:cNvPr id="14" name="Text 12"/>
          <p:cNvSpPr/>
          <p:nvPr/>
        </p:nvSpPr>
        <p:spPr>
          <a:xfrm>
            <a:off x="4754880" y="4023360"/>
            <a:ext cx="4114800" cy="868680"/>
          </a:xfrm>
          <a:prstGeom prst="rect">
            <a:avLst/>
          </a:prstGeom>
          <a:noFill/>
          <a:ln/>
        </p:spPr>
        <p:txBody>
          <a:bodyPr wrap="square" lIns="0" tIns="0" rIns="0" bIns="0" rtlCol="0" anchor="t">
            <a:normAutofit/>
          </a:bodyPr>
          <a:lstStyle/>
          <a:p>
            <a:pPr algn="l" indent="0" marL="0">
              <a:buNone/>
            </a:pPr>
            <a:r>
              <a:rPr lang="en-US" sz="900" i="1" dirty="0">
                <a:solidFill>
                  <a:srgbClr val="94A3B8"/>
                </a:solidFill>
                <a:latin typeface="Calibri" pitchFamily="34" charset="0"/>
                <a:ea typeface="Calibri" pitchFamily="34" charset="-122"/>
                <a:cs typeface="Calibri" pitchFamily="34" charset="-120"/>
              </a:rPr>
              <a:t>Teacher note: Only 9 word families with 'tele-' suit Years 3–7, so Day 3 has 1 dictation word instead of 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457200" y="1645920"/>
            <a:ext cx="1097280" cy="411480"/>
          </a:xfrm>
          <a:prstGeom prst="rect">
            <a:avLst>
              <a:gd name="adj" fmla="val 17778"/>
            </a:avLst>
          </a:prstGeom>
          <a:solidFill>
            <a:srgbClr val="0D9488"/>
          </a:solidFill>
          <a:ln w="12700">
            <a:solidFill>
              <a:srgbClr val="0D9488"/>
            </a:solidFill>
            <a:prstDash val="solid"/>
          </a:ln>
        </p:spPr>
      </p:sp>
      <p:sp>
        <p:nvSpPr>
          <p:cNvPr id="4" name="Text 2"/>
          <p:cNvSpPr/>
          <p:nvPr/>
        </p:nvSpPr>
        <p:spPr>
          <a:xfrm>
            <a:off x="457200" y="1645920"/>
            <a:ext cx="10972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Day 1</a:t>
            </a:r>
            <a:endParaRPr lang="en-US" sz="1100" dirty="0"/>
          </a:p>
        </p:txBody>
      </p:sp>
      <p:sp>
        <p:nvSpPr>
          <p:cNvPr id="5" name="Text 3"/>
          <p:cNvSpPr/>
          <p:nvPr/>
        </p:nvSpPr>
        <p:spPr>
          <a:xfrm>
            <a:off x="457200" y="2148840"/>
            <a:ext cx="8412480" cy="1280160"/>
          </a:xfrm>
          <a:prstGeom prst="rect">
            <a:avLst/>
          </a:prstGeom>
          <a:noFill/>
          <a:ln/>
        </p:spPr>
        <p:txBody>
          <a:bodyPr wrap="square" lIns="0" tIns="0" rIns="0" bIns="0" rtlCol="0" anchor="t"/>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Morpheme Meaning</a:t>
            </a:r>
            <a:endParaRPr lang="en-US" sz="4400" dirty="0"/>
          </a:p>
        </p:txBody>
      </p:sp>
      <p:sp>
        <p:nvSpPr>
          <p:cNvPr id="6" name="Text 4"/>
          <p:cNvSpPr/>
          <p:nvPr/>
        </p:nvSpPr>
        <p:spPr>
          <a:xfrm>
            <a:off x="457200" y="3474720"/>
            <a:ext cx="8229600" cy="548640"/>
          </a:xfrm>
          <a:prstGeom prst="rect">
            <a:avLst/>
          </a:prstGeom>
          <a:noFill/>
          <a:ln/>
        </p:spPr>
        <p:txBody>
          <a:bodyPr wrap="square" lIns="0" tIns="0" rIns="0" bIns="0" rtlCol="0" anchor="t"/>
          <a:lstStyle/>
          <a:p>
            <a:pPr algn="l" indent="0" marL="0">
              <a:buNone/>
            </a:pPr>
            <a:r>
              <a:rPr lang="en-US" sz="1600" dirty="0">
                <a:solidFill>
                  <a:srgbClr val="A5B4FC"/>
                </a:solidFill>
                <a:latin typeface="Calibri" pitchFamily="34" charset="0"/>
                <a:ea typeface="Calibri" pitchFamily="34" charset="-122"/>
                <a:cs typeface="Calibri" pitchFamily="34" charset="-120"/>
              </a:rPr>
              <a:t>Prefix 'tele-' — far; distant</a:t>
            </a:r>
            <a:endParaRPr lang="en-US" sz="1600" dirty="0"/>
          </a:p>
        </p:txBody>
      </p:sp>
      <p:sp>
        <p:nvSpPr>
          <p:cNvPr id="7" name="Shape 5"/>
          <p:cNvSpPr/>
          <p:nvPr/>
        </p:nvSpPr>
        <p:spPr>
          <a:xfrm>
            <a:off x="0" y="4754880"/>
            <a:ext cx="9144000" cy="388620"/>
          </a:xfrm>
          <a:prstGeom prst="rect">
            <a:avLst/>
          </a:prstGeom>
          <a:solidFill>
            <a:srgbClr val="0F172A"/>
          </a:solidFill>
          <a:ln w="12700">
            <a:solidFill>
              <a:srgbClr val="0F172A"/>
            </a:solidFill>
            <a:prstDash val="solid"/>
          </a:ln>
        </p:spPr>
      </p:sp>
      <p:sp>
        <p:nvSpPr>
          <p:cNvPr id="8" name="Text 6"/>
          <p:cNvSpPr/>
          <p:nvPr/>
        </p:nvSpPr>
        <p:spPr>
          <a:xfrm>
            <a:off x="0" y="4754880"/>
            <a:ext cx="9144000" cy="3886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Word Labs  •  wordlabs.app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Learning Intention &amp; Success Criteria</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822960"/>
            <a:ext cx="8412480" cy="1234440"/>
          </a:xfrm>
          <a:prstGeom prst="rect">
            <a:avLst>
              <a:gd name="adj" fmla="val 7407"/>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502920" y="868680"/>
            <a:ext cx="8138160" cy="1097280"/>
          </a:xfrm>
          <a:prstGeom prst="rect">
            <a:avLst/>
          </a:prstGeom>
          <a:noFill/>
          <a:ln/>
        </p:spPr>
        <p:txBody>
          <a:bodyPr wrap="square" rtlCol="0" anchor="ctr">
            <a:normAutofit/>
          </a:bodyPr>
          <a:lstStyle/>
          <a:p>
            <a:pPr algn="l" indent="0" marL="0">
              <a:buNone/>
            </a:pPr>
            <a:r>
              <a:rPr lang="en-US" sz="1900" b="1" dirty="0">
                <a:solidFill>
                  <a:srgbClr val="4338CA"/>
                </a:solidFill>
                <a:latin typeface="Trebuchet MS" pitchFamily="34" charset="0"/>
                <a:ea typeface="Trebuchet MS" pitchFamily="34" charset="-122"/>
                <a:cs typeface="Trebuchet MS" pitchFamily="34" charset="-120"/>
              </a:rPr>
              <a:t>We are learning that the prefix 'tele-' means 'far; distant' and how it changes the meaning of a word.</a:t>
            </a:r>
            <a:endParaRPr lang="en-US" sz="1900" dirty="0"/>
          </a:p>
        </p:txBody>
      </p:sp>
      <p:sp>
        <p:nvSpPr>
          <p:cNvPr id="12" name="Text 10"/>
          <p:cNvSpPr/>
          <p:nvPr/>
        </p:nvSpPr>
        <p:spPr>
          <a:xfrm>
            <a:off x="365760" y="2194560"/>
            <a:ext cx="8412480" cy="365760"/>
          </a:xfrm>
          <a:prstGeom prst="rect">
            <a:avLst/>
          </a:prstGeom>
          <a:noFill/>
          <a:ln/>
        </p:spPr>
        <p:txBody>
          <a:bodyPr wrap="square" lIns="0" tIns="0" rIns="0" bIns="0" rtlCol="0" anchor="ctr"/>
          <a:lstStyle/>
          <a:p>
            <a:pPr algn="l" indent="0" marL="0">
              <a:buNone/>
            </a:pPr>
            <a:r>
              <a:rPr lang="en-US" sz="1400" b="1" dirty="0">
                <a:solidFill>
                  <a:srgbClr val="0F172A"/>
                </a:solidFill>
                <a:latin typeface="Trebuchet MS" pitchFamily="34" charset="0"/>
                <a:ea typeface="Trebuchet MS" pitchFamily="34" charset="-122"/>
                <a:cs typeface="Trebuchet MS" pitchFamily="34" charset="-120"/>
              </a:rPr>
              <a:t>Success Criteria</a:t>
            </a:r>
            <a:endParaRPr lang="en-US" sz="1400" dirty="0"/>
          </a:p>
        </p:txBody>
      </p:sp>
      <p:sp>
        <p:nvSpPr>
          <p:cNvPr id="13" name="Shape 11"/>
          <p:cNvSpPr/>
          <p:nvPr/>
        </p:nvSpPr>
        <p:spPr>
          <a:xfrm>
            <a:off x="365760" y="2633472"/>
            <a:ext cx="384048" cy="384048"/>
          </a:xfrm>
          <a:prstGeom prst="rect">
            <a:avLst>
              <a:gd name="adj" fmla="val 14286"/>
            </a:avLst>
          </a:prstGeom>
          <a:solidFill>
            <a:srgbClr val="CCFBF1"/>
          </a:solidFill>
          <a:ln w="12700">
            <a:solidFill>
              <a:srgbClr val="0D9488"/>
            </a:solidFill>
            <a:prstDash val="solid"/>
          </a:ln>
        </p:spPr>
      </p:sp>
      <p:sp>
        <p:nvSpPr>
          <p:cNvPr id="14" name="Text 12"/>
          <p:cNvSpPr/>
          <p:nvPr/>
        </p:nvSpPr>
        <p:spPr>
          <a:xfrm>
            <a:off x="365760" y="2633472"/>
            <a:ext cx="384048" cy="38404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a:t>
            </a:r>
            <a:endParaRPr lang="en-US" sz="1400" dirty="0"/>
          </a:p>
        </p:txBody>
      </p:sp>
      <p:sp>
        <p:nvSpPr>
          <p:cNvPr id="15" name="Text 13"/>
          <p:cNvSpPr/>
          <p:nvPr/>
        </p:nvSpPr>
        <p:spPr>
          <a:xfrm>
            <a:off x="841248" y="2633472"/>
            <a:ext cx="7863840" cy="384048"/>
          </a:xfrm>
          <a:prstGeom prst="rect">
            <a:avLst/>
          </a:prstGeom>
          <a:noFill/>
          <a:ln/>
        </p:spPr>
        <p:txBody>
          <a:bodyPr wrap="square" rtlCol="0" anchor="ctr">
            <a:normAutofit/>
          </a:bodyPr>
          <a:lstStyle/>
          <a:p>
            <a:pPr algn="l" indent="0" marL="0">
              <a:buNone/>
            </a:pPr>
            <a:r>
              <a:rPr lang="en-US" sz="1400" dirty="0">
                <a:solidFill>
                  <a:srgbClr val="0F172A"/>
                </a:solidFill>
                <a:latin typeface="Calibri" pitchFamily="34" charset="0"/>
                <a:ea typeface="Calibri" pitchFamily="34" charset="-122"/>
                <a:cs typeface="Calibri" pitchFamily="34" charset="-120"/>
              </a:rPr>
              <a:t>I can explain what the prefix 'tele-' means.</a:t>
            </a:r>
            <a:endParaRPr lang="en-US" sz="1400" dirty="0"/>
          </a:p>
        </p:txBody>
      </p:sp>
      <p:sp>
        <p:nvSpPr>
          <p:cNvPr id="16" name="Shape 14"/>
          <p:cNvSpPr/>
          <p:nvPr/>
        </p:nvSpPr>
        <p:spPr>
          <a:xfrm>
            <a:off x="365760" y="3291840"/>
            <a:ext cx="384048" cy="384048"/>
          </a:xfrm>
          <a:prstGeom prst="rect">
            <a:avLst>
              <a:gd name="adj" fmla="val 14286"/>
            </a:avLst>
          </a:prstGeom>
          <a:solidFill>
            <a:srgbClr val="CCFBF1"/>
          </a:solidFill>
          <a:ln w="12700">
            <a:solidFill>
              <a:srgbClr val="0D9488"/>
            </a:solidFill>
            <a:prstDash val="solid"/>
          </a:ln>
        </p:spPr>
      </p:sp>
      <p:sp>
        <p:nvSpPr>
          <p:cNvPr id="17" name="Text 15"/>
          <p:cNvSpPr/>
          <p:nvPr/>
        </p:nvSpPr>
        <p:spPr>
          <a:xfrm>
            <a:off x="365760" y="3291840"/>
            <a:ext cx="384048" cy="38404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a:t>
            </a:r>
            <a:endParaRPr lang="en-US" sz="1400" dirty="0"/>
          </a:p>
        </p:txBody>
      </p:sp>
      <p:sp>
        <p:nvSpPr>
          <p:cNvPr id="18" name="Text 16"/>
          <p:cNvSpPr/>
          <p:nvPr/>
        </p:nvSpPr>
        <p:spPr>
          <a:xfrm>
            <a:off x="841248" y="3291840"/>
            <a:ext cx="7863840" cy="384048"/>
          </a:xfrm>
          <a:prstGeom prst="rect">
            <a:avLst/>
          </a:prstGeom>
          <a:noFill/>
          <a:ln/>
        </p:spPr>
        <p:txBody>
          <a:bodyPr wrap="square" rtlCol="0" anchor="ctr">
            <a:normAutofit/>
          </a:bodyPr>
          <a:lstStyle/>
          <a:p>
            <a:pPr algn="l" indent="0" marL="0">
              <a:buNone/>
            </a:pPr>
            <a:r>
              <a:rPr lang="en-US" sz="1400" dirty="0">
                <a:solidFill>
                  <a:srgbClr val="0F172A"/>
                </a:solidFill>
                <a:latin typeface="Calibri" pitchFamily="34" charset="0"/>
                <a:ea typeface="Calibri" pitchFamily="34" charset="-122"/>
                <a:cs typeface="Calibri" pitchFamily="34" charset="-120"/>
              </a:rPr>
              <a:t>I can add 'tele-' to a base and explain the new word's meaning.</a:t>
            </a:r>
            <a:endParaRPr lang="en-US" sz="1400" dirty="0"/>
          </a:p>
        </p:txBody>
      </p:sp>
      <p:sp>
        <p:nvSpPr>
          <p:cNvPr id="19" name="Shape 17"/>
          <p:cNvSpPr/>
          <p:nvPr/>
        </p:nvSpPr>
        <p:spPr>
          <a:xfrm>
            <a:off x="365760" y="3950208"/>
            <a:ext cx="384048" cy="384048"/>
          </a:xfrm>
          <a:prstGeom prst="rect">
            <a:avLst>
              <a:gd name="adj" fmla="val 14286"/>
            </a:avLst>
          </a:prstGeom>
          <a:solidFill>
            <a:srgbClr val="CCFBF1"/>
          </a:solidFill>
          <a:ln w="12700">
            <a:solidFill>
              <a:srgbClr val="0D9488"/>
            </a:solidFill>
            <a:prstDash val="solid"/>
          </a:ln>
        </p:spPr>
      </p:sp>
      <p:sp>
        <p:nvSpPr>
          <p:cNvPr id="20" name="Text 18"/>
          <p:cNvSpPr/>
          <p:nvPr/>
        </p:nvSpPr>
        <p:spPr>
          <a:xfrm>
            <a:off x="365760" y="3950208"/>
            <a:ext cx="384048" cy="38404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a:t>
            </a:r>
            <a:endParaRPr lang="en-US" sz="1400" dirty="0"/>
          </a:p>
        </p:txBody>
      </p:sp>
      <p:sp>
        <p:nvSpPr>
          <p:cNvPr id="21" name="Text 19"/>
          <p:cNvSpPr/>
          <p:nvPr/>
        </p:nvSpPr>
        <p:spPr>
          <a:xfrm>
            <a:off x="841248" y="3950208"/>
            <a:ext cx="7863840" cy="384048"/>
          </a:xfrm>
          <a:prstGeom prst="rect">
            <a:avLst/>
          </a:prstGeom>
          <a:noFill/>
          <a:ln/>
        </p:spPr>
        <p:txBody>
          <a:bodyPr wrap="square" rtlCol="0" anchor="ctr">
            <a:normAutofit/>
          </a:bodyPr>
          <a:lstStyle/>
          <a:p>
            <a:pPr algn="l" indent="0" marL="0">
              <a:buNone/>
            </a:pPr>
            <a:r>
              <a:rPr lang="en-US" sz="1400" dirty="0">
                <a:solidFill>
                  <a:srgbClr val="0F172A"/>
                </a:solidFill>
                <a:latin typeface="Calibri" pitchFamily="34" charset="0"/>
                <a:ea typeface="Calibri" pitchFamily="34" charset="-122"/>
                <a:cs typeface="Calibri" pitchFamily="34" charset="-120"/>
              </a:rPr>
              <a:t>I can read and spell 'tele-' words in sentences.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Key Vocabulary</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804672"/>
            <a:ext cx="8412480" cy="1170432"/>
          </a:xfrm>
          <a:prstGeom prst="rect">
            <a:avLst>
              <a:gd name="adj" fmla="val 7813"/>
            </a:avLst>
          </a:prstGeom>
          <a:solidFill>
            <a:srgbClr val="DDD6FE"/>
          </a:solidFill>
          <a:ln w="12700">
            <a:solidFill>
              <a:srgbClr val="7C3AED"/>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65760" y="804672"/>
            <a:ext cx="1280160" cy="1170432"/>
          </a:xfrm>
          <a:prstGeom prst="rect">
            <a:avLst>
              <a:gd name="adj" fmla="val 7813"/>
            </a:avLst>
          </a:prstGeom>
          <a:solidFill>
            <a:srgbClr val="7C3AED"/>
          </a:solidFill>
          <a:ln w="12700">
            <a:solidFill>
              <a:srgbClr val="7C3AED"/>
            </a:solidFill>
            <a:prstDash val="solid"/>
          </a:ln>
        </p:spPr>
      </p:sp>
      <p:sp>
        <p:nvSpPr>
          <p:cNvPr id="12" name="Shape 10"/>
          <p:cNvSpPr/>
          <p:nvPr/>
        </p:nvSpPr>
        <p:spPr>
          <a:xfrm>
            <a:off x="1481328" y="804672"/>
            <a:ext cx="91440" cy="1170432"/>
          </a:xfrm>
          <a:prstGeom prst="rect">
            <a:avLst/>
          </a:prstGeom>
          <a:solidFill>
            <a:srgbClr val="7C3AED"/>
          </a:solidFill>
          <a:ln w="12700">
            <a:solidFill>
              <a:srgbClr val="7C3AED"/>
            </a:solidFill>
            <a:prstDash val="solid"/>
          </a:ln>
        </p:spPr>
      </p:sp>
      <p:sp>
        <p:nvSpPr>
          <p:cNvPr id="13" name="Text 11"/>
          <p:cNvSpPr/>
          <p:nvPr/>
        </p:nvSpPr>
        <p:spPr>
          <a:xfrm>
            <a:off x="365760" y="804672"/>
            <a:ext cx="1280160" cy="117043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Prefix</a:t>
            </a:r>
            <a:endParaRPr lang="en-US" sz="1600" dirty="0"/>
          </a:p>
        </p:txBody>
      </p:sp>
      <p:sp>
        <p:nvSpPr>
          <p:cNvPr id="14" name="Text 12"/>
          <p:cNvSpPr/>
          <p:nvPr/>
        </p:nvSpPr>
        <p:spPr>
          <a:xfrm>
            <a:off x="1691640" y="841248"/>
            <a:ext cx="6949440" cy="1097280"/>
          </a:xfrm>
          <a:prstGeom prst="rect">
            <a:avLst/>
          </a:prstGeom>
          <a:noFill/>
          <a:ln/>
        </p:spPr>
        <p:txBody>
          <a:bodyPr wrap="square" rtlCol="0" anchor="ctr">
            <a:normAutofit/>
          </a:bodyPr>
          <a:lstStyle/>
          <a:p>
            <a:pPr algn="l" indent="0" marL="0">
              <a:buNone/>
            </a:pPr>
            <a:r>
              <a:rPr lang="en-US" sz="1350" dirty="0">
                <a:solidFill>
                  <a:srgbClr val="4C1D95"/>
                </a:solidFill>
                <a:latin typeface="Calibri" pitchFamily="34" charset="0"/>
                <a:ea typeface="Calibri" pitchFamily="34" charset="-122"/>
                <a:cs typeface="Calibri" pitchFamily="34" charset="-120"/>
              </a:rPr>
              <a:t>A prefix is a word part added to the start of a base to change its meaning. The prefix 'tele-' means 'far; distant'. You can see it at the start of 'television'.</a:t>
            </a:r>
            <a:endParaRPr lang="en-US" sz="1350" dirty="0"/>
          </a:p>
        </p:txBody>
      </p:sp>
      <p:sp>
        <p:nvSpPr>
          <p:cNvPr id="15" name="Shape 13"/>
          <p:cNvSpPr/>
          <p:nvPr/>
        </p:nvSpPr>
        <p:spPr>
          <a:xfrm>
            <a:off x="365760" y="2130552"/>
            <a:ext cx="8412480" cy="1170432"/>
          </a:xfrm>
          <a:prstGeom prst="rect">
            <a:avLst>
              <a:gd name="adj" fmla="val 7813"/>
            </a:avLst>
          </a:prstGeom>
          <a:solidFill>
            <a:srgbClr val="CCFBF1"/>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65760" y="2130552"/>
            <a:ext cx="1280160" cy="1170432"/>
          </a:xfrm>
          <a:prstGeom prst="rect">
            <a:avLst>
              <a:gd name="adj" fmla="val 7813"/>
            </a:avLst>
          </a:prstGeom>
          <a:solidFill>
            <a:srgbClr val="0D9488"/>
          </a:solidFill>
          <a:ln w="12700">
            <a:solidFill>
              <a:srgbClr val="0D9488"/>
            </a:solidFill>
            <a:prstDash val="solid"/>
          </a:ln>
        </p:spPr>
      </p:sp>
      <p:sp>
        <p:nvSpPr>
          <p:cNvPr id="17" name="Shape 15"/>
          <p:cNvSpPr/>
          <p:nvPr/>
        </p:nvSpPr>
        <p:spPr>
          <a:xfrm>
            <a:off x="1481328" y="2130552"/>
            <a:ext cx="91440" cy="1170432"/>
          </a:xfrm>
          <a:prstGeom prst="rect">
            <a:avLst/>
          </a:prstGeom>
          <a:solidFill>
            <a:srgbClr val="0D9488"/>
          </a:solidFill>
          <a:ln w="12700">
            <a:solidFill>
              <a:srgbClr val="0D9488"/>
            </a:solidFill>
            <a:prstDash val="solid"/>
          </a:ln>
        </p:spPr>
      </p:sp>
      <p:sp>
        <p:nvSpPr>
          <p:cNvPr id="18" name="Text 16"/>
          <p:cNvSpPr/>
          <p:nvPr/>
        </p:nvSpPr>
        <p:spPr>
          <a:xfrm>
            <a:off x="365760" y="2130552"/>
            <a:ext cx="1280160" cy="117043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Base</a:t>
            </a:r>
            <a:endParaRPr lang="en-US" sz="1600" dirty="0"/>
          </a:p>
        </p:txBody>
      </p:sp>
      <p:sp>
        <p:nvSpPr>
          <p:cNvPr id="19" name="Text 17"/>
          <p:cNvSpPr/>
          <p:nvPr/>
        </p:nvSpPr>
        <p:spPr>
          <a:xfrm>
            <a:off x="1691640" y="2167128"/>
            <a:ext cx="6949440" cy="1097280"/>
          </a:xfrm>
          <a:prstGeom prst="rect">
            <a:avLst/>
          </a:prstGeom>
          <a:noFill/>
          <a:ln/>
        </p:spPr>
        <p:txBody>
          <a:bodyPr wrap="square" rtlCol="0" anchor="ctr">
            <a:normAutofit/>
          </a:bodyPr>
          <a:lstStyle/>
          <a:p>
            <a:pPr algn="l" indent="0" marL="0">
              <a:buNone/>
            </a:pPr>
            <a:r>
              <a:rPr lang="en-US" sz="1350" dirty="0">
                <a:solidFill>
                  <a:srgbClr val="0F766E"/>
                </a:solidFill>
                <a:latin typeface="Calibri" pitchFamily="34" charset="0"/>
                <a:ea typeface="Calibri" pitchFamily="34" charset="-122"/>
                <a:cs typeface="Calibri" pitchFamily="34" charset="-120"/>
              </a:rPr>
              <a:t>The base is the main part of a word that carries its meaning. In 'telegram', the base is 'gram' (written; something written).</a:t>
            </a:r>
            <a:endParaRPr lang="en-US" sz="1350" dirty="0"/>
          </a:p>
        </p:txBody>
      </p:sp>
      <p:sp>
        <p:nvSpPr>
          <p:cNvPr id="20" name="Shape 18"/>
          <p:cNvSpPr/>
          <p:nvPr/>
        </p:nvSpPr>
        <p:spPr>
          <a:xfrm>
            <a:off x="365760" y="3456432"/>
            <a:ext cx="8412480" cy="1170432"/>
          </a:xfrm>
          <a:prstGeom prst="rect">
            <a:avLst>
              <a:gd name="adj" fmla="val 7813"/>
            </a:avLst>
          </a:prstGeom>
          <a:solidFill>
            <a:srgbClr val="FCE7F3"/>
          </a:solidFill>
          <a:ln w="12700">
            <a:solidFill>
              <a:srgbClr val="DB2777"/>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65760" y="3456432"/>
            <a:ext cx="1280160" cy="1170432"/>
          </a:xfrm>
          <a:prstGeom prst="rect">
            <a:avLst>
              <a:gd name="adj" fmla="val 7813"/>
            </a:avLst>
          </a:prstGeom>
          <a:solidFill>
            <a:srgbClr val="DB2777"/>
          </a:solidFill>
          <a:ln w="12700">
            <a:solidFill>
              <a:srgbClr val="DB2777"/>
            </a:solidFill>
            <a:prstDash val="solid"/>
          </a:ln>
        </p:spPr>
      </p:sp>
      <p:sp>
        <p:nvSpPr>
          <p:cNvPr id="22" name="Shape 20"/>
          <p:cNvSpPr/>
          <p:nvPr/>
        </p:nvSpPr>
        <p:spPr>
          <a:xfrm>
            <a:off x="1481328" y="3456432"/>
            <a:ext cx="91440" cy="1170432"/>
          </a:xfrm>
          <a:prstGeom prst="rect">
            <a:avLst/>
          </a:prstGeom>
          <a:solidFill>
            <a:srgbClr val="DB2777"/>
          </a:solidFill>
          <a:ln w="12700">
            <a:solidFill>
              <a:srgbClr val="DB2777"/>
            </a:solidFill>
            <a:prstDash val="solid"/>
          </a:ln>
        </p:spPr>
      </p:sp>
      <p:sp>
        <p:nvSpPr>
          <p:cNvPr id="23" name="Text 21"/>
          <p:cNvSpPr/>
          <p:nvPr/>
        </p:nvSpPr>
        <p:spPr>
          <a:xfrm>
            <a:off x="365760" y="3456432"/>
            <a:ext cx="1280160" cy="1170432"/>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Suffix</a:t>
            </a:r>
            <a:endParaRPr lang="en-US" sz="1600" dirty="0"/>
          </a:p>
        </p:txBody>
      </p:sp>
      <p:sp>
        <p:nvSpPr>
          <p:cNvPr id="24" name="Text 22"/>
          <p:cNvSpPr/>
          <p:nvPr/>
        </p:nvSpPr>
        <p:spPr>
          <a:xfrm>
            <a:off x="1691640" y="3493008"/>
            <a:ext cx="6949440" cy="1097280"/>
          </a:xfrm>
          <a:prstGeom prst="rect">
            <a:avLst/>
          </a:prstGeom>
          <a:noFill/>
          <a:ln/>
        </p:spPr>
        <p:txBody>
          <a:bodyPr wrap="square" rtlCol="0" anchor="ctr">
            <a:normAutofit/>
          </a:bodyPr>
          <a:lstStyle/>
          <a:p>
            <a:pPr algn="l" indent="0" marL="0">
              <a:buNone/>
            </a:pPr>
            <a:r>
              <a:rPr lang="en-US" sz="1350" dirty="0">
                <a:solidFill>
                  <a:srgbClr val="9D174D"/>
                </a:solidFill>
                <a:latin typeface="Calibri" pitchFamily="34" charset="0"/>
                <a:ea typeface="Calibri" pitchFamily="34" charset="-122"/>
                <a:cs typeface="Calibri" pitchFamily="34" charset="-120"/>
              </a:rPr>
              <a:t>A suffix is a word part added to the end of a word to change its meaning or job. In 'television', '-ion' means 'act or result of'.</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True or False?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Are these statements true or false? Decide with a partner.</a:t>
            </a:r>
            <a:endParaRPr lang="en-US" sz="1300" dirty="0"/>
          </a:p>
        </p:txBody>
      </p:sp>
      <p:sp>
        <p:nvSpPr>
          <p:cNvPr id="11" name="Shape 9"/>
          <p:cNvSpPr/>
          <p:nvPr/>
        </p:nvSpPr>
        <p:spPr>
          <a:xfrm>
            <a:off x="365760" y="1207008"/>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07008"/>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1.  The prefix 'tele-' means 'far; distant'.</a:t>
            </a:r>
            <a:endParaRPr lang="en-US" sz="1300" dirty="0"/>
          </a:p>
        </p:txBody>
      </p:sp>
      <p:sp>
        <p:nvSpPr>
          <p:cNvPr id="13" name="Shape 11"/>
          <p:cNvSpPr/>
          <p:nvPr/>
        </p:nvSpPr>
        <p:spPr>
          <a:xfrm>
            <a:off x="7772400" y="1207008"/>
            <a:ext cx="1005840" cy="566928"/>
          </a:xfrm>
          <a:prstGeom prst="rect">
            <a:avLst>
              <a:gd name="adj" fmla="val 12903"/>
            </a:avLst>
          </a:prstGeom>
          <a:solidFill>
            <a:srgbClr val="FFFFFF"/>
          </a:solidFill>
          <a:ln w="12700">
            <a:solidFill>
              <a:srgbClr val="E2E8F0"/>
            </a:solidFill>
            <a:prstDash val="dash"/>
          </a:ln>
        </p:spPr>
      </p:sp>
      <p:sp>
        <p:nvSpPr>
          <p:cNvPr id="14" name="Text 12"/>
          <p:cNvSpPr/>
          <p:nvPr/>
        </p:nvSpPr>
        <p:spPr>
          <a:xfrm>
            <a:off x="7772400" y="1207008"/>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15" name="Shape 13"/>
          <p:cNvSpPr/>
          <p:nvPr/>
        </p:nvSpPr>
        <p:spPr>
          <a:xfrm>
            <a:off x="365760" y="1901952"/>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48640" y="1901952"/>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2.  'telegram' means 'a short printed message sent quickly using electrical signals, especially in the past'.</a:t>
            </a:r>
            <a:endParaRPr lang="en-US" sz="1300" dirty="0"/>
          </a:p>
        </p:txBody>
      </p:sp>
      <p:sp>
        <p:nvSpPr>
          <p:cNvPr id="17" name="Shape 15"/>
          <p:cNvSpPr/>
          <p:nvPr/>
        </p:nvSpPr>
        <p:spPr>
          <a:xfrm>
            <a:off x="7772400" y="1901952"/>
            <a:ext cx="1005840" cy="566928"/>
          </a:xfrm>
          <a:prstGeom prst="rect">
            <a:avLst>
              <a:gd name="adj" fmla="val 12903"/>
            </a:avLst>
          </a:prstGeom>
          <a:solidFill>
            <a:srgbClr val="FFFFFF"/>
          </a:solidFill>
          <a:ln w="12700">
            <a:solidFill>
              <a:srgbClr val="E2E8F0"/>
            </a:solidFill>
            <a:prstDash val="dash"/>
          </a:ln>
        </p:spPr>
      </p:sp>
      <p:sp>
        <p:nvSpPr>
          <p:cNvPr id="18" name="Text 16"/>
          <p:cNvSpPr/>
          <p:nvPr/>
        </p:nvSpPr>
        <p:spPr>
          <a:xfrm>
            <a:off x="7772400" y="1901952"/>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19" name="Shape 17"/>
          <p:cNvSpPr/>
          <p:nvPr/>
        </p:nvSpPr>
        <p:spPr>
          <a:xfrm>
            <a:off x="365760" y="2596896"/>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48640" y="2596896"/>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3.  'telecommunications' means 'a device that receives and shows moving pictures and sound as a broadcast programme'.</a:t>
            </a:r>
            <a:endParaRPr lang="en-US" sz="1300" dirty="0"/>
          </a:p>
        </p:txBody>
      </p:sp>
      <p:sp>
        <p:nvSpPr>
          <p:cNvPr id="21" name="Shape 19"/>
          <p:cNvSpPr/>
          <p:nvPr/>
        </p:nvSpPr>
        <p:spPr>
          <a:xfrm>
            <a:off x="7772400" y="2596896"/>
            <a:ext cx="1005840" cy="566928"/>
          </a:xfrm>
          <a:prstGeom prst="rect">
            <a:avLst>
              <a:gd name="adj" fmla="val 12903"/>
            </a:avLst>
          </a:prstGeom>
          <a:solidFill>
            <a:srgbClr val="FFFFFF"/>
          </a:solidFill>
          <a:ln w="12700">
            <a:solidFill>
              <a:srgbClr val="E2E8F0"/>
            </a:solidFill>
            <a:prstDash val="dash"/>
          </a:ln>
        </p:spPr>
      </p:sp>
      <p:sp>
        <p:nvSpPr>
          <p:cNvPr id="22" name="Text 20"/>
          <p:cNvSpPr/>
          <p:nvPr/>
        </p:nvSpPr>
        <p:spPr>
          <a:xfrm>
            <a:off x="7772400" y="2596896"/>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23" name="Shape 21"/>
          <p:cNvSpPr/>
          <p:nvPr/>
        </p:nvSpPr>
        <p:spPr>
          <a:xfrm>
            <a:off x="365760" y="3291840"/>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548640" y="3291840"/>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4.  'telepathy' means 'knowing another person's thoughts without speaking or using any of the five senses'.</a:t>
            </a:r>
            <a:endParaRPr lang="en-US" sz="1300" dirty="0"/>
          </a:p>
        </p:txBody>
      </p:sp>
      <p:sp>
        <p:nvSpPr>
          <p:cNvPr id="25" name="Shape 23"/>
          <p:cNvSpPr/>
          <p:nvPr/>
        </p:nvSpPr>
        <p:spPr>
          <a:xfrm>
            <a:off x="7772400" y="3291840"/>
            <a:ext cx="1005840" cy="566928"/>
          </a:xfrm>
          <a:prstGeom prst="rect">
            <a:avLst>
              <a:gd name="adj" fmla="val 12903"/>
            </a:avLst>
          </a:prstGeom>
          <a:solidFill>
            <a:srgbClr val="FFFFFF"/>
          </a:solidFill>
          <a:ln w="12700">
            <a:solidFill>
              <a:srgbClr val="E2E8F0"/>
            </a:solidFill>
            <a:prstDash val="dash"/>
          </a:ln>
        </p:spPr>
      </p:sp>
      <p:sp>
        <p:nvSpPr>
          <p:cNvPr id="26" name="Text 24"/>
          <p:cNvSpPr/>
          <p:nvPr/>
        </p:nvSpPr>
        <p:spPr>
          <a:xfrm>
            <a:off x="7772400" y="3291840"/>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
        <p:nvSpPr>
          <p:cNvPr id="27" name="Shape 25"/>
          <p:cNvSpPr/>
          <p:nvPr/>
        </p:nvSpPr>
        <p:spPr>
          <a:xfrm>
            <a:off x="365760" y="3986784"/>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548640" y="3986784"/>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5.  'television' means 'a system that sends coded messages over long distances using electrical signals along wires'.</a:t>
            </a:r>
            <a:endParaRPr lang="en-US" sz="1300" dirty="0"/>
          </a:p>
        </p:txBody>
      </p:sp>
      <p:sp>
        <p:nvSpPr>
          <p:cNvPr id="29" name="Shape 27"/>
          <p:cNvSpPr/>
          <p:nvPr/>
        </p:nvSpPr>
        <p:spPr>
          <a:xfrm>
            <a:off x="7772400" y="3986784"/>
            <a:ext cx="1005840" cy="566928"/>
          </a:xfrm>
          <a:prstGeom prst="rect">
            <a:avLst>
              <a:gd name="adj" fmla="val 12903"/>
            </a:avLst>
          </a:prstGeom>
          <a:solidFill>
            <a:srgbClr val="FFFFFF"/>
          </a:solidFill>
          <a:ln w="12700">
            <a:solidFill>
              <a:srgbClr val="E2E8F0"/>
            </a:solidFill>
            <a:prstDash val="dash"/>
          </a:ln>
        </p:spPr>
      </p:sp>
      <p:sp>
        <p:nvSpPr>
          <p:cNvPr id="30" name="Text 28"/>
          <p:cNvSpPr/>
          <p:nvPr/>
        </p:nvSpPr>
        <p:spPr>
          <a:xfrm>
            <a:off x="7772400" y="3986784"/>
            <a:ext cx="1005840" cy="566928"/>
          </a:xfrm>
          <a:prstGeom prst="rect">
            <a:avLst/>
          </a:prstGeom>
          <a:noFill/>
          <a:ln/>
        </p:spPr>
        <p:txBody>
          <a:bodyPr wrap="square" lIns="0" tIns="0" rIns="0" bIns="0" rtlCol="0" anchor="ctr"/>
          <a:lstStyle/>
          <a:p>
            <a:pPr algn="ctr" indent="0" marL="0">
              <a:buNone/>
            </a:pPr>
            <a:r>
              <a:rPr lang="en-US" sz="1100" dirty="0">
                <a:solidFill>
                  <a:srgbClr val="94A3B8"/>
                </a:solidFill>
                <a:latin typeface="Trebuchet MS" pitchFamily="34" charset="0"/>
                <a:ea typeface="Trebuchet MS" pitchFamily="34" charset="-122"/>
                <a:cs typeface="Trebuchet MS" pitchFamily="34" charset="-120"/>
              </a:rPr>
              <a:t>T  /  F</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True or False? — Answers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answers.</a:t>
            </a:r>
            <a:endParaRPr lang="en-US" sz="1300" dirty="0"/>
          </a:p>
        </p:txBody>
      </p:sp>
      <p:sp>
        <p:nvSpPr>
          <p:cNvPr id="11" name="Shape 9"/>
          <p:cNvSpPr/>
          <p:nvPr/>
        </p:nvSpPr>
        <p:spPr>
          <a:xfrm>
            <a:off x="365760" y="1207008"/>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07008"/>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1.  The prefix 'tele-' means 'far; distant'.</a:t>
            </a:r>
            <a:endParaRPr lang="en-US" sz="1300" dirty="0"/>
          </a:p>
        </p:txBody>
      </p:sp>
      <p:sp>
        <p:nvSpPr>
          <p:cNvPr id="13" name="Shape 11"/>
          <p:cNvSpPr/>
          <p:nvPr/>
        </p:nvSpPr>
        <p:spPr>
          <a:xfrm>
            <a:off x="7772400" y="1207008"/>
            <a:ext cx="1005840" cy="566928"/>
          </a:xfrm>
          <a:prstGeom prst="rect">
            <a:avLst>
              <a:gd name="adj" fmla="val 12903"/>
            </a:avLst>
          </a:prstGeom>
          <a:solidFill>
            <a:srgbClr val="DCFCE7"/>
          </a:solidFill>
          <a:ln w="12700">
            <a:solidFill>
              <a:srgbClr val="16A34A"/>
            </a:solidFill>
            <a:prstDash val="solid"/>
          </a:ln>
        </p:spPr>
      </p:sp>
      <p:sp>
        <p:nvSpPr>
          <p:cNvPr id="14" name="Text 12"/>
          <p:cNvSpPr/>
          <p:nvPr/>
        </p:nvSpPr>
        <p:spPr>
          <a:xfrm>
            <a:off x="7772400" y="1207008"/>
            <a:ext cx="1005840" cy="566928"/>
          </a:xfrm>
          <a:prstGeom prst="rect">
            <a:avLst/>
          </a:prstGeom>
          <a:noFill/>
          <a:ln/>
        </p:spPr>
        <p:txBody>
          <a:bodyPr wrap="square" lIns="0" tIns="0" rIns="0" bIns="0" rtlCol="0" anchor="ctr"/>
          <a:lstStyle/>
          <a:p>
            <a:pPr algn="ctr" indent="0" marL="0">
              <a:buNone/>
            </a:pPr>
            <a:r>
              <a:rPr lang="en-US" sz="1100" b="1" dirty="0">
                <a:solidFill>
                  <a:srgbClr val="16A34A"/>
                </a:solidFill>
                <a:latin typeface="Trebuchet MS" pitchFamily="34" charset="0"/>
                <a:ea typeface="Trebuchet MS" pitchFamily="34" charset="-122"/>
                <a:cs typeface="Trebuchet MS" pitchFamily="34" charset="-120"/>
              </a:rPr>
              <a:t>TRUE</a:t>
            </a:r>
            <a:endParaRPr lang="en-US" sz="1100" dirty="0"/>
          </a:p>
        </p:txBody>
      </p:sp>
      <p:sp>
        <p:nvSpPr>
          <p:cNvPr id="15" name="Shape 13"/>
          <p:cNvSpPr/>
          <p:nvPr/>
        </p:nvSpPr>
        <p:spPr>
          <a:xfrm>
            <a:off x="365760" y="1901952"/>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548640" y="1901952"/>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2.  'telegram' means 'a short printed message sent quickly using electrical signals, especially in the past'.</a:t>
            </a:r>
            <a:endParaRPr lang="en-US" sz="1300" dirty="0"/>
          </a:p>
        </p:txBody>
      </p:sp>
      <p:sp>
        <p:nvSpPr>
          <p:cNvPr id="17" name="Shape 15"/>
          <p:cNvSpPr/>
          <p:nvPr/>
        </p:nvSpPr>
        <p:spPr>
          <a:xfrm>
            <a:off x="7772400" y="1901952"/>
            <a:ext cx="1005840" cy="566928"/>
          </a:xfrm>
          <a:prstGeom prst="rect">
            <a:avLst>
              <a:gd name="adj" fmla="val 12903"/>
            </a:avLst>
          </a:prstGeom>
          <a:solidFill>
            <a:srgbClr val="DCFCE7"/>
          </a:solidFill>
          <a:ln w="12700">
            <a:solidFill>
              <a:srgbClr val="16A34A"/>
            </a:solidFill>
            <a:prstDash val="solid"/>
          </a:ln>
        </p:spPr>
      </p:sp>
      <p:sp>
        <p:nvSpPr>
          <p:cNvPr id="18" name="Text 16"/>
          <p:cNvSpPr/>
          <p:nvPr/>
        </p:nvSpPr>
        <p:spPr>
          <a:xfrm>
            <a:off x="7772400" y="1901952"/>
            <a:ext cx="1005840" cy="566928"/>
          </a:xfrm>
          <a:prstGeom prst="rect">
            <a:avLst/>
          </a:prstGeom>
          <a:noFill/>
          <a:ln/>
        </p:spPr>
        <p:txBody>
          <a:bodyPr wrap="square" lIns="0" tIns="0" rIns="0" bIns="0" rtlCol="0" anchor="ctr"/>
          <a:lstStyle/>
          <a:p>
            <a:pPr algn="ctr" indent="0" marL="0">
              <a:buNone/>
            </a:pPr>
            <a:r>
              <a:rPr lang="en-US" sz="1100" b="1" dirty="0">
                <a:solidFill>
                  <a:srgbClr val="16A34A"/>
                </a:solidFill>
                <a:latin typeface="Trebuchet MS" pitchFamily="34" charset="0"/>
                <a:ea typeface="Trebuchet MS" pitchFamily="34" charset="-122"/>
                <a:cs typeface="Trebuchet MS" pitchFamily="34" charset="-120"/>
              </a:rPr>
              <a:t>TRUE</a:t>
            </a:r>
            <a:endParaRPr lang="en-US" sz="1100" dirty="0"/>
          </a:p>
        </p:txBody>
      </p:sp>
      <p:sp>
        <p:nvSpPr>
          <p:cNvPr id="19" name="Shape 17"/>
          <p:cNvSpPr/>
          <p:nvPr/>
        </p:nvSpPr>
        <p:spPr>
          <a:xfrm>
            <a:off x="365760" y="2596896"/>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48640" y="2596896"/>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3.  'telecommunications' means 'a device that receives and shows moving pictures and sound as a broadcast programme'.</a:t>
            </a:r>
            <a:endParaRPr lang="en-US" sz="1300" dirty="0"/>
          </a:p>
        </p:txBody>
      </p:sp>
      <p:sp>
        <p:nvSpPr>
          <p:cNvPr id="21" name="Shape 19"/>
          <p:cNvSpPr/>
          <p:nvPr/>
        </p:nvSpPr>
        <p:spPr>
          <a:xfrm>
            <a:off x="7772400" y="2596896"/>
            <a:ext cx="1005840" cy="566928"/>
          </a:xfrm>
          <a:prstGeom prst="rect">
            <a:avLst>
              <a:gd name="adj" fmla="val 12903"/>
            </a:avLst>
          </a:prstGeom>
          <a:solidFill>
            <a:srgbClr val="FEE2E2"/>
          </a:solidFill>
          <a:ln w="12700">
            <a:solidFill>
              <a:srgbClr val="DC2626"/>
            </a:solidFill>
            <a:prstDash val="solid"/>
          </a:ln>
        </p:spPr>
      </p:sp>
      <p:sp>
        <p:nvSpPr>
          <p:cNvPr id="22" name="Text 20"/>
          <p:cNvSpPr/>
          <p:nvPr/>
        </p:nvSpPr>
        <p:spPr>
          <a:xfrm>
            <a:off x="7772400" y="2596896"/>
            <a:ext cx="1005840" cy="566928"/>
          </a:xfrm>
          <a:prstGeom prst="rect">
            <a:avLst/>
          </a:prstGeom>
          <a:noFill/>
          <a:ln/>
        </p:spPr>
        <p:txBody>
          <a:bodyPr wrap="square" lIns="0" tIns="0" rIns="0" bIns="0" rtlCol="0" anchor="ctr"/>
          <a:lstStyle/>
          <a:p>
            <a:pPr algn="ctr" indent="0" marL="0">
              <a:buNone/>
            </a:pPr>
            <a:r>
              <a:rPr lang="en-US" sz="1100" b="1" dirty="0">
                <a:solidFill>
                  <a:srgbClr val="DC2626"/>
                </a:solidFill>
                <a:latin typeface="Trebuchet MS" pitchFamily="34" charset="0"/>
                <a:ea typeface="Trebuchet MS" pitchFamily="34" charset="-122"/>
                <a:cs typeface="Trebuchet MS" pitchFamily="34" charset="-120"/>
              </a:rPr>
              <a:t>FALSE</a:t>
            </a:r>
            <a:endParaRPr lang="en-US" sz="1100" dirty="0"/>
          </a:p>
        </p:txBody>
      </p:sp>
      <p:sp>
        <p:nvSpPr>
          <p:cNvPr id="23" name="Shape 21"/>
          <p:cNvSpPr/>
          <p:nvPr/>
        </p:nvSpPr>
        <p:spPr>
          <a:xfrm>
            <a:off x="365760" y="3291840"/>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548640" y="3291840"/>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4.  'telepathy' means 'knowing another person's thoughts without speaking or using any of the five senses'.</a:t>
            </a:r>
            <a:endParaRPr lang="en-US" sz="1300" dirty="0"/>
          </a:p>
        </p:txBody>
      </p:sp>
      <p:sp>
        <p:nvSpPr>
          <p:cNvPr id="25" name="Shape 23"/>
          <p:cNvSpPr/>
          <p:nvPr/>
        </p:nvSpPr>
        <p:spPr>
          <a:xfrm>
            <a:off x="7772400" y="3291840"/>
            <a:ext cx="1005840" cy="566928"/>
          </a:xfrm>
          <a:prstGeom prst="rect">
            <a:avLst>
              <a:gd name="adj" fmla="val 12903"/>
            </a:avLst>
          </a:prstGeom>
          <a:solidFill>
            <a:srgbClr val="DCFCE7"/>
          </a:solidFill>
          <a:ln w="12700">
            <a:solidFill>
              <a:srgbClr val="16A34A"/>
            </a:solidFill>
            <a:prstDash val="solid"/>
          </a:ln>
        </p:spPr>
      </p:sp>
      <p:sp>
        <p:nvSpPr>
          <p:cNvPr id="26" name="Text 24"/>
          <p:cNvSpPr/>
          <p:nvPr/>
        </p:nvSpPr>
        <p:spPr>
          <a:xfrm>
            <a:off x="7772400" y="3291840"/>
            <a:ext cx="1005840" cy="566928"/>
          </a:xfrm>
          <a:prstGeom prst="rect">
            <a:avLst/>
          </a:prstGeom>
          <a:noFill/>
          <a:ln/>
        </p:spPr>
        <p:txBody>
          <a:bodyPr wrap="square" lIns="0" tIns="0" rIns="0" bIns="0" rtlCol="0" anchor="ctr"/>
          <a:lstStyle/>
          <a:p>
            <a:pPr algn="ctr" indent="0" marL="0">
              <a:buNone/>
            </a:pPr>
            <a:r>
              <a:rPr lang="en-US" sz="1100" b="1" dirty="0">
                <a:solidFill>
                  <a:srgbClr val="16A34A"/>
                </a:solidFill>
                <a:latin typeface="Trebuchet MS" pitchFamily="34" charset="0"/>
                <a:ea typeface="Trebuchet MS" pitchFamily="34" charset="-122"/>
                <a:cs typeface="Trebuchet MS" pitchFamily="34" charset="-120"/>
              </a:rPr>
              <a:t>TRUE</a:t>
            </a:r>
            <a:endParaRPr lang="en-US" sz="1100" dirty="0"/>
          </a:p>
        </p:txBody>
      </p:sp>
      <p:sp>
        <p:nvSpPr>
          <p:cNvPr id="27" name="Shape 25"/>
          <p:cNvSpPr/>
          <p:nvPr/>
        </p:nvSpPr>
        <p:spPr>
          <a:xfrm>
            <a:off x="365760" y="3986784"/>
            <a:ext cx="7315200" cy="566928"/>
          </a:xfrm>
          <a:prstGeom prst="rect">
            <a:avLst>
              <a:gd name="adj" fmla="val 12903"/>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548640" y="3986784"/>
            <a:ext cx="6949440" cy="566928"/>
          </a:xfrm>
          <a:prstGeom prst="rect">
            <a:avLst/>
          </a:prstGeom>
          <a:noFill/>
          <a:ln/>
        </p:spPr>
        <p:txBody>
          <a:bodyPr wrap="square" rtlCol="0" anchor="ctr">
            <a:normAutofit/>
          </a:bodyPr>
          <a:lstStyle/>
          <a:p>
            <a:pPr algn="l" indent="0" marL="0">
              <a:buNone/>
            </a:pPr>
            <a:r>
              <a:rPr lang="en-US" sz="1300" dirty="0">
                <a:solidFill>
                  <a:srgbClr val="0F172A"/>
                </a:solidFill>
                <a:latin typeface="Calibri" pitchFamily="34" charset="0"/>
                <a:ea typeface="Calibri" pitchFamily="34" charset="-122"/>
                <a:cs typeface="Calibri" pitchFamily="34" charset="-120"/>
              </a:rPr>
              <a:t>5.  'television' means 'a system that sends coded messages over long distances using electrical signals along wires'.</a:t>
            </a:r>
            <a:endParaRPr lang="en-US" sz="1300" dirty="0"/>
          </a:p>
        </p:txBody>
      </p:sp>
      <p:sp>
        <p:nvSpPr>
          <p:cNvPr id="29" name="Shape 27"/>
          <p:cNvSpPr/>
          <p:nvPr/>
        </p:nvSpPr>
        <p:spPr>
          <a:xfrm>
            <a:off x="7772400" y="3986784"/>
            <a:ext cx="1005840" cy="566928"/>
          </a:xfrm>
          <a:prstGeom prst="rect">
            <a:avLst>
              <a:gd name="adj" fmla="val 12903"/>
            </a:avLst>
          </a:prstGeom>
          <a:solidFill>
            <a:srgbClr val="FEE2E2"/>
          </a:solidFill>
          <a:ln w="12700">
            <a:solidFill>
              <a:srgbClr val="DC2626"/>
            </a:solidFill>
            <a:prstDash val="solid"/>
          </a:ln>
        </p:spPr>
      </p:sp>
      <p:sp>
        <p:nvSpPr>
          <p:cNvPr id="30" name="Text 28"/>
          <p:cNvSpPr/>
          <p:nvPr/>
        </p:nvSpPr>
        <p:spPr>
          <a:xfrm>
            <a:off x="7772400" y="3986784"/>
            <a:ext cx="1005840" cy="566928"/>
          </a:xfrm>
          <a:prstGeom prst="rect">
            <a:avLst/>
          </a:prstGeom>
          <a:noFill/>
          <a:ln/>
        </p:spPr>
        <p:txBody>
          <a:bodyPr wrap="square" lIns="0" tIns="0" rIns="0" bIns="0" rtlCol="0" anchor="ctr"/>
          <a:lstStyle/>
          <a:p>
            <a:pPr algn="ctr" indent="0" marL="0">
              <a:buNone/>
            </a:pPr>
            <a:r>
              <a:rPr lang="en-US" sz="1100" b="1" dirty="0">
                <a:solidFill>
                  <a:srgbClr val="DC2626"/>
                </a:solidFill>
                <a:latin typeface="Trebuchet MS" pitchFamily="34" charset="0"/>
                <a:ea typeface="Trebuchet MS" pitchFamily="34" charset="-122"/>
                <a:cs typeface="Trebuchet MS" pitchFamily="34" charset="-120"/>
              </a:rPr>
              <a:t>FALSE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Prefix 'tele-' — Meaning &amp; Origin</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77240"/>
            <a:ext cx="8412480" cy="1371600"/>
          </a:xfrm>
          <a:prstGeom prst="rect">
            <a:avLst>
              <a:gd name="adj" fmla="val 8000"/>
            </a:avLst>
          </a:prstGeom>
          <a:solidFill>
            <a:srgbClr val="0D9488"/>
          </a:solidFill>
          <a:ln w="12700">
            <a:solidFill>
              <a:srgbClr val="0D9488"/>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65760" y="777240"/>
            <a:ext cx="3108960" cy="1371600"/>
          </a:xfrm>
          <a:prstGeom prst="rect">
            <a:avLst/>
          </a:prstGeom>
          <a:noFill/>
          <a:ln/>
        </p:spPr>
        <p:txBody>
          <a:bodyPr wrap="square" lIns="0" tIns="0" rIns="0" bIns="0" rtlCol="0" anchor="ctr">
            <a:normAutofit/>
          </a:bodyPr>
          <a:lstStyle/>
          <a:p>
            <a:pPr algn="ctr" indent="0" marL="0">
              <a:buNone/>
            </a:pPr>
            <a:r>
              <a:rPr lang="en-US" sz="4800" b="1" dirty="0">
                <a:solidFill>
                  <a:srgbClr val="FFFFFF"/>
                </a:solidFill>
                <a:latin typeface="Trebuchet MS" pitchFamily="34" charset="0"/>
                <a:ea typeface="Trebuchet MS" pitchFamily="34" charset="-122"/>
                <a:cs typeface="Trebuchet MS" pitchFamily="34" charset="-120"/>
              </a:rPr>
              <a:t>'tele-'</a:t>
            </a:r>
            <a:endParaRPr lang="en-US" sz="4800" dirty="0"/>
          </a:p>
        </p:txBody>
      </p:sp>
      <p:sp>
        <p:nvSpPr>
          <p:cNvPr id="12" name="Shape 10"/>
          <p:cNvSpPr/>
          <p:nvPr/>
        </p:nvSpPr>
        <p:spPr>
          <a:xfrm>
            <a:off x="3520440" y="777240"/>
            <a:ext cx="36576" cy="1371600"/>
          </a:xfrm>
          <a:prstGeom prst="rect">
            <a:avLst/>
          </a:prstGeom>
          <a:solidFill>
            <a:srgbClr val="312E81"/>
          </a:solidFill>
          <a:ln w="12700">
            <a:solidFill>
              <a:srgbClr val="312E81"/>
            </a:solidFill>
            <a:prstDash val="solid"/>
          </a:ln>
        </p:spPr>
      </p:sp>
      <p:sp>
        <p:nvSpPr>
          <p:cNvPr id="13" name="Text 11"/>
          <p:cNvSpPr/>
          <p:nvPr/>
        </p:nvSpPr>
        <p:spPr>
          <a:xfrm>
            <a:off x="3703320" y="777240"/>
            <a:ext cx="3383280" cy="1371600"/>
          </a:xfrm>
          <a:prstGeom prst="rect">
            <a:avLst/>
          </a:prstGeom>
          <a:noFill/>
          <a:ln/>
        </p:spPr>
        <p:txBody>
          <a:bodyPr wrap="square" rtlCol="0" anchor="ctr">
            <a:normAutofit/>
          </a:bodyPr>
          <a:lstStyle/>
          <a:p>
            <a:pPr algn="l" indent="0" marL="0">
              <a:buNone/>
            </a:pPr>
            <a:r>
              <a:rPr lang="en-US" sz="2000" b="1" dirty="0">
                <a:solidFill>
                  <a:srgbClr val="FFFFFF"/>
                </a:solidFill>
                <a:latin typeface="Trebuchet MS" pitchFamily="34" charset="0"/>
                <a:ea typeface="Trebuchet MS" pitchFamily="34" charset="-122"/>
                <a:cs typeface="Trebuchet MS" pitchFamily="34" charset="-120"/>
              </a:rPr>
              <a:t>far; distant</a:t>
            </a:r>
            <a:endParaRPr lang="en-US" sz="2000" dirty="0"/>
          </a:p>
        </p:txBody>
      </p:sp>
      <p:sp>
        <p:nvSpPr>
          <p:cNvPr id="14" name="Text 12"/>
          <p:cNvSpPr/>
          <p:nvPr/>
        </p:nvSpPr>
        <p:spPr>
          <a:xfrm>
            <a:off x="7132320" y="777240"/>
            <a:ext cx="1600200" cy="1371600"/>
          </a:xfrm>
          <a:prstGeom prst="rect">
            <a:avLst/>
          </a:prstGeom>
          <a:noFill/>
          <a:ln/>
        </p:spPr>
        <p:txBody>
          <a:bodyPr wrap="square" rtlCol="0" anchor="ctr"/>
          <a:lstStyle/>
          <a:p>
            <a:pPr algn="ctr" indent="0" marL="0">
              <a:buNone/>
            </a:pPr>
            <a:r>
              <a:rPr lang="en-US" sz="1100" i="1" dirty="0">
                <a:solidFill>
                  <a:srgbClr val="99F6E4"/>
                </a:solidFill>
                <a:latin typeface="Calibri" pitchFamily="34" charset="0"/>
                <a:ea typeface="Calibri" pitchFamily="34" charset="-122"/>
                <a:cs typeface="Calibri" pitchFamily="34" charset="-120"/>
              </a:rPr>
              <a:t>Origin: Greek</a:t>
            </a:r>
            <a:endParaRPr lang="en-US" sz="1100" dirty="0"/>
          </a:p>
        </p:txBody>
      </p:sp>
      <p:sp>
        <p:nvSpPr>
          <p:cNvPr id="15" name="Text 13"/>
          <p:cNvSpPr/>
          <p:nvPr/>
        </p:nvSpPr>
        <p:spPr>
          <a:xfrm>
            <a:off x="365760" y="2331720"/>
            <a:ext cx="8412480" cy="347472"/>
          </a:xfrm>
          <a:prstGeom prst="rect">
            <a:avLst/>
          </a:prstGeom>
          <a:noFill/>
          <a:ln/>
        </p:spPr>
        <p:txBody>
          <a:bodyPr wrap="square" lIns="0" tIns="0" rIns="0" bIns="0" rtlCol="0" anchor="ctr"/>
          <a:lstStyle/>
          <a:p>
            <a:pPr algn="l" indent="0" marL="0">
              <a:buNone/>
            </a:pPr>
            <a:r>
              <a:rPr lang="en-US" sz="1300" b="1" dirty="0">
                <a:solidFill>
                  <a:srgbClr val="0F172A"/>
                </a:solidFill>
                <a:latin typeface="Trebuchet MS" pitchFamily="34" charset="0"/>
                <a:ea typeface="Trebuchet MS" pitchFamily="34" charset="-122"/>
                <a:cs typeface="Trebuchet MS" pitchFamily="34" charset="-120"/>
              </a:rPr>
              <a:t>Words using this prefix:</a:t>
            </a:r>
            <a:endParaRPr lang="en-US" sz="1300" dirty="0"/>
          </a:p>
        </p:txBody>
      </p:sp>
      <p:sp>
        <p:nvSpPr>
          <p:cNvPr id="16" name="Shape 14"/>
          <p:cNvSpPr/>
          <p:nvPr/>
        </p:nvSpPr>
        <p:spPr>
          <a:xfrm>
            <a:off x="365760" y="2743200"/>
            <a:ext cx="2011680" cy="502920"/>
          </a:xfrm>
          <a:prstGeom prst="rect">
            <a:avLst>
              <a:gd name="adj" fmla="val 14545"/>
            </a:avLst>
          </a:prstGeom>
          <a:solidFill>
            <a:srgbClr val="EEF2FF"/>
          </a:solidFill>
          <a:ln w="12700">
            <a:solidFill>
              <a:srgbClr val="6366F1"/>
            </a:solidFill>
            <a:prstDash val="solid"/>
          </a:ln>
        </p:spPr>
      </p:sp>
      <p:sp>
        <p:nvSpPr>
          <p:cNvPr id="17" name="Text 15"/>
          <p:cNvSpPr/>
          <p:nvPr/>
        </p:nvSpPr>
        <p:spPr>
          <a:xfrm>
            <a:off x="36576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television</a:t>
            </a:r>
            <a:endParaRPr lang="en-US" sz="1300" dirty="0"/>
          </a:p>
        </p:txBody>
      </p:sp>
      <p:sp>
        <p:nvSpPr>
          <p:cNvPr id="18" name="Shape 16"/>
          <p:cNvSpPr/>
          <p:nvPr/>
        </p:nvSpPr>
        <p:spPr>
          <a:xfrm>
            <a:off x="2514600" y="2743200"/>
            <a:ext cx="2011680" cy="502920"/>
          </a:xfrm>
          <a:prstGeom prst="rect">
            <a:avLst>
              <a:gd name="adj" fmla="val 14545"/>
            </a:avLst>
          </a:prstGeom>
          <a:solidFill>
            <a:srgbClr val="EEF2FF"/>
          </a:solidFill>
          <a:ln w="12700">
            <a:solidFill>
              <a:srgbClr val="6366F1"/>
            </a:solidFill>
            <a:prstDash val="solid"/>
          </a:ln>
        </p:spPr>
      </p:sp>
      <p:sp>
        <p:nvSpPr>
          <p:cNvPr id="19" name="Text 17"/>
          <p:cNvSpPr/>
          <p:nvPr/>
        </p:nvSpPr>
        <p:spPr>
          <a:xfrm>
            <a:off x="251460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telegram</a:t>
            </a:r>
            <a:endParaRPr lang="en-US" sz="1300" dirty="0"/>
          </a:p>
        </p:txBody>
      </p:sp>
      <p:sp>
        <p:nvSpPr>
          <p:cNvPr id="20" name="Shape 18"/>
          <p:cNvSpPr/>
          <p:nvPr/>
        </p:nvSpPr>
        <p:spPr>
          <a:xfrm>
            <a:off x="4663440" y="2743200"/>
            <a:ext cx="2011680" cy="502920"/>
          </a:xfrm>
          <a:prstGeom prst="rect">
            <a:avLst>
              <a:gd name="adj" fmla="val 14545"/>
            </a:avLst>
          </a:prstGeom>
          <a:solidFill>
            <a:srgbClr val="EEF2FF"/>
          </a:solidFill>
          <a:ln w="12700">
            <a:solidFill>
              <a:srgbClr val="6366F1"/>
            </a:solidFill>
            <a:prstDash val="solid"/>
          </a:ln>
        </p:spPr>
      </p:sp>
      <p:sp>
        <p:nvSpPr>
          <p:cNvPr id="21" name="Text 19"/>
          <p:cNvSpPr/>
          <p:nvPr/>
        </p:nvSpPr>
        <p:spPr>
          <a:xfrm>
            <a:off x="466344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telegraph</a:t>
            </a:r>
            <a:endParaRPr lang="en-US" sz="1300" dirty="0"/>
          </a:p>
        </p:txBody>
      </p:sp>
      <p:sp>
        <p:nvSpPr>
          <p:cNvPr id="22" name="Shape 20"/>
          <p:cNvSpPr/>
          <p:nvPr/>
        </p:nvSpPr>
        <p:spPr>
          <a:xfrm>
            <a:off x="6812280" y="2743200"/>
            <a:ext cx="2011680" cy="502920"/>
          </a:xfrm>
          <a:prstGeom prst="rect">
            <a:avLst>
              <a:gd name="adj" fmla="val 14545"/>
            </a:avLst>
          </a:prstGeom>
          <a:solidFill>
            <a:srgbClr val="EEF2FF"/>
          </a:solidFill>
          <a:ln w="12700">
            <a:solidFill>
              <a:srgbClr val="6366F1"/>
            </a:solidFill>
            <a:prstDash val="solid"/>
          </a:ln>
        </p:spPr>
      </p:sp>
      <p:sp>
        <p:nvSpPr>
          <p:cNvPr id="23" name="Text 21"/>
          <p:cNvSpPr/>
          <p:nvPr/>
        </p:nvSpPr>
        <p:spPr>
          <a:xfrm>
            <a:off x="6812280" y="2743200"/>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telecommunications</a:t>
            </a:r>
            <a:endParaRPr lang="en-US" sz="1300" dirty="0"/>
          </a:p>
        </p:txBody>
      </p:sp>
      <p:sp>
        <p:nvSpPr>
          <p:cNvPr id="24" name="Shape 22"/>
          <p:cNvSpPr/>
          <p:nvPr/>
        </p:nvSpPr>
        <p:spPr>
          <a:xfrm>
            <a:off x="365760" y="3401568"/>
            <a:ext cx="2011680" cy="502920"/>
          </a:xfrm>
          <a:prstGeom prst="rect">
            <a:avLst>
              <a:gd name="adj" fmla="val 14545"/>
            </a:avLst>
          </a:prstGeom>
          <a:solidFill>
            <a:srgbClr val="EEF2FF"/>
          </a:solidFill>
          <a:ln w="12700">
            <a:solidFill>
              <a:srgbClr val="6366F1"/>
            </a:solidFill>
            <a:prstDash val="solid"/>
          </a:ln>
        </p:spPr>
      </p:sp>
      <p:sp>
        <p:nvSpPr>
          <p:cNvPr id="25" name="Text 23"/>
          <p:cNvSpPr/>
          <p:nvPr/>
        </p:nvSpPr>
        <p:spPr>
          <a:xfrm>
            <a:off x="365760" y="3401568"/>
            <a:ext cx="2011680" cy="502920"/>
          </a:xfrm>
          <a:prstGeom prst="rect">
            <a:avLst/>
          </a:prstGeom>
          <a:noFill/>
          <a:ln/>
        </p:spPr>
        <p:txBody>
          <a:bodyPr wrap="square" lIns="0" tIns="0" rIns="0" bIns="0" rtlCol="0" anchor="ctr">
            <a:normAutofit/>
          </a:bodyPr>
          <a:lstStyle/>
          <a:p>
            <a:pPr algn="ctr" indent="0" marL="0">
              <a:buNone/>
            </a:pPr>
            <a:r>
              <a:rPr lang="en-US" sz="1300" b="1" dirty="0">
                <a:solidFill>
                  <a:srgbClr val="4338CA"/>
                </a:solidFill>
                <a:latin typeface="Trebuchet MS" pitchFamily="34" charset="0"/>
                <a:ea typeface="Trebuchet MS" pitchFamily="34" charset="-122"/>
                <a:cs typeface="Trebuchet MS" pitchFamily="34" charset="-120"/>
              </a:rPr>
              <a:t>telepathy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Word Matrix — Build with 'tele-'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Choose one part from each column, left to right (you can skip a column). Not every combination makes a real word!</a:t>
            </a:r>
            <a:endParaRPr lang="en-US" sz="1300" dirty="0"/>
          </a:p>
        </p:txBody>
      </p:sp>
      <p:sp>
        <p:nvSpPr>
          <p:cNvPr id="11" name="Shape 9"/>
          <p:cNvSpPr/>
          <p:nvPr/>
        </p:nvSpPr>
        <p:spPr>
          <a:xfrm>
            <a:off x="365760" y="1188720"/>
            <a:ext cx="1931670" cy="402336"/>
          </a:xfrm>
          <a:prstGeom prst="rect">
            <a:avLst>
              <a:gd name="adj" fmla="val 13636"/>
            </a:avLst>
          </a:prstGeom>
          <a:solidFill>
            <a:srgbClr val="7C3AED"/>
          </a:solidFill>
          <a:ln w="12700">
            <a:solidFill>
              <a:srgbClr val="7C3AED"/>
            </a:solidFill>
            <a:prstDash val="solid"/>
          </a:ln>
        </p:spPr>
      </p:sp>
      <p:sp>
        <p:nvSpPr>
          <p:cNvPr id="12" name="Text 10"/>
          <p:cNvSpPr/>
          <p:nvPr/>
        </p:nvSpPr>
        <p:spPr>
          <a:xfrm>
            <a:off x="365760" y="118872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Prefixes</a:t>
            </a:r>
            <a:endParaRPr lang="en-US" sz="1200" dirty="0"/>
          </a:p>
        </p:txBody>
      </p:sp>
      <p:sp>
        <p:nvSpPr>
          <p:cNvPr id="13" name="Shape 11"/>
          <p:cNvSpPr/>
          <p:nvPr/>
        </p:nvSpPr>
        <p:spPr>
          <a:xfrm>
            <a:off x="365760" y="1627632"/>
            <a:ext cx="1931670" cy="365760"/>
          </a:xfrm>
          <a:prstGeom prst="rect">
            <a:avLst/>
          </a:prstGeom>
          <a:solidFill>
            <a:srgbClr val="DDD6FE"/>
          </a:solidFill>
          <a:ln w="25400">
            <a:solidFill>
              <a:srgbClr val="7C3AED"/>
            </a:solidFill>
            <a:prstDash val="solid"/>
          </a:ln>
        </p:spPr>
      </p:sp>
      <p:sp>
        <p:nvSpPr>
          <p:cNvPr id="14" name="Text 12"/>
          <p:cNvSpPr/>
          <p:nvPr/>
        </p:nvSpPr>
        <p:spPr>
          <a:xfrm>
            <a:off x="365760" y="1627632"/>
            <a:ext cx="1931670" cy="365760"/>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5" name="Shape 13"/>
          <p:cNvSpPr/>
          <p:nvPr/>
        </p:nvSpPr>
        <p:spPr>
          <a:xfrm>
            <a:off x="365760" y="2029968"/>
            <a:ext cx="1931670" cy="365760"/>
          </a:xfrm>
          <a:prstGeom prst="rect">
            <a:avLst/>
          </a:prstGeom>
          <a:solidFill>
            <a:srgbClr val="F1F5F9"/>
          </a:solidFill>
          <a:ln w="9525">
            <a:solidFill>
              <a:srgbClr val="E2E8F0"/>
            </a:solidFill>
            <a:prstDash val="solid"/>
          </a:ln>
        </p:spPr>
      </p:sp>
      <p:sp>
        <p:nvSpPr>
          <p:cNvPr id="16" name="Shape 14"/>
          <p:cNvSpPr/>
          <p:nvPr/>
        </p:nvSpPr>
        <p:spPr>
          <a:xfrm>
            <a:off x="365760" y="2432304"/>
            <a:ext cx="1931670" cy="365760"/>
          </a:xfrm>
          <a:prstGeom prst="rect">
            <a:avLst/>
          </a:prstGeom>
          <a:solidFill>
            <a:srgbClr val="F8FAFC"/>
          </a:solidFill>
          <a:ln w="9525">
            <a:solidFill>
              <a:srgbClr val="E2E8F0"/>
            </a:solidFill>
            <a:prstDash val="solid"/>
          </a:ln>
        </p:spPr>
      </p:sp>
      <p:sp>
        <p:nvSpPr>
          <p:cNvPr id="17" name="Shape 15"/>
          <p:cNvSpPr/>
          <p:nvPr/>
        </p:nvSpPr>
        <p:spPr>
          <a:xfrm>
            <a:off x="365760" y="2834640"/>
            <a:ext cx="1931670" cy="365760"/>
          </a:xfrm>
          <a:prstGeom prst="rect">
            <a:avLst/>
          </a:prstGeom>
          <a:solidFill>
            <a:srgbClr val="F1F5F9"/>
          </a:solidFill>
          <a:ln w="9525">
            <a:solidFill>
              <a:srgbClr val="E2E8F0"/>
            </a:solidFill>
            <a:prstDash val="solid"/>
          </a:ln>
        </p:spPr>
      </p:sp>
      <p:sp>
        <p:nvSpPr>
          <p:cNvPr id="18" name="Shape 16"/>
          <p:cNvSpPr/>
          <p:nvPr/>
        </p:nvSpPr>
        <p:spPr>
          <a:xfrm>
            <a:off x="365760" y="3236976"/>
            <a:ext cx="1931670" cy="365760"/>
          </a:xfrm>
          <a:prstGeom prst="rect">
            <a:avLst/>
          </a:prstGeom>
          <a:solidFill>
            <a:srgbClr val="F8FAFC"/>
          </a:solidFill>
          <a:ln w="9525">
            <a:solidFill>
              <a:srgbClr val="E2E8F0"/>
            </a:solidFill>
            <a:prstDash val="solid"/>
          </a:ln>
        </p:spPr>
      </p:sp>
      <p:sp>
        <p:nvSpPr>
          <p:cNvPr id="19" name="Shape 17"/>
          <p:cNvSpPr/>
          <p:nvPr/>
        </p:nvSpPr>
        <p:spPr>
          <a:xfrm>
            <a:off x="2526030" y="1188720"/>
            <a:ext cx="1931670" cy="402336"/>
          </a:xfrm>
          <a:prstGeom prst="rect">
            <a:avLst>
              <a:gd name="adj" fmla="val 13636"/>
            </a:avLst>
          </a:prstGeom>
          <a:solidFill>
            <a:srgbClr val="0D9488"/>
          </a:solidFill>
          <a:ln w="12700">
            <a:solidFill>
              <a:srgbClr val="0D9488"/>
            </a:solidFill>
            <a:prstDash val="solid"/>
          </a:ln>
        </p:spPr>
      </p:sp>
      <p:sp>
        <p:nvSpPr>
          <p:cNvPr id="20" name="Text 18"/>
          <p:cNvSpPr/>
          <p:nvPr/>
        </p:nvSpPr>
        <p:spPr>
          <a:xfrm>
            <a:off x="2526030" y="118872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Bases</a:t>
            </a:r>
            <a:endParaRPr lang="en-US" sz="1200" dirty="0"/>
          </a:p>
        </p:txBody>
      </p:sp>
      <p:sp>
        <p:nvSpPr>
          <p:cNvPr id="21" name="Shape 19"/>
          <p:cNvSpPr/>
          <p:nvPr/>
        </p:nvSpPr>
        <p:spPr>
          <a:xfrm>
            <a:off x="2526030" y="1627632"/>
            <a:ext cx="1931670" cy="365760"/>
          </a:xfrm>
          <a:prstGeom prst="rect">
            <a:avLst/>
          </a:prstGeom>
          <a:solidFill>
            <a:srgbClr val="CCFBF1"/>
          </a:solidFill>
          <a:ln w="9525">
            <a:solidFill>
              <a:srgbClr val="E2E8F0"/>
            </a:solidFill>
            <a:prstDash val="solid"/>
          </a:ln>
        </p:spPr>
      </p:sp>
      <p:sp>
        <p:nvSpPr>
          <p:cNvPr id="22" name="Text 20"/>
          <p:cNvSpPr/>
          <p:nvPr/>
        </p:nvSpPr>
        <p:spPr>
          <a:xfrm>
            <a:off x="2526030" y="1627632"/>
            <a:ext cx="1931670" cy="36576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vis</a:t>
            </a:r>
            <a:endParaRPr lang="en-US" sz="1300" dirty="0"/>
          </a:p>
        </p:txBody>
      </p:sp>
      <p:sp>
        <p:nvSpPr>
          <p:cNvPr id="23" name="Shape 21"/>
          <p:cNvSpPr/>
          <p:nvPr/>
        </p:nvSpPr>
        <p:spPr>
          <a:xfrm>
            <a:off x="2526030" y="2029968"/>
            <a:ext cx="1931670" cy="365760"/>
          </a:xfrm>
          <a:prstGeom prst="rect">
            <a:avLst/>
          </a:prstGeom>
          <a:solidFill>
            <a:srgbClr val="CCFBF1"/>
          </a:solidFill>
          <a:ln w="9525">
            <a:solidFill>
              <a:srgbClr val="E2E8F0"/>
            </a:solidFill>
            <a:prstDash val="solid"/>
          </a:ln>
        </p:spPr>
      </p:sp>
      <p:sp>
        <p:nvSpPr>
          <p:cNvPr id="24" name="Text 22"/>
          <p:cNvSpPr/>
          <p:nvPr/>
        </p:nvSpPr>
        <p:spPr>
          <a:xfrm>
            <a:off x="2526030" y="2029968"/>
            <a:ext cx="1931670" cy="36576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gram</a:t>
            </a:r>
            <a:endParaRPr lang="en-US" sz="1300" dirty="0"/>
          </a:p>
        </p:txBody>
      </p:sp>
      <p:sp>
        <p:nvSpPr>
          <p:cNvPr id="25" name="Shape 23"/>
          <p:cNvSpPr/>
          <p:nvPr/>
        </p:nvSpPr>
        <p:spPr>
          <a:xfrm>
            <a:off x="2526030" y="2432304"/>
            <a:ext cx="1931670" cy="365760"/>
          </a:xfrm>
          <a:prstGeom prst="rect">
            <a:avLst/>
          </a:prstGeom>
          <a:solidFill>
            <a:srgbClr val="CCFBF1"/>
          </a:solidFill>
          <a:ln w="9525">
            <a:solidFill>
              <a:srgbClr val="E2E8F0"/>
            </a:solidFill>
            <a:prstDash val="solid"/>
          </a:ln>
        </p:spPr>
      </p:sp>
      <p:sp>
        <p:nvSpPr>
          <p:cNvPr id="26" name="Text 24"/>
          <p:cNvSpPr/>
          <p:nvPr/>
        </p:nvSpPr>
        <p:spPr>
          <a:xfrm>
            <a:off x="2526030" y="2432304"/>
            <a:ext cx="1931670" cy="36576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graph</a:t>
            </a:r>
            <a:endParaRPr lang="en-US" sz="1300" dirty="0"/>
          </a:p>
        </p:txBody>
      </p:sp>
      <p:sp>
        <p:nvSpPr>
          <p:cNvPr id="27" name="Shape 25"/>
          <p:cNvSpPr/>
          <p:nvPr/>
        </p:nvSpPr>
        <p:spPr>
          <a:xfrm>
            <a:off x="2526030" y="2834640"/>
            <a:ext cx="1931670" cy="365760"/>
          </a:xfrm>
          <a:prstGeom prst="rect">
            <a:avLst/>
          </a:prstGeom>
          <a:solidFill>
            <a:srgbClr val="CCFBF1"/>
          </a:solidFill>
          <a:ln w="9525">
            <a:solidFill>
              <a:srgbClr val="E2E8F0"/>
            </a:solidFill>
            <a:prstDash val="solid"/>
          </a:ln>
        </p:spPr>
      </p:sp>
      <p:sp>
        <p:nvSpPr>
          <p:cNvPr id="28" name="Text 26"/>
          <p:cNvSpPr/>
          <p:nvPr/>
        </p:nvSpPr>
        <p:spPr>
          <a:xfrm>
            <a:off x="2526030" y="2834640"/>
            <a:ext cx="1931670" cy="36576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communicate</a:t>
            </a:r>
            <a:endParaRPr lang="en-US" sz="1300" dirty="0"/>
          </a:p>
        </p:txBody>
      </p:sp>
      <p:sp>
        <p:nvSpPr>
          <p:cNvPr id="29" name="Shape 27"/>
          <p:cNvSpPr/>
          <p:nvPr/>
        </p:nvSpPr>
        <p:spPr>
          <a:xfrm>
            <a:off x="2526030" y="3236976"/>
            <a:ext cx="1931670" cy="365760"/>
          </a:xfrm>
          <a:prstGeom prst="rect">
            <a:avLst/>
          </a:prstGeom>
          <a:solidFill>
            <a:srgbClr val="CCFBF1"/>
          </a:solidFill>
          <a:ln w="9525">
            <a:solidFill>
              <a:srgbClr val="E2E8F0"/>
            </a:solidFill>
            <a:prstDash val="solid"/>
          </a:ln>
        </p:spPr>
      </p:sp>
      <p:sp>
        <p:nvSpPr>
          <p:cNvPr id="30" name="Text 28"/>
          <p:cNvSpPr/>
          <p:nvPr/>
        </p:nvSpPr>
        <p:spPr>
          <a:xfrm>
            <a:off x="2526030" y="3236976"/>
            <a:ext cx="1931670" cy="365760"/>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phone</a:t>
            </a:r>
            <a:endParaRPr lang="en-US" sz="1300" dirty="0"/>
          </a:p>
        </p:txBody>
      </p:sp>
      <p:sp>
        <p:nvSpPr>
          <p:cNvPr id="31" name="Shape 29"/>
          <p:cNvSpPr/>
          <p:nvPr/>
        </p:nvSpPr>
        <p:spPr>
          <a:xfrm>
            <a:off x="4686300" y="1188720"/>
            <a:ext cx="1931670" cy="402336"/>
          </a:xfrm>
          <a:prstGeom prst="rect">
            <a:avLst>
              <a:gd name="adj" fmla="val 13636"/>
            </a:avLst>
          </a:prstGeom>
          <a:solidFill>
            <a:srgbClr val="DB2777"/>
          </a:solidFill>
          <a:ln w="12700">
            <a:solidFill>
              <a:srgbClr val="DB2777"/>
            </a:solidFill>
            <a:prstDash val="solid"/>
          </a:ln>
        </p:spPr>
      </p:sp>
      <p:sp>
        <p:nvSpPr>
          <p:cNvPr id="32" name="Text 30"/>
          <p:cNvSpPr/>
          <p:nvPr/>
        </p:nvSpPr>
        <p:spPr>
          <a:xfrm>
            <a:off x="4686300" y="118872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Suffixes</a:t>
            </a:r>
            <a:endParaRPr lang="en-US" sz="1200" dirty="0"/>
          </a:p>
        </p:txBody>
      </p:sp>
      <p:sp>
        <p:nvSpPr>
          <p:cNvPr id="33" name="Shape 31"/>
          <p:cNvSpPr/>
          <p:nvPr/>
        </p:nvSpPr>
        <p:spPr>
          <a:xfrm>
            <a:off x="4686300" y="1627632"/>
            <a:ext cx="1931670" cy="365760"/>
          </a:xfrm>
          <a:prstGeom prst="rect">
            <a:avLst/>
          </a:prstGeom>
          <a:solidFill>
            <a:srgbClr val="FCE7F3"/>
          </a:solidFill>
          <a:ln w="9525">
            <a:solidFill>
              <a:srgbClr val="E2E8F0"/>
            </a:solidFill>
            <a:prstDash val="solid"/>
          </a:ln>
        </p:spPr>
      </p:sp>
      <p:sp>
        <p:nvSpPr>
          <p:cNvPr id="34" name="Text 32"/>
          <p:cNvSpPr/>
          <p:nvPr/>
        </p:nvSpPr>
        <p:spPr>
          <a:xfrm>
            <a:off x="4686300" y="1627632"/>
            <a:ext cx="1931670" cy="365760"/>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-ion</a:t>
            </a:r>
            <a:endParaRPr lang="en-US" sz="1300" dirty="0"/>
          </a:p>
        </p:txBody>
      </p:sp>
      <p:sp>
        <p:nvSpPr>
          <p:cNvPr id="35" name="Shape 33"/>
          <p:cNvSpPr/>
          <p:nvPr/>
        </p:nvSpPr>
        <p:spPr>
          <a:xfrm>
            <a:off x="4686300" y="2029968"/>
            <a:ext cx="1931670" cy="365760"/>
          </a:xfrm>
          <a:prstGeom prst="rect">
            <a:avLst/>
          </a:prstGeom>
          <a:solidFill>
            <a:srgbClr val="FCE7F3"/>
          </a:solidFill>
          <a:ln w="9525">
            <a:solidFill>
              <a:srgbClr val="E2E8F0"/>
            </a:solidFill>
            <a:prstDash val="solid"/>
          </a:ln>
        </p:spPr>
      </p:sp>
      <p:sp>
        <p:nvSpPr>
          <p:cNvPr id="36" name="Text 34"/>
          <p:cNvSpPr/>
          <p:nvPr/>
        </p:nvSpPr>
        <p:spPr>
          <a:xfrm>
            <a:off x="4686300" y="2029968"/>
            <a:ext cx="1931670" cy="365760"/>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-pathy</a:t>
            </a:r>
            <a:endParaRPr lang="en-US" sz="1300" dirty="0"/>
          </a:p>
        </p:txBody>
      </p:sp>
      <p:sp>
        <p:nvSpPr>
          <p:cNvPr id="37" name="Shape 35"/>
          <p:cNvSpPr/>
          <p:nvPr/>
        </p:nvSpPr>
        <p:spPr>
          <a:xfrm>
            <a:off x="4686300" y="2432304"/>
            <a:ext cx="1931670" cy="365760"/>
          </a:xfrm>
          <a:prstGeom prst="rect">
            <a:avLst/>
          </a:prstGeom>
          <a:solidFill>
            <a:srgbClr val="F8FAFC"/>
          </a:solidFill>
          <a:ln w="9525">
            <a:solidFill>
              <a:srgbClr val="E2E8F0"/>
            </a:solidFill>
            <a:prstDash val="solid"/>
          </a:ln>
        </p:spPr>
      </p:sp>
      <p:sp>
        <p:nvSpPr>
          <p:cNvPr id="38" name="Shape 36"/>
          <p:cNvSpPr/>
          <p:nvPr/>
        </p:nvSpPr>
        <p:spPr>
          <a:xfrm>
            <a:off x="4686300" y="2834640"/>
            <a:ext cx="1931670" cy="365760"/>
          </a:xfrm>
          <a:prstGeom prst="rect">
            <a:avLst/>
          </a:prstGeom>
          <a:solidFill>
            <a:srgbClr val="F1F5F9"/>
          </a:solidFill>
          <a:ln w="9525">
            <a:solidFill>
              <a:srgbClr val="E2E8F0"/>
            </a:solidFill>
            <a:prstDash val="solid"/>
          </a:ln>
        </p:spPr>
      </p:sp>
      <p:sp>
        <p:nvSpPr>
          <p:cNvPr id="39" name="Shape 37"/>
          <p:cNvSpPr/>
          <p:nvPr/>
        </p:nvSpPr>
        <p:spPr>
          <a:xfrm>
            <a:off x="4686300" y="3236976"/>
            <a:ext cx="1931670" cy="365760"/>
          </a:xfrm>
          <a:prstGeom prst="rect">
            <a:avLst/>
          </a:prstGeom>
          <a:solidFill>
            <a:srgbClr val="F8FAFC"/>
          </a:solidFill>
          <a:ln w="9525">
            <a:solidFill>
              <a:srgbClr val="E2E8F0"/>
            </a:solidFill>
            <a:prstDash val="solid"/>
          </a:ln>
        </p:spPr>
      </p:sp>
      <p:sp>
        <p:nvSpPr>
          <p:cNvPr id="40" name="Shape 38"/>
          <p:cNvSpPr/>
          <p:nvPr/>
        </p:nvSpPr>
        <p:spPr>
          <a:xfrm>
            <a:off x="6846570" y="1188720"/>
            <a:ext cx="1931670" cy="402336"/>
          </a:xfrm>
          <a:prstGeom prst="rect">
            <a:avLst>
              <a:gd name="adj" fmla="val 13636"/>
            </a:avLst>
          </a:prstGeom>
          <a:solidFill>
            <a:srgbClr val="DB2777"/>
          </a:solidFill>
          <a:ln w="12700">
            <a:solidFill>
              <a:srgbClr val="DB2777"/>
            </a:solidFill>
            <a:prstDash val="solid"/>
          </a:ln>
        </p:spPr>
      </p:sp>
      <p:sp>
        <p:nvSpPr>
          <p:cNvPr id="41" name="Text 39"/>
          <p:cNvSpPr/>
          <p:nvPr/>
        </p:nvSpPr>
        <p:spPr>
          <a:xfrm>
            <a:off x="6846570" y="118872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More suffixes</a:t>
            </a:r>
            <a:endParaRPr lang="en-US" sz="1200" dirty="0"/>
          </a:p>
        </p:txBody>
      </p:sp>
      <p:sp>
        <p:nvSpPr>
          <p:cNvPr id="42" name="Shape 40"/>
          <p:cNvSpPr/>
          <p:nvPr/>
        </p:nvSpPr>
        <p:spPr>
          <a:xfrm>
            <a:off x="6846570" y="1627632"/>
            <a:ext cx="1931670" cy="365760"/>
          </a:xfrm>
          <a:prstGeom prst="rect">
            <a:avLst/>
          </a:prstGeom>
          <a:solidFill>
            <a:srgbClr val="FCE7F3"/>
          </a:solidFill>
          <a:ln w="9525">
            <a:solidFill>
              <a:srgbClr val="E2E8F0"/>
            </a:solidFill>
            <a:prstDash val="solid"/>
          </a:ln>
        </p:spPr>
      </p:sp>
      <p:sp>
        <p:nvSpPr>
          <p:cNvPr id="43" name="Text 41"/>
          <p:cNvSpPr/>
          <p:nvPr/>
        </p:nvSpPr>
        <p:spPr>
          <a:xfrm>
            <a:off x="6846570" y="1627632"/>
            <a:ext cx="1931670" cy="365760"/>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-s</a:t>
            </a:r>
            <a:endParaRPr lang="en-US" sz="1300" dirty="0"/>
          </a:p>
        </p:txBody>
      </p:sp>
      <p:sp>
        <p:nvSpPr>
          <p:cNvPr id="44" name="Shape 42"/>
          <p:cNvSpPr/>
          <p:nvPr/>
        </p:nvSpPr>
        <p:spPr>
          <a:xfrm>
            <a:off x="6846570" y="2029968"/>
            <a:ext cx="1931670" cy="365760"/>
          </a:xfrm>
          <a:prstGeom prst="rect">
            <a:avLst/>
          </a:prstGeom>
          <a:solidFill>
            <a:srgbClr val="F1F5F9"/>
          </a:solidFill>
          <a:ln w="9525">
            <a:solidFill>
              <a:srgbClr val="E2E8F0"/>
            </a:solidFill>
            <a:prstDash val="solid"/>
          </a:ln>
        </p:spPr>
      </p:sp>
      <p:sp>
        <p:nvSpPr>
          <p:cNvPr id="45" name="Shape 43"/>
          <p:cNvSpPr/>
          <p:nvPr/>
        </p:nvSpPr>
        <p:spPr>
          <a:xfrm>
            <a:off x="6846570" y="2432304"/>
            <a:ext cx="1931670" cy="365760"/>
          </a:xfrm>
          <a:prstGeom prst="rect">
            <a:avLst/>
          </a:prstGeom>
          <a:solidFill>
            <a:srgbClr val="F8FAFC"/>
          </a:solidFill>
          <a:ln w="9525">
            <a:solidFill>
              <a:srgbClr val="E2E8F0"/>
            </a:solidFill>
            <a:prstDash val="solid"/>
          </a:ln>
        </p:spPr>
      </p:sp>
      <p:sp>
        <p:nvSpPr>
          <p:cNvPr id="46" name="Shape 44"/>
          <p:cNvSpPr/>
          <p:nvPr/>
        </p:nvSpPr>
        <p:spPr>
          <a:xfrm>
            <a:off x="6846570" y="2834640"/>
            <a:ext cx="1931670" cy="365760"/>
          </a:xfrm>
          <a:prstGeom prst="rect">
            <a:avLst/>
          </a:prstGeom>
          <a:solidFill>
            <a:srgbClr val="F1F5F9"/>
          </a:solidFill>
          <a:ln w="9525">
            <a:solidFill>
              <a:srgbClr val="E2E8F0"/>
            </a:solidFill>
            <a:prstDash val="solid"/>
          </a:ln>
        </p:spPr>
      </p:sp>
      <p:sp>
        <p:nvSpPr>
          <p:cNvPr id="47" name="Shape 45"/>
          <p:cNvSpPr/>
          <p:nvPr/>
        </p:nvSpPr>
        <p:spPr>
          <a:xfrm>
            <a:off x="6846570" y="3236976"/>
            <a:ext cx="1931670" cy="365760"/>
          </a:xfrm>
          <a:prstGeom prst="rect">
            <a:avLst/>
          </a:prstGeom>
          <a:solidFill>
            <a:srgbClr val="F8FAFC"/>
          </a:solidFill>
          <a:ln w="9525">
            <a:solidFill>
              <a:srgbClr val="E2E8F0"/>
            </a:solidFill>
            <a:prstDash val="solid"/>
          </a:ln>
        </p:spPr>
      </p:sp>
      <p:sp>
        <p:nvSpPr>
          <p:cNvPr id="48" name="Text 46"/>
          <p:cNvSpPr/>
          <p:nvPr/>
        </p:nvSpPr>
        <p:spPr>
          <a:xfrm>
            <a:off x="365760" y="3776472"/>
            <a:ext cx="1051560" cy="420624"/>
          </a:xfrm>
          <a:prstGeom prst="rect">
            <a:avLst/>
          </a:prstGeom>
          <a:noFill/>
          <a:ln/>
        </p:spPr>
        <p:txBody>
          <a:bodyPr wrap="square" lIns="0" tIns="0" rIns="0" bIns="0" rtlCol="0" anchor="ctr"/>
          <a:lstStyle/>
          <a:p>
            <a:pPr algn="l" indent="0" marL="0">
              <a:buNone/>
            </a:pPr>
            <a:r>
              <a:rPr lang="en-US" sz="1200" b="1" dirty="0">
                <a:solidFill>
                  <a:srgbClr val="475569"/>
                </a:solidFill>
                <a:latin typeface="Calibri" pitchFamily="34" charset="0"/>
                <a:ea typeface="Calibri" pitchFamily="34" charset="-122"/>
                <a:cs typeface="Calibri" pitchFamily="34" charset="-120"/>
              </a:rPr>
              <a:t>Example:</a:t>
            </a:r>
            <a:endParaRPr lang="en-US" sz="1200" dirty="0"/>
          </a:p>
        </p:txBody>
      </p:sp>
      <p:sp>
        <p:nvSpPr>
          <p:cNvPr id="49" name="Shape 47"/>
          <p:cNvSpPr/>
          <p:nvPr/>
        </p:nvSpPr>
        <p:spPr>
          <a:xfrm>
            <a:off x="1463040" y="3776472"/>
            <a:ext cx="1005840" cy="420624"/>
          </a:xfrm>
          <a:prstGeom prst="rect">
            <a:avLst>
              <a:gd name="adj" fmla="val 17391"/>
            </a:avLst>
          </a:prstGeom>
          <a:solidFill>
            <a:srgbClr val="DDD6FE"/>
          </a:solidFill>
          <a:ln w="19050">
            <a:solidFill>
              <a:srgbClr val="7C3AED"/>
            </a:solidFill>
            <a:prstDash val="solid"/>
          </a:ln>
          <a:effectLst>
            <a:outerShdw sx="100000" sy="100000" kx="0" ky="0" algn="bl" rotWithShape="0" blurRad="101600" dist="38100" dir="8100000">
              <a:srgbClr val="000000">
                <a:alpha val="12000"/>
              </a:srgbClr>
            </a:outerShdw>
          </a:effectLst>
        </p:spPr>
      </p:sp>
      <p:sp>
        <p:nvSpPr>
          <p:cNvPr id="50" name="Text 48"/>
          <p:cNvSpPr/>
          <p:nvPr/>
        </p:nvSpPr>
        <p:spPr>
          <a:xfrm>
            <a:off x="1463040" y="3776472"/>
            <a:ext cx="1005840" cy="420624"/>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51" name="Text 49"/>
          <p:cNvSpPr/>
          <p:nvPr/>
        </p:nvSpPr>
        <p:spPr>
          <a:xfrm>
            <a:off x="2505456" y="3776472"/>
            <a:ext cx="274320" cy="420624"/>
          </a:xfrm>
          <a:prstGeom prst="rect">
            <a:avLst/>
          </a:prstGeom>
          <a:noFill/>
          <a:ln/>
        </p:spPr>
        <p:txBody>
          <a:bodyPr wrap="square" lIns="0" tIns="0" rIns="0" bIns="0" rtlCol="0" anchor="ctr"/>
          <a:lstStyle/>
          <a:p>
            <a:pPr algn="ctr" indent="0" marL="0">
              <a:buNone/>
            </a:pPr>
            <a:r>
              <a:rPr lang="en-US" sz="1400" dirty="0">
                <a:solidFill>
                  <a:srgbClr val="475569"/>
                </a:solidFill>
                <a:latin typeface="Trebuchet MS" pitchFamily="34" charset="0"/>
                <a:ea typeface="Trebuchet MS" pitchFamily="34" charset="-122"/>
                <a:cs typeface="Trebuchet MS" pitchFamily="34" charset="-120"/>
              </a:rPr>
              <a:t>+</a:t>
            </a:r>
            <a:endParaRPr lang="en-US" sz="1400" dirty="0"/>
          </a:p>
        </p:txBody>
      </p:sp>
      <p:sp>
        <p:nvSpPr>
          <p:cNvPr id="52" name="Shape 50"/>
          <p:cNvSpPr/>
          <p:nvPr/>
        </p:nvSpPr>
        <p:spPr>
          <a:xfrm>
            <a:off x="2798064" y="3776472"/>
            <a:ext cx="731520" cy="420624"/>
          </a:xfrm>
          <a:prstGeom prst="rect">
            <a:avLst>
              <a:gd name="adj" fmla="val 17391"/>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53" name="Text 51"/>
          <p:cNvSpPr/>
          <p:nvPr/>
        </p:nvSpPr>
        <p:spPr>
          <a:xfrm>
            <a:off x="2798064" y="3776472"/>
            <a:ext cx="731520" cy="420624"/>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vis</a:t>
            </a:r>
            <a:endParaRPr lang="en-US" sz="1300" dirty="0"/>
          </a:p>
        </p:txBody>
      </p:sp>
      <p:sp>
        <p:nvSpPr>
          <p:cNvPr id="54" name="Text 52"/>
          <p:cNvSpPr/>
          <p:nvPr/>
        </p:nvSpPr>
        <p:spPr>
          <a:xfrm>
            <a:off x="3566160" y="3776472"/>
            <a:ext cx="274320" cy="420624"/>
          </a:xfrm>
          <a:prstGeom prst="rect">
            <a:avLst/>
          </a:prstGeom>
          <a:noFill/>
          <a:ln/>
        </p:spPr>
        <p:txBody>
          <a:bodyPr wrap="square" lIns="0" tIns="0" rIns="0" bIns="0" rtlCol="0" anchor="ctr"/>
          <a:lstStyle/>
          <a:p>
            <a:pPr algn="ctr" indent="0" marL="0">
              <a:buNone/>
            </a:pPr>
            <a:r>
              <a:rPr lang="en-US" sz="1400" dirty="0">
                <a:solidFill>
                  <a:srgbClr val="475569"/>
                </a:solidFill>
                <a:latin typeface="Trebuchet MS" pitchFamily="34" charset="0"/>
                <a:ea typeface="Trebuchet MS" pitchFamily="34" charset="-122"/>
                <a:cs typeface="Trebuchet MS" pitchFamily="34" charset="-120"/>
              </a:rPr>
              <a:t>+</a:t>
            </a:r>
            <a:endParaRPr lang="en-US" sz="1400" dirty="0"/>
          </a:p>
        </p:txBody>
      </p:sp>
      <p:sp>
        <p:nvSpPr>
          <p:cNvPr id="55" name="Shape 53"/>
          <p:cNvSpPr/>
          <p:nvPr/>
        </p:nvSpPr>
        <p:spPr>
          <a:xfrm>
            <a:off x="3858768" y="3776472"/>
            <a:ext cx="868680" cy="420624"/>
          </a:xfrm>
          <a:prstGeom prst="rect">
            <a:avLst>
              <a:gd name="adj" fmla="val 17391"/>
            </a:avLst>
          </a:prstGeom>
          <a:solidFill>
            <a:srgbClr val="FCE7F3"/>
          </a:solidFill>
          <a:ln w="19050">
            <a:solidFill>
              <a:srgbClr val="DB2777"/>
            </a:solidFill>
            <a:prstDash val="solid"/>
          </a:ln>
          <a:effectLst>
            <a:outerShdw sx="100000" sy="100000" kx="0" ky="0" algn="bl" rotWithShape="0" blurRad="101600" dist="38100" dir="8100000">
              <a:srgbClr val="000000">
                <a:alpha val="12000"/>
              </a:srgbClr>
            </a:outerShdw>
          </a:effectLst>
        </p:spPr>
      </p:sp>
      <p:sp>
        <p:nvSpPr>
          <p:cNvPr id="56" name="Text 54"/>
          <p:cNvSpPr/>
          <p:nvPr/>
        </p:nvSpPr>
        <p:spPr>
          <a:xfrm>
            <a:off x="3858768" y="3776472"/>
            <a:ext cx="868680" cy="420624"/>
          </a:xfrm>
          <a:prstGeom prst="rect">
            <a:avLst/>
          </a:prstGeom>
          <a:noFill/>
          <a:ln/>
        </p:spPr>
        <p:txBody>
          <a:bodyPr wrap="square" lIns="0" tIns="0" rIns="0" bIns="0" rtlCol="0" anchor="ctr">
            <a:normAutofit/>
          </a:bodyP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-ion</a:t>
            </a:r>
            <a:endParaRPr lang="en-US" sz="1300" dirty="0"/>
          </a:p>
        </p:txBody>
      </p:sp>
      <p:sp>
        <p:nvSpPr>
          <p:cNvPr id="57" name="Text 55"/>
          <p:cNvSpPr/>
          <p:nvPr/>
        </p:nvSpPr>
        <p:spPr>
          <a:xfrm>
            <a:off x="4809744" y="3776472"/>
            <a:ext cx="365760" cy="420624"/>
          </a:xfrm>
          <a:prstGeom prst="rect">
            <a:avLst/>
          </a:prstGeom>
          <a:noFill/>
          <a:ln/>
        </p:spPr>
        <p:txBody>
          <a:bodyPr wrap="square" lIns="0" tIns="0" rIns="0" bIns="0" rtlCol="0" anchor="ctr"/>
          <a:lstStyle/>
          <a:p>
            <a:pPr algn="ctr" indent="0" marL="0">
              <a:buNone/>
            </a:pPr>
            <a:r>
              <a:rPr lang="en-US" sz="1800" b="1" dirty="0">
                <a:solidFill>
                  <a:srgbClr val="0D9488"/>
                </a:solidFill>
                <a:latin typeface="Trebuchet MS" pitchFamily="34" charset="0"/>
                <a:ea typeface="Trebuchet MS" pitchFamily="34" charset="-122"/>
                <a:cs typeface="Trebuchet MS" pitchFamily="34" charset="-120"/>
              </a:rPr>
              <a:t>=</a:t>
            </a:r>
            <a:endParaRPr lang="en-US" sz="1800" dirty="0"/>
          </a:p>
        </p:txBody>
      </p:sp>
      <p:sp>
        <p:nvSpPr>
          <p:cNvPr id="58" name="Shape 56"/>
          <p:cNvSpPr/>
          <p:nvPr/>
        </p:nvSpPr>
        <p:spPr>
          <a:xfrm>
            <a:off x="5221224" y="3776472"/>
            <a:ext cx="2011680" cy="420624"/>
          </a:xfrm>
          <a:prstGeom prst="rect">
            <a:avLst>
              <a:gd name="adj" fmla="val 17391"/>
            </a:avLst>
          </a:prstGeom>
          <a:solidFill>
            <a:srgbClr val="0D9488"/>
          </a:solidFill>
          <a:ln w="12700">
            <a:solidFill>
              <a:srgbClr val="0D9488"/>
            </a:solidFill>
            <a:prstDash val="solid"/>
          </a:ln>
        </p:spPr>
      </p:sp>
      <p:sp>
        <p:nvSpPr>
          <p:cNvPr id="59" name="Text 57"/>
          <p:cNvSpPr/>
          <p:nvPr/>
        </p:nvSpPr>
        <p:spPr>
          <a:xfrm>
            <a:off x="5221224" y="3776472"/>
            <a:ext cx="20116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television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'tele-' Word Definitions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Match each word to its meaning. The meanings are mixed up!</a:t>
            </a:r>
            <a:endParaRPr lang="en-US" sz="1300" dirty="0"/>
          </a:p>
        </p:txBody>
      </p:sp>
      <p:sp>
        <p:nvSpPr>
          <p:cNvPr id="11" name="Shape 9"/>
          <p:cNvSpPr/>
          <p:nvPr/>
        </p:nvSpPr>
        <p:spPr>
          <a:xfrm>
            <a:off x="365760" y="1188720"/>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365760" y="1188720"/>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television</a:t>
            </a:r>
            <a:endParaRPr lang="en-US" sz="1200" dirty="0"/>
          </a:p>
        </p:txBody>
      </p:sp>
      <p:sp>
        <p:nvSpPr>
          <p:cNvPr id="13" name="Shape 11"/>
          <p:cNvSpPr/>
          <p:nvPr/>
        </p:nvSpPr>
        <p:spPr>
          <a:xfrm>
            <a:off x="2514600" y="1188720"/>
            <a:ext cx="6263640" cy="438912"/>
          </a:xfrm>
          <a:prstGeom prst="rect">
            <a:avLst>
              <a:gd name="adj" fmla="val 12500"/>
            </a:avLst>
          </a:prstGeom>
          <a:solidFill>
            <a:srgbClr val="F8FAFC"/>
          </a:solidFill>
          <a:ln w="12700">
            <a:solidFill>
              <a:srgbClr val="E2E8F0"/>
            </a:solidFill>
            <a:prstDash val="solid"/>
          </a:ln>
        </p:spPr>
      </p:sp>
      <p:sp>
        <p:nvSpPr>
          <p:cNvPr id="14" name="Text 12"/>
          <p:cNvSpPr/>
          <p:nvPr/>
        </p:nvSpPr>
        <p:spPr>
          <a:xfrm>
            <a:off x="2651760" y="1188720"/>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A.  a system that sends coded messages over long distances using electrical signals along wires</a:t>
            </a:r>
            <a:endParaRPr lang="en-US" sz="1200" dirty="0"/>
          </a:p>
        </p:txBody>
      </p:sp>
      <p:sp>
        <p:nvSpPr>
          <p:cNvPr id="15" name="Shape 13"/>
          <p:cNvSpPr/>
          <p:nvPr/>
        </p:nvSpPr>
        <p:spPr>
          <a:xfrm>
            <a:off x="365760" y="1700784"/>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365760" y="1700784"/>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telegram</a:t>
            </a:r>
            <a:endParaRPr lang="en-US" sz="1200" dirty="0"/>
          </a:p>
        </p:txBody>
      </p:sp>
      <p:sp>
        <p:nvSpPr>
          <p:cNvPr id="17" name="Shape 15"/>
          <p:cNvSpPr/>
          <p:nvPr/>
        </p:nvSpPr>
        <p:spPr>
          <a:xfrm>
            <a:off x="2514600" y="1700784"/>
            <a:ext cx="6263640" cy="438912"/>
          </a:xfrm>
          <a:prstGeom prst="rect">
            <a:avLst>
              <a:gd name="adj" fmla="val 12500"/>
            </a:avLst>
          </a:prstGeom>
          <a:solidFill>
            <a:srgbClr val="F8FAFC"/>
          </a:solidFill>
          <a:ln w="12700">
            <a:solidFill>
              <a:srgbClr val="E2E8F0"/>
            </a:solidFill>
            <a:prstDash val="solid"/>
          </a:ln>
        </p:spPr>
      </p:sp>
      <p:sp>
        <p:nvSpPr>
          <p:cNvPr id="18" name="Text 16"/>
          <p:cNvSpPr/>
          <p:nvPr/>
        </p:nvSpPr>
        <p:spPr>
          <a:xfrm>
            <a:off x="2651760" y="1700784"/>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B.  a device that receives and shows moving pictures and sound as a broadcast programme</a:t>
            </a:r>
            <a:endParaRPr lang="en-US" sz="1200" dirty="0"/>
          </a:p>
        </p:txBody>
      </p:sp>
      <p:sp>
        <p:nvSpPr>
          <p:cNvPr id="19" name="Shape 17"/>
          <p:cNvSpPr/>
          <p:nvPr/>
        </p:nvSpPr>
        <p:spPr>
          <a:xfrm>
            <a:off x="365760" y="2212848"/>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365760" y="2212848"/>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telegraph</a:t>
            </a:r>
            <a:endParaRPr lang="en-US" sz="1200" dirty="0"/>
          </a:p>
        </p:txBody>
      </p:sp>
      <p:sp>
        <p:nvSpPr>
          <p:cNvPr id="21" name="Shape 19"/>
          <p:cNvSpPr/>
          <p:nvPr/>
        </p:nvSpPr>
        <p:spPr>
          <a:xfrm>
            <a:off x="2514600" y="2212848"/>
            <a:ext cx="6263640" cy="438912"/>
          </a:xfrm>
          <a:prstGeom prst="rect">
            <a:avLst>
              <a:gd name="adj" fmla="val 12500"/>
            </a:avLst>
          </a:prstGeom>
          <a:solidFill>
            <a:srgbClr val="F8FAFC"/>
          </a:solidFill>
          <a:ln w="12700">
            <a:solidFill>
              <a:srgbClr val="E2E8F0"/>
            </a:solidFill>
            <a:prstDash val="solid"/>
          </a:ln>
        </p:spPr>
      </p:sp>
      <p:sp>
        <p:nvSpPr>
          <p:cNvPr id="22" name="Text 20"/>
          <p:cNvSpPr/>
          <p:nvPr/>
        </p:nvSpPr>
        <p:spPr>
          <a:xfrm>
            <a:off x="2651760" y="2212848"/>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C.  knowing another person's thoughts without speaking or using any of the five senses</a:t>
            </a:r>
            <a:endParaRPr lang="en-US" sz="1200" dirty="0"/>
          </a:p>
        </p:txBody>
      </p:sp>
      <p:sp>
        <p:nvSpPr>
          <p:cNvPr id="23" name="Shape 21"/>
          <p:cNvSpPr/>
          <p:nvPr/>
        </p:nvSpPr>
        <p:spPr>
          <a:xfrm>
            <a:off x="365760" y="2724912"/>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365760" y="2724912"/>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telecommunications</a:t>
            </a:r>
            <a:endParaRPr lang="en-US" sz="1200" dirty="0"/>
          </a:p>
        </p:txBody>
      </p:sp>
      <p:sp>
        <p:nvSpPr>
          <p:cNvPr id="25" name="Shape 23"/>
          <p:cNvSpPr/>
          <p:nvPr/>
        </p:nvSpPr>
        <p:spPr>
          <a:xfrm>
            <a:off x="2514600" y="2724912"/>
            <a:ext cx="6263640" cy="438912"/>
          </a:xfrm>
          <a:prstGeom prst="rect">
            <a:avLst>
              <a:gd name="adj" fmla="val 12500"/>
            </a:avLst>
          </a:prstGeom>
          <a:solidFill>
            <a:srgbClr val="F8FAFC"/>
          </a:solidFill>
          <a:ln w="12700">
            <a:solidFill>
              <a:srgbClr val="E2E8F0"/>
            </a:solidFill>
            <a:prstDash val="solid"/>
          </a:ln>
        </p:spPr>
      </p:sp>
      <p:sp>
        <p:nvSpPr>
          <p:cNvPr id="26" name="Text 24"/>
          <p:cNvSpPr/>
          <p:nvPr/>
        </p:nvSpPr>
        <p:spPr>
          <a:xfrm>
            <a:off x="2651760" y="2724912"/>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D.  a short printed message sent quickly using electrical signals, especially in the past</a:t>
            </a:r>
            <a:endParaRPr lang="en-US" sz="1200" dirty="0"/>
          </a:p>
        </p:txBody>
      </p:sp>
      <p:sp>
        <p:nvSpPr>
          <p:cNvPr id="27" name="Shape 25"/>
          <p:cNvSpPr/>
          <p:nvPr/>
        </p:nvSpPr>
        <p:spPr>
          <a:xfrm>
            <a:off x="365760" y="3236976"/>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365760" y="3236976"/>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telepathy</a:t>
            </a:r>
            <a:endParaRPr lang="en-US" sz="1200" dirty="0"/>
          </a:p>
        </p:txBody>
      </p:sp>
      <p:sp>
        <p:nvSpPr>
          <p:cNvPr id="29" name="Shape 27"/>
          <p:cNvSpPr/>
          <p:nvPr/>
        </p:nvSpPr>
        <p:spPr>
          <a:xfrm>
            <a:off x="2514600" y="3236976"/>
            <a:ext cx="6263640" cy="438912"/>
          </a:xfrm>
          <a:prstGeom prst="rect">
            <a:avLst>
              <a:gd name="adj" fmla="val 12500"/>
            </a:avLst>
          </a:prstGeom>
          <a:solidFill>
            <a:srgbClr val="F8FAFC"/>
          </a:solidFill>
          <a:ln w="12700">
            <a:solidFill>
              <a:srgbClr val="E2E8F0"/>
            </a:solidFill>
            <a:prstDash val="solid"/>
          </a:ln>
        </p:spPr>
      </p:sp>
      <p:sp>
        <p:nvSpPr>
          <p:cNvPr id="30" name="Text 28"/>
          <p:cNvSpPr/>
          <p:nvPr/>
        </p:nvSpPr>
        <p:spPr>
          <a:xfrm>
            <a:off x="2651760" y="3236976"/>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E.  the sending of messages or signals over long distances, such as by phone or internet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'tele-' Word Definitions — Answers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matches.</a:t>
            </a:r>
            <a:endParaRPr lang="en-US" sz="1300" dirty="0"/>
          </a:p>
        </p:txBody>
      </p:sp>
      <p:sp>
        <p:nvSpPr>
          <p:cNvPr id="11" name="Shape 9"/>
          <p:cNvSpPr/>
          <p:nvPr/>
        </p:nvSpPr>
        <p:spPr>
          <a:xfrm>
            <a:off x="365760" y="1188720"/>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365760" y="1188720"/>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television</a:t>
            </a:r>
            <a:endParaRPr lang="en-US" sz="1200" dirty="0"/>
          </a:p>
        </p:txBody>
      </p:sp>
      <p:sp>
        <p:nvSpPr>
          <p:cNvPr id="13" name="Shape 11"/>
          <p:cNvSpPr/>
          <p:nvPr/>
        </p:nvSpPr>
        <p:spPr>
          <a:xfrm>
            <a:off x="2514600" y="1188720"/>
            <a:ext cx="6263640" cy="438912"/>
          </a:xfrm>
          <a:prstGeom prst="rect">
            <a:avLst>
              <a:gd name="adj" fmla="val 12500"/>
            </a:avLst>
          </a:prstGeom>
          <a:solidFill>
            <a:srgbClr val="DCFCE7"/>
          </a:solidFill>
          <a:ln w="12700">
            <a:solidFill>
              <a:srgbClr val="16A34A"/>
            </a:solidFill>
            <a:prstDash val="solid"/>
          </a:ln>
        </p:spPr>
      </p:sp>
      <p:sp>
        <p:nvSpPr>
          <p:cNvPr id="14" name="Text 12"/>
          <p:cNvSpPr/>
          <p:nvPr/>
        </p:nvSpPr>
        <p:spPr>
          <a:xfrm>
            <a:off x="2651760" y="1188720"/>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A.  a device that receives and shows moving pictures and sound as a broadcast programme</a:t>
            </a:r>
            <a:endParaRPr lang="en-US" sz="1200" dirty="0"/>
          </a:p>
        </p:txBody>
      </p:sp>
      <p:sp>
        <p:nvSpPr>
          <p:cNvPr id="15" name="Shape 13"/>
          <p:cNvSpPr/>
          <p:nvPr/>
        </p:nvSpPr>
        <p:spPr>
          <a:xfrm>
            <a:off x="365760" y="1700784"/>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365760" y="1700784"/>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telegram</a:t>
            </a:r>
            <a:endParaRPr lang="en-US" sz="1200" dirty="0"/>
          </a:p>
        </p:txBody>
      </p:sp>
      <p:sp>
        <p:nvSpPr>
          <p:cNvPr id="17" name="Shape 15"/>
          <p:cNvSpPr/>
          <p:nvPr/>
        </p:nvSpPr>
        <p:spPr>
          <a:xfrm>
            <a:off x="2514600" y="1700784"/>
            <a:ext cx="6263640" cy="438912"/>
          </a:xfrm>
          <a:prstGeom prst="rect">
            <a:avLst>
              <a:gd name="adj" fmla="val 12500"/>
            </a:avLst>
          </a:prstGeom>
          <a:solidFill>
            <a:srgbClr val="DCFCE7"/>
          </a:solidFill>
          <a:ln w="12700">
            <a:solidFill>
              <a:srgbClr val="16A34A"/>
            </a:solidFill>
            <a:prstDash val="solid"/>
          </a:ln>
        </p:spPr>
      </p:sp>
      <p:sp>
        <p:nvSpPr>
          <p:cNvPr id="18" name="Text 16"/>
          <p:cNvSpPr/>
          <p:nvPr/>
        </p:nvSpPr>
        <p:spPr>
          <a:xfrm>
            <a:off x="2651760" y="1700784"/>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B.  a short printed message sent quickly using electrical signals, especially in the past</a:t>
            </a:r>
            <a:endParaRPr lang="en-US" sz="1200" dirty="0"/>
          </a:p>
        </p:txBody>
      </p:sp>
      <p:sp>
        <p:nvSpPr>
          <p:cNvPr id="19" name="Shape 17"/>
          <p:cNvSpPr/>
          <p:nvPr/>
        </p:nvSpPr>
        <p:spPr>
          <a:xfrm>
            <a:off x="365760" y="2212848"/>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365760" y="2212848"/>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telegraph</a:t>
            </a:r>
            <a:endParaRPr lang="en-US" sz="1200" dirty="0"/>
          </a:p>
        </p:txBody>
      </p:sp>
      <p:sp>
        <p:nvSpPr>
          <p:cNvPr id="21" name="Shape 19"/>
          <p:cNvSpPr/>
          <p:nvPr/>
        </p:nvSpPr>
        <p:spPr>
          <a:xfrm>
            <a:off x="2514600" y="2212848"/>
            <a:ext cx="6263640" cy="438912"/>
          </a:xfrm>
          <a:prstGeom prst="rect">
            <a:avLst>
              <a:gd name="adj" fmla="val 12500"/>
            </a:avLst>
          </a:prstGeom>
          <a:solidFill>
            <a:srgbClr val="DCFCE7"/>
          </a:solidFill>
          <a:ln w="12700">
            <a:solidFill>
              <a:srgbClr val="16A34A"/>
            </a:solidFill>
            <a:prstDash val="solid"/>
          </a:ln>
        </p:spPr>
      </p:sp>
      <p:sp>
        <p:nvSpPr>
          <p:cNvPr id="22" name="Text 20"/>
          <p:cNvSpPr/>
          <p:nvPr/>
        </p:nvSpPr>
        <p:spPr>
          <a:xfrm>
            <a:off x="2651760" y="2212848"/>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C.  a system that sends coded messages over long distances using electrical signals along wires</a:t>
            </a:r>
            <a:endParaRPr lang="en-US" sz="1200" dirty="0"/>
          </a:p>
        </p:txBody>
      </p:sp>
      <p:sp>
        <p:nvSpPr>
          <p:cNvPr id="23" name="Shape 21"/>
          <p:cNvSpPr/>
          <p:nvPr/>
        </p:nvSpPr>
        <p:spPr>
          <a:xfrm>
            <a:off x="365760" y="2724912"/>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4" name="Text 22"/>
          <p:cNvSpPr/>
          <p:nvPr/>
        </p:nvSpPr>
        <p:spPr>
          <a:xfrm>
            <a:off x="365760" y="2724912"/>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telecommunications</a:t>
            </a:r>
            <a:endParaRPr lang="en-US" sz="1200" dirty="0"/>
          </a:p>
        </p:txBody>
      </p:sp>
      <p:sp>
        <p:nvSpPr>
          <p:cNvPr id="25" name="Shape 23"/>
          <p:cNvSpPr/>
          <p:nvPr/>
        </p:nvSpPr>
        <p:spPr>
          <a:xfrm>
            <a:off x="2514600" y="2724912"/>
            <a:ext cx="6263640" cy="438912"/>
          </a:xfrm>
          <a:prstGeom prst="rect">
            <a:avLst>
              <a:gd name="adj" fmla="val 12500"/>
            </a:avLst>
          </a:prstGeom>
          <a:solidFill>
            <a:srgbClr val="DCFCE7"/>
          </a:solidFill>
          <a:ln w="12700">
            <a:solidFill>
              <a:srgbClr val="16A34A"/>
            </a:solidFill>
            <a:prstDash val="solid"/>
          </a:ln>
        </p:spPr>
      </p:sp>
      <p:sp>
        <p:nvSpPr>
          <p:cNvPr id="26" name="Text 24"/>
          <p:cNvSpPr/>
          <p:nvPr/>
        </p:nvSpPr>
        <p:spPr>
          <a:xfrm>
            <a:off x="2651760" y="2724912"/>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D.  the sending of messages or signals over long distances, such as by phone or internet</a:t>
            </a:r>
            <a:endParaRPr lang="en-US" sz="1200" dirty="0"/>
          </a:p>
        </p:txBody>
      </p:sp>
      <p:sp>
        <p:nvSpPr>
          <p:cNvPr id="27" name="Shape 25"/>
          <p:cNvSpPr/>
          <p:nvPr/>
        </p:nvSpPr>
        <p:spPr>
          <a:xfrm>
            <a:off x="365760" y="3236976"/>
            <a:ext cx="2011680" cy="438912"/>
          </a:xfrm>
          <a:prstGeom prst="rect">
            <a:avLst>
              <a:gd name="adj" fmla="val 12500"/>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28" name="Text 26"/>
          <p:cNvSpPr/>
          <p:nvPr/>
        </p:nvSpPr>
        <p:spPr>
          <a:xfrm>
            <a:off x="365760" y="3236976"/>
            <a:ext cx="2011680" cy="438912"/>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telepathy</a:t>
            </a:r>
            <a:endParaRPr lang="en-US" sz="1200" dirty="0"/>
          </a:p>
        </p:txBody>
      </p:sp>
      <p:sp>
        <p:nvSpPr>
          <p:cNvPr id="29" name="Shape 27"/>
          <p:cNvSpPr/>
          <p:nvPr/>
        </p:nvSpPr>
        <p:spPr>
          <a:xfrm>
            <a:off x="2514600" y="3236976"/>
            <a:ext cx="6263640" cy="438912"/>
          </a:xfrm>
          <a:prstGeom prst="rect">
            <a:avLst>
              <a:gd name="adj" fmla="val 12500"/>
            </a:avLst>
          </a:prstGeom>
          <a:solidFill>
            <a:srgbClr val="DCFCE7"/>
          </a:solidFill>
          <a:ln w="12700">
            <a:solidFill>
              <a:srgbClr val="16A34A"/>
            </a:solidFill>
            <a:prstDash val="solid"/>
          </a:ln>
        </p:spPr>
      </p:sp>
      <p:sp>
        <p:nvSpPr>
          <p:cNvPr id="30" name="Text 28"/>
          <p:cNvSpPr/>
          <p:nvPr/>
        </p:nvSpPr>
        <p:spPr>
          <a:xfrm>
            <a:off x="2651760" y="3236976"/>
            <a:ext cx="6035040" cy="438912"/>
          </a:xfrm>
          <a:prstGeom prst="rect">
            <a:avLst/>
          </a:prstGeom>
          <a:noFill/>
          <a:ln/>
        </p:spPr>
        <p:txBody>
          <a:bodyPr wrap="square" rtlCol="0" anchor="ctr">
            <a:normAutofit/>
          </a:bodyPr>
          <a:lstStyle/>
          <a:p>
            <a:pPr algn="l" indent="0" marL="0">
              <a:buNone/>
            </a:pPr>
            <a:r>
              <a:rPr lang="en-US" sz="1200" dirty="0">
                <a:solidFill>
                  <a:srgbClr val="0F172A"/>
                </a:solidFill>
                <a:latin typeface="Calibri" pitchFamily="34" charset="0"/>
                <a:ea typeface="Calibri" pitchFamily="34" charset="-122"/>
                <a:cs typeface="Calibri" pitchFamily="34" charset="-120"/>
              </a:rPr>
              <a:t>E.  knowing another person's thoughts without speaking or using any of the five senses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1</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Using 'tele-' Words in Sentences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Read these sentences. Underline the 'tele-' word and talk about what it means.</a:t>
            </a:r>
            <a:endParaRPr lang="en-US" sz="1300" dirty="0"/>
          </a:p>
        </p:txBody>
      </p:sp>
      <p:sp>
        <p:nvSpPr>
          <p:cNvPr id="11" name="Shape 9"/>
          <p:cNvSpPr/>
          <p:nvPr/>
        </p:nvSpPr>
        <p:spPr>
          <a:xfrm>
            <a:off x="365760" y="1261872"/>
            <a:ext cx="8412480" cy="1005840"/>
          </a:xfrm>
          <a:prstGeom prst="rect">
            <a:avLst>
              <a:gd name="adj" fmla="val 9091"/>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65760" y="1261872"/>
            <a:ext cx="502920" cy="1005840"/>
          </a:xfrm>
          <a:prstGeom prst="rect">
            <a:avLst>
              <a:gd name="adj" fmla="val 18182"/>
            </a:avLst>
          </a:prstGeom>
          <a:solidFill>
            <a:srgbClr val="4338CA"/>
          </a:solidFill>
          <a:ln w="12700">
            <a:solidFill>
              <a:srgbClr val="4338CA"/>
            </a:solidFill>
            <a:prstDash val="solid"/>
          </a:ln>
        </p:spPr>
      </p:sp>
      <p:sp>
        <p:nvSpPr>
          <p:cNvPr id="13" name="Shape 11"/>
          <p:cNvSpPr/>
          <p:nvPr/>
        </p:nvSpPr>
        <p:spPr>
          <a:xfrm>
            <a:off x="713232" y="1261872"/>
            <a:ext cx="91440" cy="1005840"/>
          </a:xfrm>
          <a:prstGeom prst="rect">
            <a:avLst/>
          </a:prstGeom>
          <a:solidFill>
            <a:srgbClr val="4338CA"/>
          </a:solidFill>
          <a:ln w="12700">
            <a:solidFill>
              <a:srgbClr val="4338CA"/>
            </a:solidFill>
            <a:prstDash val="solid"/>
          </a:ln>
        </p:spPr>
      </p:sp>
      <p:sp>
        <p:nvSpPr>
          <p:cNvPr id="14" name="Text 12"/>
          <p:cNvSpPr/>
          <p:nvPr/>
        </p:nvSpPr>
        <p:spPr>
          <a:xfrm>
            <a:off x="365760" y="1261872"/>
            <a:ext cx="5029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15" name="Text 13"/>
          <p:cNvSpPr/>
          <p:nvPr/>
        </p:nvSpPr>
        <p:spPr>
          <a:xfrm>
            <a:off x="960120" y="1307592"/>
            <a:ext cx="7635240" cy="914400"/>
          </a:xfrm>
          <a:prstGeom prst="rect">
            <a:avLst/>
          </a:prstGeom>
          <a:noFill/>
          <a:ln/>
        </p:spPr>
        <p:txBody>
          <a:bodyPr wrap="square" rtlCol="0" anchor="ctr">
            <a:normAutofit/>
          </a:bodyPr>
          <a:lstStyle/>
          <a:p>
            <a:pPr algn="l" indent="0" marL="0">
              <a:buNone/>
            </a:pPr>
            <a:r>
              <a:rPr lang="en-US" sz="1500" dirty="0">
                <a:solidFill>
                  <a:srgbClr val="0F172A"/>
                </a:solidFill>
                <a:latin typeface="Calibri" pitchFamily="34" charset="0"/>
                <a:ea typeface="Calibri" pitchFamily="34" charset="-122"/>
                <a:cs typeface="Calibri" pitchFamily="34" charset="-120"/>
              </a:rPr>
              <a:t>The family gathered around the television to watch the football final.</a:t>
            </a:r>
            <a:endParaRPr lang="en-US" sz="1500" dirty="0"/>
          </a:p>
        </p:txBody>
      </p:sp>
      <p:sp>
        <p:nvSpPr>
          <p:cNvPr id="16" name="Shape 14"/>
          <p:cNvSpPr/>
          <p:nvPr/>
        </p:nvSpPr>
        <p:spPr>
          <a:xfrm>
            <a:off x="365760" y="2468880"/>
            <a:ext cx="8412480" cy="1005840"/>
          </a:xfrm>
          <a:prstGeom prst="rect">
            <a:avLst>
              <a:gd name="adj" fmla="val 9091"/>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365760" y="2468880"/>
            <a:ext cx="502920" cy="1005840"/>
          </a:xfrm>
          <a:prstGeom prst="rect">
            <a:avLst>
              <a:gd name="adj" fmla="val 18182"/>
            </a:avLst>
          </a:prstGeom>
          <a:solidFill>
            <a:srgbClr val="4338CA"/>
          </a:solidFill>
          <a:ln w="12700">
            <a:solidFill>
              <a:srgbClr val="4338CA"/>
            </a:solidFill>
            <a:prstDash val="solid"/>
          </a:ln>
        </p:spPr>
      </p:sp>
      <p:sp>
        <p:nvSpPr>
          <p:cNvPr id="18" name="Shape 16"/>
          <p:cNvSpPr/>
          <p:nvPr/>
        </p:nvSpPr>
        <p:spPr>
          <a:xfrm>
            <a:off x="713232" y="2468880"/>
            <a:ext cx="91440" cy="1005840"/>
          </a:xfrm>
          <a:prstGeom prst="rect">
            <a:avLst/>
          </a:prstGeom>
          <a:solidFill>
            <a:srgbClr val="4338CA"/>
          </a:solidFill>
          <a:ln w="12700">
            <a:solidFill>
              <a:srgbClr val="4338CA"/>
            </a:solidFill>
            <a:prstDash val="solid"/>
          </a:ln>
        </p:spPr>
      </p:sp>
      <p:sp>
        <p:nvSpPr>
          <p:cNvPr id="19" name="Text 17"/>
          <p:cNvSpPr/>
          <p:nvPr/>
        </p:nvSpPr>
        <p:spPr>
          <a:xfrm>
            <a:off x="365760" y="2468880"/>
            <a:ext cx="5029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20" name="Text 18"/>
          <p:cNvSpPr/>
          <p:nvPr/>
        </p:nvSpPr>
        <p:spPr>
          <a:xfrm>
            <a:off x="960120" y="2514600"/>
            <a:ext cx="7635240" cy="914400"/>
          </a:xfrm>
          <a:prstGeom prst="rect">
            <a:avLst/>
          </a:prstGeom>
          <a:noFill/>
          <a:ln/>
        </p:spPr>
        <p:txBody>
          <a:bodyPr wrap="square" rtlCol="0" anchor="ctr">
            <a:normAutofit/>
          </a:bodyPr>
          <a:lstStyle/>
          <a:p>
            <a:pPr algn="l" indent="0" marL="0">
              <a:buNone/>
            </a:pPr>
            <a:r>
              <a:rPr lang="en-US" sz="1500" dirty="0">
                <a:solidFill>
                  <a:srgbClr val="0F172A"/>
                </a:solidFill>
                <a:latin typeface="Calibri" pitchFamily="34" charset="0"/>
                <a:ea typeface="Calibri" pitchFamily="34" charset="-122"/>
                <a:cs typeface="Calibri" pitchFamily="34" charset="-120"/>
              </a:rPr>
              <a:t>Grandad still has the telegram that announced the end of the war.</a:t>
            </a:r>
            <a:endParaRPr lang="en-US" sz="1500" dirty="0"/>
          </a:p>
        </p:txBody>
      </p:sp>
      <p:sp>
        <p:nvSpPr>
          <p:cNvPr id="21" name="Shape 19"/>
          <p:cNvSpPr/>
          <p:nvPr/>
        </p:nvSpPr>
        <p:spPr>
          <a:xfrm>
            <a:off x="365760" y="3675888"/>
            <a:ext cx="8412480" cy="1005840"/>
          </a:xfrm>
          <a:prstGeom prst="rect">
            <a:avLst>
              <a:gd name="adj" fmla="val 9091"/>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65760" y="3675888"/>
            <a:ext cx="502920" cy="1005840"/>
          </a:xfrm>
          <a:prstGeom prst="rect">
            <a:avLst>
              <a:gd name="adj" fmla="val 18182"/>
            </a:avLst>
          </a:prstGeom>
          <a:solidFill>
            <a:srgbClr val="4338CA"/>
          </a:solidFill>
          <a:ln w="12700">
            <a:solidFill>
              <a:srgbClr val="4338CA"/>
            </a:solidFill>
            <a:prstDash val="solid"/>
          </a:ln>
        </p:spPr>
      </p:sp>
      <p:sp>
        <p:nvSpPr>
          <p:cNvPr id="23" name="Shape 21"/>
          <p:cNvSpPr/>
          <p:nvPr/>
        </p:nvSpPr>
        <p:spPr>
          <a:xfrm>
            <a:off x="713232" y="3675888"/>
            <a:ext cx="91440" cy="1005840"/>
          </a:xfrm>
          <a:prstGeom prst="rect">
            <a:avLst/>
          </a:prstGeom>
          <a:solidFill>
            <a:srgbClr val="4338CA"/>
          </a:solidFill>
          <a:ln w="12700">
            <a:solidFill>
              <a:srgbClr val="4338CA"/>
            </a:solidFill>
            <a:prstDash val="solid"/>
          </a:ln>
        </p:spPr>
      </p:sp>
      <p:sp>
        <p:nvSpPr>
          <p:cNvPr id="24" name="Text 22"/>
          <p:cNvSpPr/>
          <p:nvPr/>
        </p:nvSpPr>
        <p:spPr>
          <a:xfrm>
            <a:off x="365760" y="3675888"/>
            <a:ext cx="5029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25" name="Text 23"/>
          <p:cNvSpPr/>
          <p:nvPr/>
        </p:nvSpPr>
        <p:spPr>
          <a:xfrm>
            <a:off x="960120" y="3721608"/>
            <a:ext cx="7635240" cy="914400"/>
          </a:xfrm>
          <a:prstGeom prst="rect">
            <a:avLst/>
          </a:prstGeom>
          <a:noFill/>
          <a:ln/>
        </p:spPr>
        <p:txBody>
          <a:bodyPr wrap="square" rtlCol="0" anchor="ctr">
            <a:normAutofit/>
          </a:bodyPr>
          <a:lstStyle/>
          <a:p>
            <a:pPr algn="l" indent="0" marL="0">
              <a:buNone/>
            </a:pPr>
            <a:r>
              <a:rPr lang="en-US" sz="1500" dirty="0">
                <a:solidFill>
                  <a:srgbClr val="0F172A"/>
                </a:solidFill>
                <a:latin typeface="Calibri" pitchFamily="34" charset="0"/>
                <a:ea typeface="Calibri" pitchFamily="34" charset="-122"/>
                <a:cs typeface="Calibri" pitchFamily="34" charset="-120"/>
              </a:rPr>
              <a:t>Before telephones existed, news travelled quickly along the telegraph.</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457200" y="1645920"/>
            <a:ext cx="1097280" cy="411480"/>
          </a:xfrm>
          <a:prstGeom prst="rect">
            <a:avLst>
              <a:gd name="adj" fmla="val 17778"/>
            </a:avLst>
          </a:prstGeom>
          <a:solidFill>
            <a:srgbClr val="0D9488"/>
          </a:solidFill>
          <a:ln w="12700">
            <a:solidFill>
              <a:srgbClr val="0D9488"/>
            </a:solidFill>
            <a:prstDash val="solid"/>
          </a:ln>
        </p:spPr>
      </p:sp>
      <p:sp>
        <p:nvSpPr>
          <p:cNvPr id="4" name="Text 2"/>
          <p:cNvSpPr/>
          <p:nvPr/>
        </p:nvSpPr>
        <p:spPr>
          <a:xfrm>
            <a:off x="457200" y="1645920"/>
            <a:ext cx="10972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Day 2</a:t>
            </a:r>
            <a:endParaRPr lang="en-US" sz="1100" dirty="0"/>
          </a:p>
        </p:txBody>
      </p:sp>
      <p:sp>
        <p:nvSpPr>
          <p:cNvPr id="5" name="Text 3"/>
          <p:cNvSpPr/>
          <p:nvPr/>
        </p:nvSpPr>
        <p:spPr>
          <a:xfrm>
            <a:off x="457200" y="2148840"/>
            <a:ext cx="8412480" cy="1280160"/>
          </a:xfrm>
          <a:prstGeom prst="rect">
            <a:avLst/>
          </a:prstGeom>
          <a:noFill/>
          <a:ln/>
        </p:spPr>
        <p:txBody>
          <a:bodyPr wrap="square" lIns="0" tIns="0" rIns="0" bIns="0" rtlCol="0" anchor="t"/>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Dictation &amp;</a:t>
            </a:r>
            <a:endParaRPr lang="en-US" sz="4400" dirty="0"/>
          </a:p>
          <a:p>
            <a:pPr algn="l" indent="0" marL="0">
              <a:buNone/>
            </a:pPr>
            <a:r>
              <a:rPr lang="en-US" sz="4400" b="1" dirty="0">
                <a:solidFill>
                  <a:srgbClr val="FFFFFF"/>
                </a:solidFill>
                <a:latin typeface="Trebuchet MS" pitchFamily="34" charset="0"/>
                <a:ea typeface="Trebuchet MS" pitchFamily="34" charset="-122"/>
                <a:cs typeface="Trebuchet MS" pitchFamily="34" charset="-120"/>
              </a:rPr>
              <a:t>Breakdown</a:t>
            </a:r>
            <a:endParaRPr lang="en-US" sz="4400" dirty="0"/>
          </a:p>
        </p:txBody>
      </p:sp>
      <p:sp>
        <p:nvSpPr>
          <p:cNvPr id="6" name="Text 4"/>
          <p:cNvSpPr/>
          <p:nvPr/>
        </p:nvSpPr>
        <p:spPr>
          <a:xfrm>
            <a:off x="457200" y="3474720"/>
            <a:ext cx="8229600" cy="548640"/>
          </a:xfrm>
          <a:prstGeom prst="rect">
            <a:avLst/>
          </a:prstGeom>
          <a:noFill/>
          <a:ln/>
        </p:spPr>
        <p:txBody>
          <a:bodyPr wrap="square" lIns="0" tIns="0" rIns="0" bIns="0" rtlCol="0" anchor="t"/>
          <a:lstStyle/>
          <a:p>
            <a:pPr algn="l" indent="0" marL="0">
              <a:buNone/>
            </a:pPr>
            <a:r>
              <a:rPr lang="en-US" sz="1600" dirty="0">
                <a:solidFill>
                  <a:srgbClr val="A5B4FC"/>
                </a:solidFill>
                <a:latin typeface="Calibri" pitchFamily="34" charset="0"/>
                <a:ea typeface="Calibri" pitchFamily="34" charset="-122"/>
                <a:cs typeface="Calibri" pitchFamily="34" charset="-120"/>
              </a:rPr>
              <a:t>Listen → Write → Reveal → Check</a:t>
            </a:r>
            <a:endParaRPr lang="en-US" sz="1600" dirty="0"/>
          </a:p>
        </p:txBody>
      </p:sp>
      <p:sp>
        <p:nvSpPr>
          <p:cNvPr id="7" name="Shape 5"/>
          <p:cNvSpPr/>
          <p:nvPr/>
        </p:nvSpPr>
        <p:spPr>
          <a:xfrm>
            <a:off x="0" y="4754880"/>
            <a:ext cx="9144000" cy="388620"/>
          </a:xfrm>
          <a:prstGeom prst="rect">
            <a:avLst/>
          </a:prstGeom>
          <a:solidFill>
            <a:srgbClr val="0F172A"/>
          </a:solidFill>
          <a:ln w="12700">
            <a:solidFill>
              <a:srgbClr val="0F172A"/>
            </a:solidFill>
            <a:prstDash val="solid"/>
          </a:ln>
        </p:spPr>
      </p:sp>
      <p:sp>
        <p:nvSpPr>
          <p:cNvPr id="8" name="Text 6"/>
          <p:cNvSpPr/>
          <p:nvPr/>
        </p:nvSpPr>
        <p:spPr>
          <a:xfrm>
            <a:off x="0" y="4754880"/>
            <a:ext cx="9144000" cy="3886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Word Labs  •  wordlabs.app</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Listen &amp; Write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77240"/>
            <a:ext cx="8412480" cy="530352"/>
          </a:xfrm>
          <a:prstGeom prst="rect">
            <a:avLst>
              <a:gd name="adj" fmla="val 13793"/>
            </a:avLst>
          </a:prstGeom>
          <a:solidFill>
            <a:srgbClr val="FEF3C7"/>
          </a:solidFill>
          <a:ln w="12700">
            <a:solidFill>
              <a:srgbClr val="D97706"/>
            </a:solidFill>
            <a:prstDash val="solid"/>
          </a:ln>
        </p:spPr>
      </p:sp>
      <p:sp>
        <p:nvSpPr>
          <p:cNvPr id="11" name="Text 9"/>
          <p:cNvSpPr/>
          <p:nvPr/>
        </p:nvSpPr>
        <p:spPr>
          <a:xfrm>
            <a:off x="502920" y="777240"/>
            <a:ext cx="8229600" cy="530352"/>
          </a:xfrm>
          <a:prstGeom prst="rect">
            <a:avLst/>
          </a:prstGeom>
          <a:noFill/>
          <a:ln/>
        </p:spPr>
        <p:txBody>
          <a:bodyPr wrap="square" rtlCol="0" anchor="ctr"/>
          <a:lstStyle/>
          <a:p>
            <a:pPr algn="l" indent="0" marL="0">
              <a:buNone/>
            </a:pPr>
            <a:r>
              <a:rPr lang="en-US" sz="1300" b="1" dirty="0">
                <a:solidFill>
                  <a:srgbClr val="92400E"/>
                </a:solidFill>
                <a:latin typeface="Calibri" pitchFamily="34" charset="0"/>
                <a:ea typeface="Calibri" pitchFamily="34" charset="-122"/>
                <a:cs typeface="Calibri" pitchFamily="34" charset="-120"/>
              </a:rPr>
              <a:t>📢  Teacher reads the passage aloud. Students write it in their books.</a:t>
            </a:r>
            <a:endParaRPr lang="en-US" sz="1300" dirty="0"/>
          </a:p>
        </p:txBody>
      </p:sp>
      <p:sp>
        <p:nvSpPr>
          <p:cNvPr id="12" name="Shape 10"/>
          <p:cNvSpPr/>
          <p:nvPr/>
        </p:nvSpPr>
        <p:spPr>
          <a:xfrm>
            <a:off x="365760" y="1600200"/>
            <a:ext cx="8412480" cy="0"/>
          </a:xfrm>
          <a:prstGeom prst="line">
            <a:avLst/>
          </a:prstGeom>
          <a:noFill/>
          <a:ln w="19050">
            <a:solidFill>
              <a:srgbClr val="E2E8F0"/>
            </a:solidFill>
            <a:prstDash val="solid"/>
          </a:ln>
        </p:spPr>
      </p:sp>
      <p:sp>
        <p:nvSpPr>
          <p:cNvPr id="13" name="Shape 11"/>
          <p:cNvSpPr/>
          <p:nvPr/>
        </p:nvSpPr>
        <p:spPr>
          <a:xfrm>
            <a:off x="365760" y="2194560"/>
            <a:ext cx="8412480" cy="0"/>
          </a:xfrm>
          <a:prstGeom prst="line">
            <a:avLst/>
          </a:prstGeom>
          <a:noFill/>
          <a:ln w="19050">
            <a:solidFill>
              <a:srgbClr val="E2E8F0"/>
            </a:solidFill>
            <a:prstDash val="solid"/>
          </a:ln>
        </p:spPr>
      </p:sp>
      <p:sp>
        <p:nvSpPr>
          <p:cNvPr id="14" name="Shape 12"/>
          <p:cNvSpPr/>
          <p:nvPr/>
        </p:nvSpPr>
        <p:spPr>
          <a:xfrm>
            <a:off x="365760" y="2788920"/>
            <a:ext cx="8412480" cy="0"/>
          </a:xfrm>
          <a:prstGeom prst="line">
            <a:avLst/>
          </a:prstGeom>
          <a:noFill/>
          <a:ln w="19050">
            <a:solidFill>
              <a:srgbClr val="E2E8F0"/>
            </a:solidFill>
            <a:prstDash val="solid"/>
          </a:ln>
        </p:spPr>
      </p:sp>
      <p:sp>
        <p:nvSpPr>
          <p:cNvPr id="15" name="Text 13"/>
          <p:cNvSpPr/>
          <p:nvPr/>
        </p:nvSpPr>
        <p:spPr>
          <a:xfrm>
            <a:off x="365760" y="3383280"/>
            <a:ext cx="8412480" cy="347472"/>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Write your passage here ↑</a:t>
            </a:r>
            <a:endParaRPr lang="en-US" sz="1100" dirty="0"/>
          </a:p>
        </p:txBody>
      </p:sp>
      <p:sp>
        <p:nvSpPr>
          <p:cNvPr id="16" name="Shape 14"/>
          <p:cNvSpPr/>
          <p:nvPr/>
        </p:nvSpPr>
        <p:spPr>
          <a:xfrm>
            <a:off x="1828800" y="3822192"/>
            <a:ext cx="2560320" cy="658368"/>
          </a:xfrm>
          <a:prstGeom prst="rect">
            <a:avLst>
              <a:gd name="adj" fmla="val 13889"/>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1828800" y="3822192"/>
            <a:ext cx="2560320" cy="658368"/>
          </a:xfrm>
          <a:prstGeom prst="rect">
            <a:avLst/>
          </a:prstGeom>
          <a:noFill/>
          <a:ln/>
        </p:spPr>
        <p:txBody>
          <a:bodyPr wrap="square" rtlCol="0" anchor="ctr"/>
          <a:lstStyle/>
          <a:p>
            <a:pPr algn="ctr" indent="0" marL="0">
              <a:buNone/>
            </a:pPr>
            <a:r>
              <a:rPr lang="en-US" sz="2800" b="1" dirty="0">
                <a:solidFill>
                  <a:srgbClr val="4338CA"/>
                </a:solidFill>
                <a:latin typeface="Trebuchet MS" pitchFamily="34" charset="0"/>
                <a:ea typeface="Trebuchet MS" pitchFamily="34" charset="-122"/>
                <a:cs typeface="Trebuchet MS" pitchFamily="34" charset="-120"/>
              </a:rPr>
              <a:t>2</a:t>
            </a:r>
            <a:pPr algn="ctr" indent="0" marL="0">
              <a:buNone/>
            </a:pPr>
            <a:r>
              <a:rPr lang="en-US" sz="1200" dirty="0">
                <a:solidFill>
                  <a:srgbClr val="475569"/>
                </a:solidFill>
                <a:latin typeface="Trebuchet MS" pitchFamily="34" charset="0"/>
                <a:ea typeface="Trebuchet MS" pitchFamily="34" charset="-122"/>
                <a:cs typeface="Trebuchet MS" pitchFamily="34" charset="-120"/>
              </a:rPr>
              <a:t>  focus words</a:t>
            </a:r>
            <a:endParaRPr lang="en-US" sz="2800" dirty="0"/>
          </a:p>
        </p:txBody>
      </p:sp>
      <p:sp>
        <p:nvSpPr>
          <p:cNvPr id="18" name="Shape 16"/>
          <p:cNvSpPr/>
          <p:nvPr/>
        </p:nvSpPr>
        <p:spPr>
          <a:xfrm>
            <a:off x="4754880" y="3822192"/>
            <a:ext cx="2560320" cy="658368"/>
          </a:xfrm>
          <a:prstGeom prst="rect">
            <a:avLst>
              <a:gd name="adj" fmla="val 13889"/>
            </a:avLst>
          </a:prstGeom>
          <a:solidFill>
            <a:srgbClr val="FEF3C7"/>
          </a:solidFill>
          <a:ln w="12700">
            <a:solidFill>
              <a:srgbClr val="D97706"/>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754880" y="3822192"/>
            <a:ext cx="2560320" cy="658368"/>
          </a:xfrm>
          <a:prstGeom prst="rect">
            <a:avLst/>
          </a:prstGeom>
          <a:noFill/>
          <a:ln/>
        </p:spPr>
        <p:txBody>
          <a:bodyPr wrap="square" rtlCol="0" anchor="ctr"/>
          <a:lstStyle/>
          <a:p>
            <a:pPr algn="ctr" indent="0" marL="0">
              <a:buNone/>
            </a:pPr>
            <a:r>
              <a:rPr lang="en-US" sz="2800" b="1" dirty="0">
                <a:solidFill>
                  <a:srgbClr val="92400E"/>
                </a:solidFill>
                <a:latin typeface="Trebuchet MS" pitchFamily="34" charset="0"/>
                <a:ea typeface="Trebuchet MS" pitchFamily="34" charset="-122"/>
                <a:cs typeface="Trebuchet MS" pitchFamily="34" charset="-120"/>
              </a:rPr>
              <a:t>2</a:t>
            </a:r>
            <a:pPr algn="ctr" indent="0" marL="0">
              <a:buNone/>
            </a:pPr>
            <a:r>
              <a:rPr lang="en-US" sz="1200" dirty="0">
                <a:solidFill>
                  <a:srgbClr val="475569"/>
                </a:solidFill>
                <a:latin typeface="Trebuchet MS" pitchFamily="34" charset="0"/>
                <a:ea typeface="Trebuchet MS" pitchFamily="34" charset="-122"/>
                <a:cs typeface="Trebuchet MS" pitchFamily="34" charset="-120"/>
              </a:rPr>
              <a:t>  punctuation marks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Reveal &amp; Underline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writing. Underline the focus words.</a:t>
            </a:r>
            <a:endParaRPr lang="en-US" sz="1300" dirty="0"/>
          </a:p>
        </p:txBody>
      </p:sp>
      <p:sp>
        <p:nvSpPr>
          <p:cNvPr id="11" name="Shape 9"/>
          <p:cNvSpPr/>
          <p:nvPr/>
        </p:nvSpPr>
        <p:spPr>
          <a:xfrm>
            <a:off x="365760" y="1188720"/>
            <a:ext cx="8412480" cy="1554480"/>
          </a:xfrm>
          <a:prstGeom prst="rect">
            <a:avLst>
              <a:gd name="adj" fmla="val 7059"/>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61872"/>
            <a:ext cx="8046720" cy="1408176"/>
          </a:xfrm>
          <a:prstGeom prst="rect">
            <a:avLst/>
          </a:prstGeom>
          <a:noFill/>
          <a:ln/>
        </p:spPr>
        <p:txBody>
          <a:bodyPr wrap="square" rtlCol="0" anchor="ctr">
            <a:normAutofit/>
          </a:bodyPr>
          <a:lstStyle/>
          <a:p>
            <a:pPr algn="l" indent="0" marL="0">
              <a:buNone/>
            </a:pPr>
            <a:r>
              <a:rPr lang="en-US" sz="1800" dirty="0">
                <a:solidFill>
                  <a:srgbClr val="0F172A"/>
                </a:solidFill>
                <a:latin typeface="Calibri" pitchFamily="34" charset="0"/>
                <a:ea typeface="Calibri" pitchFamily="34" charset="-122"/>
                <a:cs typeface="Calibri" pitchFamily="34" charset="-120"/>
              </a:rPr>
              <a:t>I wish I could </a:t>
            </a:r>
            <a:pPr algn="l" indent="0" marL="0">
              <a:buNone/>
            </a:pPr>
            <a:r>
              <a:rPr lang="en-US" sz="1800" b="1" dirty="0">
                <a:solidFill>
                  <a:srgbClr val="0D9488"/>
                </a:solidFill>
                <a:highlight>
                  <a:srgbClr val="CCFBF1"/>
                </a:highlight>
                <a:latin typeface="Calibri" pitchFamily="34" charset="0"/>
                <a:ea typeface="Calibri" pitchFamily="34" charset="-122"/>
                <a:cs typeface="Calibri" pitchFamily="34" charset="-120"/>
              </a:rPr>
              <a:t>teleport</a:t>
            </a:r>
            <a:pPr algn="l" indent="0" marL="0">
              <a:buNone/>
            </a:pPr>
            <a:r>
              <a:rPr lang="en-US" sz="1800" dirty="0">
                <a:solidFill>
                  <a:srgbClr val="0F172A"/>
                </a:solidFill>
                <a:latin typeface="Calibri" pitchFamily="34" charset="0"/>
                <a:ea typeface="Calibri" pitchFamily="34" charset="-122"/>
                <a:cs typeface="Calibri" pitchFamily="34" charset="-120"/>
              </a:rPr>
              <a:t> to Grandma's house instead of just talking to her on the </a:t>
            </a:r>
            <a:pPr algn="l" indent="0" marL="0">
              <a:buNone/>
            </a:pPr>
            <a:r>
              <a:rPr lang="en-US" sz="1800" b="1" dirty="0">
                <a:solidFill>
                  <a:srgbClr val="0D9488"/>
                </a:solidFill>
                <a:highlight>
                  <a:srgbClr val="CCFBF1"/>
                </a:highlight>
                <a:latin typeface="Calibri" pitchFamily="34" charset="0"/>
                <a:ea typeface="Calibri" pitchFamily="34" charset="-122"/>
                <a:cs typeface="Calibri" pitchFamily="34" charset="-120"/>
              </a:rPr>
              <a:t>telephone</a:t>
            </a:r>
            <a:pPr algn="l" indent="0" marL="0">
              <a:buNone/>
            </a:pPr>
            <a:r>
              <a:rPr lang="en-US" sz="1800" dirty="0">
                <a:solidFill>
                  <a:srgbClr val="0F172A"/>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365760" y="2852928"/>
            <a:ext cx="8412480" cy="475488"/>
          </a:xfrm>
          <a:prstGeom prst="rect">
            <a:avLst>
              <a:gd name="adj" fmla="val 15385"/>
            </a:avLst>
          </a:prstGeom>
          <a:solidFill>
            <a:srgbClr val="CCFBF1"/>
          </a:solidFill>
          <a:ln w="12700">
            <a:solidFill>
              <a:srgbClr val="0D9488"/>
            </a:solidFill>
            <a:prstDash val="solid"/>
          </a:ln>
        </p:spPr>
      </p:sp>
      <p:sp>
        <p:nvSpPr>
          <p:cNvPr id="14" name="Text 12"/>
          <p:cNvSpPr/>
          <p:nvPr/>
        </p:nvSpPr>
        <p:spPr>
          <a:xfrm>
            <a:off x="502920" y="285292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Now write each focus word below — leave room for your breakdown.</a:t>
            </a:r>
            <a:endParaRPr lang="en-US" sz="1200" dirty="0"/>
          </a:p>
        </p:txBody>
      </p:sp>
      <p:sp>
        <p:nvSpPr>
          <p:cNvPr id="15" name="Shape 13"/>
          <p:cNvSpPr/>
          <p:nvPr/>
        </p:nvSpPr>
        <p:spPr>
          <a:xfrm>
            <a:off x="1874520" y="3456432"/>
            <a:ext cx="2560320" cy="1005840"/>
          </a:xfrm>
          <a:prstGeom prst="rect">
            <a:avLst>
              <a:gd name="adj" fmla="val 7273"/>
            </a:avLst>
          </a:prstGeom>
          <a:solidFill>
            <a:srgbClr val="F8FAFC"/>
          </a:solidFill>
          <a:ln w="12700">
            <a:solidFill>
              <a:srgbClr val="E2E8F0"/>
            </a:solidFill>
            <a:prstDash val="solid"/>
          </a:ln>
        </p:spPr>
      </p:sp>
      <p:sp>
        <p:nvSpPr>
          <p:cNvPr id="16" name="Shape 14"/>
          <p:cNvSpPr/>
          <p:nvPr/>
        </p:nvSpPr>
        <p:spPr>
          <a:xfrm>
            <a:off x="1874520" y="3977640"/>
            <a:ext cx="2560320" cy="0"/>
          </a:xfrm>
          <a:prstGeom prst="line">
            <a:avLst/>
          </a:prstGeom>
          <a:noFill/>
          <a:ln w="12700">
            <a:solidFill>
              <a:srgbClr val="E2E8F0"/>
            </a:solidFill>
            <a:prstDash val="dash"/>
          </a:ln>
        </p:spPr>
      </p:sp>
      <p:sp>
        <p:nvSpPr>
          <p:cNvPr id="17" name="Text 15"/>
          <p:cNvSpPr/>
          <p:nvPr/>
        </p:nvSpPr>
        <p:spPr>
          <a:xfrm>
            <a:off x="1874520" y="3456432"/>
            <a:ext cx="2560320" cy="502920"/>
          </a:xfrm>
          <a:prstGeom prst="rect">
            <a:avLst/>
          </a:prstGeom>
          <a:noFill/>
          <a:ln/>
        </p:spPr>
        <p:txBody>
          <a:bodyPr wrap="square" lIns="0" tIns="0" rIns="0" bIns="0" rtlCol="0" anchor="ctr">
            <a:normAutofit/>
          </a:bodyP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telephone</a:t>
            </a:r>
            <a:endParaRPr lang="en-US" sz="1400" dirty="0"/>
          </a:p>
        </p:txBody>
      </p:sp>
      <p:sp>
        <p:nvSpPr>
          <p:cNvPr id="18" name="Text 16"/>
          <p:cNvSpPr/>
          <p:nvPr/>
        </p:nvSpPr>
        <p:spPr>
          <a:xfrm>
            <a:off x="1874520" y="4005072"/>
            <a:ext cx="2560320" cy="45720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write your breakdown below</a:t>
            </a:r>
            <a:endParaRPr lang="en-US" sz="900" dirty="0"/>
          </a:p>
        </p:txBody>
      </p:sp>
      <p:sp>
        <p:nvSpPr>
          <p:cNvPr id="19" name="Shape 17"/>
          <p:cNvSpPr/>
          <p:nvPr/>
        </p:nvSpPr>
        <p:spPr>
          <a:xfrm>
            <a:off x="4709160" y="3456432"/>
            <a:ext cx="2560320" cy="1005840"/>
          </a:xfrm>
          <a:prstGeom prst="rect">
            <a:avLst>
              <a:gd name="adj" fmla="val 7273"/>
            </a:avLst>
          </a:prstGeom>
          <a:solidFill>
            <a:srgbClr val="F8FAFC"/>
          </a:solidFill>
          <a:ln w="12700">
            <a:solidFill>
              <a:srgbClr val="E2E8F0"/>
            </a:solidFill>
            <a:prstDash val="solid"/>
          </a:ln>
        </p:spPr>
      </p:sp>
      <p:sp>
        <p:nvSpPr>
          <p:cNvPr id="20" name="Shape 18"/>
          <p:cNvSpPr/>
          <p:nvPr/>
        </p:nvSpPr>
        <p:spPr>
          <a:xfrm>
            <a:off x="4709160" y="3977640"/>
            <a:ext cx="2560320" cy="0"/>
          </a:xfrm>
          <a:prstGeom prst="line">
            <a:avLst/>
          </a:prstGeom>
          <a:noFill/>
          <a:ln w="12700">
            <a:solidFill>
              <a:srgbClr val="E2E8F0"/>
            </a:solidFill>
            <a:prstDash val="dash"/>
          </a:ln>
        </p:spPr>
      </p:sp>
      <p:sp>
        <p:nvSpPr>
          <p:cNvPr id="21" name="Text 19"/>
          <p:cNvSpPr/>
          <p:nvPr/>
        </p:nvSpPr>
        <p:spPr>
          <a:xfrm>
            <a:off x="4709160" y="3456432"/>
            <a:ext cx="2560320" cy="502920"/>
          </a:xfrm>
          <a:prstGeom prst="rect">
            <a:avLst/>
          </a:prstGeom>
          <a:noFill/>
          <a:ln/>
        </p:spPr>
        <p:txBody>
          <a:bodyPr wrap="square" lIns="0" tIns="0" rIns="0" bIns="0" rtlCol="0" anchor="ctr">
            <a:normAutofit/>
          </a:bodyP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teleport</a:t>
            </a:r>
            <a:endParaRPr lang="en-US" sz="1400" dirty="0"/>
          </a:p>
        </p:txBody>
      </p:sp>
      <p:sp>
        <p:nvSpPr>
          <p:cNvPr id="22" name="Text 20"/>
          <p:cNvSpPr/>
          <p:nvPr/>
        </p:nvSpPr>
        <p:spPr>
          <a:xfrm>
            <a:off x="4709160" y="4005072"/>
            <a:ext cx="2560320" cy="45720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write your breakdown below</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Attempt (Word 1 of 2)</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FEF3C7"/>
          </a:solidFill>
          <a:ln w="12700">
            <a:solidFill>
              <a:srgbClr val="D97706"/>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dirty="0">
                <a:solidFill>
                  <a:srgbClr val="92400E"/>
                </a:solidFill>
                <a:latin typeface="Calibri" pitchFamily="34" charset="0"/>
                <a:ea typeface="Calibri" pitchFamily="34" charset="-122"/>
                <a:cs typeface="Calibri" pitchFamily="34" charset="-120"/>
              </a:rPr>
              <a:t>Write the morpheme breakdown, syllables, and phonemes for this word. Check your work on the next slides.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telephone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1874520" y="2240280"/>
            <a:ext cx="6903720" cy="841248"/>
          </a:xfrm>
          <a:prstGeom prst="rect">
            <a:avLst>
              <a:gd name="adj" fmla="val 6522"/>
            </a:avLst>
          </a:prstGeom>
          <a:solidFill>
            <a:srgbClr val="F8FAFC"/>
          </a:solidFill>
          <a:ln w="12700">
            <a:solidFill>
              <a:srgbClr val="E2E8F0"/>
            </a:solidFill>
            <a:prstDash val="dash"/>
          </a:ln>
        </p:spPr>
      </p:sp>
      <p:sp>
        <p:nvSpPr>
          <p:cNvPr id="17" name="Text 15"/>
          <p:cNvSpPr/>
          <p:nvPr/>
        </p:nvSpPr>
        <p:spPr>
          <a:xfrm>
            <a:off x="1874520" y="2240280"/>
            <a:ext cx="6903720" cy="84124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18" name="Shape 16"/>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19" name="Text 17"/>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0" name="Shape 18"/>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1" name="Text 19"/>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2" name="Shape 20"/>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3" name="Text 21"/>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4" name="Shape 22"/>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5" name="Text 23"/>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Morphemes Revealed</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DDD6FE"/>
          </a:solidFill>
          <a:ln w="12700">
            <a:solidFill>
              <a:srgbClr val="7C3AED"/>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4C1D95"/>
                </a:solidFill>
                <a:latin typeface="Calibri" pitchFamily="34" charset="0"/>
                <a:ea typeface="Calibri" pitchFamily="34" charset="-122"/>
                <a:cs typeface="Calibri" pitchFamily="34" charset="-120"/>
              </a:rPr>
              <a:t>✓ Check your morpheme breakdown. Morphemes are the meaningful parts.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telephone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phone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sound; a device for talking to someone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5" name="Text 23"/>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6" name="Shape 24"/>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7" name="Text 25"/>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8" name="Shape 26"/>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9" name="Text 27"/>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Syllables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CCFBF1"/>
          </a:solidFill>
          <a:ln w="12700">
            <a:solidFill>
              <a:srgbClr val="0D9488"/>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 Now check your syllable split. Syllables are the beats in the word.</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telephone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phone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sound; a device for talking to someone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phone</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36" name="Text 34"/>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Phonemes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FCE7F3"/>
          </a:solidFill>
          <a:ln w="12700">
            <a:solidFill>
              <a:srgbClr val="DB2777"/>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9D174D"/>
                </a:solidFill>
                <a:latin typeface="Calibri" pitchFamily="34" charset="0"/>
                <a:ea typeface="Calibri" pitchFamily="34" charset="-122"/>
                <a:cs typeface="Calibri" pitchFamily="34" charset="-120"/>
              </a:rPr>
              <a:t>✓ Now check your phonemes. Phonemes are the individual sounds.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telephone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phone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sound; a device for talking to someone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phone</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CE7F3"/>
          </a:solidFill>
          <a:ln w="12700">
            <a:solidFill>
              <a:srgbClr val="DB2777"/>
            </a:solidFill>
            <a:prstDash val="solid"/>
          </a:ln>
        </p:spPr>
      </p:sp>
      <p:sp>
        <p:nvSpPr>
          <p:cNvPr id="36" name="Shape 34"/>
          <p:cNvSpPr/>
          <p:nvPr/>
        </p:nvSpPr>
        <p:spPr>
          <a:xfrm>
            <a:off x="2124837" y="4187952"/>
            <a:ext cx="685800" cy="475488"/>
          </a:xfrm>
          <a:prstGeom prst="rect">
            <a:avLst>
              <a:gd name="adj" fmla="val 7692"/>
            </a:avLst>
          </a:prstGeom>
          <a:solidFill>
            <a:srgbClr val="FFFFFF"/>
          </a:solidFill>
          <a:ln w="12700">
            <a:solidFill>
              <a:srgbClr val="DB2777"/>
            </a:solidFill>
            <a:prstDash val="solid"/>
          </a:ln>
        </p:spPr>
      </p:sp>
      <p:sp>
        <p:nvSpPr>
          <p:cNvPr id="37" name="Text 35"/>
          <p:cNvSpPr/>
          <p:nvPr/>
        </p:nvSpPr>
        <p:spPr>
          <a:xfrm>
            <a:off x="212483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t</a:t>
            </a:r>
            <a:endParaRPr lang="en-US" sz="1100" dirty="0"/>
          </a:p>
        </p:txBody>
      </p:sp>
      <p:sp>
        <p:nvSpPr>
          <p:cNvPr id="38" name="Shape 36"/>
          <p:cNvSpPr/>
          <p:nvPr/>
        </p:nvSpPr>
        <p:spPr>
          <a:xfrm>
            <a:off x="3033522" y="4187952"/>
            <a:ext cx="685800" cy="475488"/>
          </a:xfrm>
          <a:prstGeom prst="rect">
            <a:avLst>
              <a:gd name="adj" fmla="val 7692"/>
            </a:avLst>
          </a:prstGeom>
          <a:solidFill>
            <a:srgbClr val="FFFFFF"/>
          </a:solidFill>
          <a:ln w="12700">
            <a:solidFill>
              <a:srgbClr val="DB2777"/>
            </a:solidFill>
            <a:prstDash val="solid"/>
          </a:ln>
        </p:spPr>
      </p:sp>
      <p:sp>
        <p:nvSpPr>
          <p:cNvPr id="39" name="Text 37"/>
          <p:cNvSpPr/>
          <p:nvPr/>
        </p:nvSpPr>
        <p:spPr>
          <a:xfrm>
            <a:off x="3033522"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e</a:t>
            </a:r>
            <a:endParaRPr lang="en-US" sz="1100" dirty="0"/>
          </a:p>
        </p:txBody>
      </p:sp>
      <p:sp>
        <p:nvSpPr>
          <p:cNvPr id="40" name="Shape 38"/>
          <p:cNvSpPr/>
          <p:nvPr/>
        </p:nvSpPr>
        <p:spPr>
          <a:xfrm>
            <a:off x="3942207" y="4187952"/>
            <a:ext cx="685800" cy="475488"/>
          </a:xfrm>
          <a:prstGeom prst="rect">
            <a:avLst>
              <a:gd name="adj" fmla="val 7692"/>
            </a:avLst>
          </a:prstGeom>
          <a:solidFill>
            <a:srgbClr val="FFFFFF"/>
          </a:solidFill>
          <a:ln w="12700">
            <a:solidFill>
              <a:srgbClr val="DB2777"/>
            </a:solidFill>
            <a:prstDash val="solid"/>
          </a:ln>
        </p:spPr>
      </p:sp>
      <p:sp>
        <p:nvSpPr>
          <p:cNvPr id="41" name="Text 39"/>
          <p:cNvSpPr/>
          <p:nvPr/>
        </p:nvSpPr>
        <p:spPr>
          <a:xfrm>
            <a:off x="394220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l</a:t>
            </a:r>
            <a:endParaRPr lang="en-US" sz="1100" dirty="0"/>
          </a:p>
        </p:txBody>
      </p:sp>
      <p:sp>
        <p:nvSpPr>
          <p:cNvPr id="42" name="Shape 40"/>
          <p:cNvSpPr/>
          <p:nvPr/>
        </p:nvSpPr>
        <p:spPr>
          <a:xfrm>
            <a:off x="4850892" y="4187952"/>
            <a:ext cx="685800" cy="475488"/>
          </a:xfrm>
          <a:prstGeom prst="rect">
            <a:avLst>
              <a:gd name="adj" fmla="val 7692"/>
            </a:avLst>
          </a:prstGeom>
          <a:solidFill>
            <a:srgbClr val="FFFFFF"/>
          </a:solidFill>
          <a:ln w="12700">
            <a:solidFill>
              <a:srgbClr val="DB2777"/>
            </a:solidFill>
            <a:prstDash val="solid"/>
          </a:ln>
        </p:spPr>
      </p:sp>
      <p:sp>
        <p:nvSpPr>
          <p:cNvPr id="43" name="Text 41"/>
          <p:cNvSpPr/>
          <p:nvPr/>
        </p:nvSpPr>
        <p:spPr>
          <a:xfrm>
            <a:off x="4850892"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e</a:t>
            </a:r>
            <a:endParaRPr lang="en-US" sz="1100" dirty="0"/>
          </a:p>
        </p:txBody>
      </p:sp>
      <p:sp>
        <p:nvSpPr>
          <p:cNvPr id="44" name="Shape 42"/>
          <p:cNvSpPr/>
          <p:nvPr/>
        </p:nvSpPr>
        <p:spPr>
          <a:xfrm>
            <a:off x="5759577" y="4187952"/>
            <a:ext cx="685800" cy="475488"/>
          </a:xfrm>
          <a:prstGeom prst="rect">
            <a:avLst>
              <a:gd name="adj" fmla="val 7692"/>
            </a:avLst>
          </a:prstGeom>
          <a:solidFill>
            <a:srgbClr val="FFFFFF"/>
          </a:solidFill>
          <a:ln w="12700">
            <a:solidFill>
              <a:srgbClr val="DB2777"/>
            </a:solidFill>
            <a:prstDash val="solid"/>
          </a:ln>
        </p:spPr>
      </p:sp>
      <p:sp>
        <p:nvSpPr>
          <p:cNvPr id="45" name="Text 43"/>
          <p:cNvSpPr/>
          <p:nvPr/>
        </p:nvSpPr>
        <p:spPr>
          <a:xfrm>
            <a:off x="575957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ph</a:t>
            </a:r>
            <a:endParaRPr lang="en-US" sz="1100" dirty="0"/>
          </a:p>
        </p:txBody>
      </p:sp>
      <p:sp>
        <p:nvSpPr>
          <p:cNvPr id="46" name="Shape 44"/>
          <p:cNvSpPr/>
          <p:nvPr/>
        </p:nvSpPr>
        <p:spPr>
          <a:xfrm>
            <a:off x="6668262" y="4187952"/>
            <a:ext cx="685800" cy="475488"/>
          </a:xfrm>
          <a:prstGeom prst="rect">
            <a:avLst>
              <a:gd name="adj" fmla="val 7692"/>
            </a:avLst>
          </a:prstGeom>
          <a:solidFill>
            <a:srgbClr val="FFFFFF"/>
          </a:solidFill>
          <a:ln w="12700">
            <a:solidFill>
              <a:srgbClr val="DB2777"/>
            </a:solidFill>
            <a:prstDash val="solid"/>
          </a:ln>
        </p:spPr>
      </p:sp>
      <p:sp>
        <p:nvSpPr>
          <p:cNvPr id="47" name="Text 45"/>
          <p:cNvSpPr/>
          <p:nvPr/>
        </p:nvSpPr>
        <p:spPr>
          <a:xfrm>
            <a:off x="6668262"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o_e</a:t>
            </a:r>
            <a:endParaRPr lang="en-US" sz="1100" dirty="0"/>
          </a:p>
        </p:txBody>
      </p:sp>
      <p:sp>
        <p:nvSpPr>
          <p:cNvPr id="48" name="Shape 46"/>
          <p:cNvSpPr/>
          <p:nvPr/>
        </p:nvSpPr>
        <p:spPr>
          <a:xfrm>
            <a:off x="7576947" y="4187952"/>
            <a:ext cx="685800" cy="475488"/>
          </a:xfrm>
          <a:prstGeom prst="rect">
            <a:avLst>
              <a:gd name="adj" fmla="val 7692"/>
            </a:avLst>
          </a:prstGeom>
          <a:solidFill>
            <a:srgbClr val="FFFFFF"/>
          </a:solidFill>
          <a:ln w="12700">
            <a:solidFill>
              <a:srgbClr val="DB2777"/>
            </a:solidFill>
            <a:prstDash val="solid"/>
          </a:ln>
        </p:spPr>
      </p:sp>
      <p:sp>
        <p:nvSpPr>
          <p:cNvPr id="49" name="Text 47"/>
          <p:cNvSpPr/>
          <p:nvPr/>
        </p:nvSpPr>
        <p:spPr>
          <a:xfrm>
            <a:off x="757694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Attempt (Word 2 of 2)</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FEF3C7"/>
          </a:solidFill>
          <a:ln w="12700">
            <a:solidFill>
              <a:srgbClr val="D97706"/>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dirty="0">
                <a:solidFill>
                  <a:srgbClr val="92400E"/>
                </a:solidFill>
                <a:latin typeface="Calibri" pitchFamily="34" charset="0"/>
                <a:ea typeface="Calibri" pitchFamily="34" charset="-122"/>
                <a:cs typeface="Calibri" pitchFamily="34" charset="-120"/>
              </a:rPr>
              <a:t>Write the morpheme breakdown, syllables, and phonemes for this word. Check your work on the next slides.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teleport</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1874520" y="2240280"/>
            <a:ext cx="6903720" cy="841248"/>
          </a:xfrm>
          <a:prstGeom prst="rect">
            <a:avLst>
              <a:gd name="adj" fmla="val 6522"/>
            </a:avLst>
          </a:prstGeom>
          <a:solidFill>
            <a:srgbClr val="F8FAFC"/>
          </a:solidFill>
          <a:ln w="12700">
            <a:solidFill>
              <a:srgbClr val="E2E8F0"/>
            </a:solidFill>
            <a:prstDash val="dash"/>
          </a:ln>
        </p:spPr>
      </p:sp>
      <p:sp>
        <p:nvSpPr>
          <p:cNvPr id="17" name="Text 15"/>
          <p:cNvSpPr/>
          <p:nvPr/>
        </p:nvSpPr>
        <p:spPr>
          <a:xfrm>
            <a:off x="1874520" y="2240280"/>
            <a:ext cx="6903720" cy="84124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18" name="Shape 16"/>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19" name="Text 17"/>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0" name="Shape 18"/>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1" name="Text 19"/>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2" name="Shape 20"/>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3" name="Text 21"/>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4" name="Shape 22"/>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5" name="Text 23"/>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Morphemes Revealed</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DDD6FE"/>
          </a:solidFill>
          <a:ln w="12700">
            <a:solidFill>
              <a:srgbClr val="7C3AED"/>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4C1D95"/>
                </a:solidFill>
                <a:latin typeface="Calibri" pitchFamily="34" charset="0"/>
                <a:ea typeface="Calibri" pitchFamily="34" charset="-122"/>
                <a:cs typeface="Calibri" pitchFamily="34" charset="-120"/>
              </a:rPr>
              <a:t>✓ Check your morpheme breakdown. Morphemes are the meaningful parts.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teleport</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port</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carry</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5" name="Text 23"/>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6" name="Shape 24"/>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7" name="Text 25"/>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8" name="Shape 26"/>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9" name="Text 27"/>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Syllables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CCFBF1"/>
          </a:solidFill>
          <a:ln w="12700">
            <a:solidFill>
              <a:srgbClr val="0D9488"/>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 Now check your syllable split. Syllables are the beats in the word.</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teleport</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port</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carry</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port</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36" name="Text 34"/>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2</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Phonemes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FCE7F3"/>
          </a:solidFill>
          <a:ln w="12700">
            <a:solidFill>
              <a:srgbClr val="DB2777"/>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9D174D"/>
                </a:solidFill>
                <a:latin typeface="Calibri" pitchFamily="34" charset="0"/>
                <a:ea typeface="Calibri" pitchFamily="34" charset="-122"/>
                <a:cs typeface="Calibri" pitchFamily="34" charset="-120"/>
              </a:rPr>
              <a:t>✓ Now check your phonemes. Phonemes are the individual sounds.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teleport</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port</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carry</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port</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CE7F3"/>
          </a:solidFill>
          <a:ln w="12700">
            <a:solidFill>
              <a:srgbClr val="DB2777"/>
            </a:solidFill>
            <a:prstDash val="solid"/>
          </a:ln>
        </p:spPr>
      </p:sp>
      <p:sp>
        <p:nvSpPr>
          <p:cNvPr id="36" name="Shape 34"/>
          <p:cNvSpPr/>
          <p:nvPr/>
        </p:nvSpPr>
        <p:spPr>
          <a:xfrm>
            <a:off x="2124837" y="4187952"/>
            <a:ext cx="685800" cy="475488"/>
          </a:xfrm>
          <a:prstGeom prst="rect">
            <a:avLst>
              <a:gd name="adj" fmla="val 7692"/>
            </a:avLst>
          </a:prstGeom>
          <a:solidFill>
            <a:srgbClr val="FFFFFF"/>
          </a:solidFill>
          <a:ln w="12700">
            <a:solidFill>
              <a:srgbClr val="DB2777"/>
            </a:solidFill>
            <a:prstDash val="solid"/>
          </a:ln>
        </p:spPr>
      </p:sp>
      <p:sp>
        <p:nvSpPr>
          <p:cNvPr id="37" name="Text 35"/>
          <p:cNvSpPr/>
          <p:nvPr/>
        </p:nvSpPr>
        <p:spPr>
          <a:xfrm>
            <a:off x="212483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t</a:t>
            </a:r>
            <a:endParaRPr lang="en-US" sz="1100" dirty="0"/>
          </a:p>
        </p:txBody>
      </p:sp>
      <p:sp>
        <p:nvSpPr>
          <p:cNvPr id="38" name="Shape 36"/>
          <p:cNvSpPr/>
          <p:nvPr/>
        </p:nvSpPr>
        <p:spPr>
          <a:xfrm>
            <a:off x="3033522" y="4187952"/>
            <a:ext cx="685800" cy="475488"/>
          </a:xfrm>
          <a:prstGeom prst="rect">
            <a:avLst>
              <a:gd name="adj" fmla="val 7692"/>
            </a:avLst>
          </a:prstGeom>
          <a:solidFill>
            <a:srgbClr val="FFFFFF"/>
          </a:solidFill>
          <a:ln w="12700">
            <a:solidFill>
              <a:srgbClr val="DB2777"/>
            </a:solidFill>
            <a:prstDash val="solid"/>
          </a:ln>
        </p:spPr>
      </p:sp>
      <p:sp>
        <p:nvSpPr>
          <p:cNvPr id="39" name="Text 37"/>
          <p:cNvSpPr/>
          <p:nvPr/>
        </p:nvSpPr>
        <p:spPr>
          <a:xfrm>
            <a:off x="3033522"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e</a:t>
            </a:r>
            <a:endParaRPr lang="en-US" sz="1100" dirty="0"/>
          </a:p>
        </p:txBody>
      </p:sp>
      <p:sp>
        <p:nvSpPr>
          <p:cNvPr id="40" name="Shape 38"/>
          <p:cNvSpPr/>
          <p:nvPr/>
        </p:nvSpPr>
        <p:spPr>
          <a:xfrm>
            <a:off x="3942207" y="4187952"/>
            <a:ext cx="685800" cy="475488"/>
          </a:xfrm>
          <a:prstGeom prst="rect">
            <a:avLst>
              <a:gd name="adj" fmla="val 7692"/>
            </a:avLst>
          </a:prstGeom>
          <a:solidFill>
            <a:srgbClr val="FFFFFF"/>
          </a:solidFill>
          <a:ln w="12700">
            <a:solidFill>
              <a:srgbClr val="DB2777"/>
            </a:solidFill>
            <a:prstDash val="solid"/>
          </a:ln>
        </p:spPr>
      </p:sp>
      <p:sp>
        <p:nvSpPr>
          <p:cNvPr id="41" name="Text 39"/>
          <p:cNvSpPr/>
          <p:nvPr/>
        </p:nvSpPr>
        <p:spPr>
          <a:xfrm>
            <a:off x="394220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l</a:t>
            </a:r>
            <a:endParaRPr lang="en-US" sz="1100" dirty="0"/>
          </a:p>
        </p:txBody>
      </p:sp>
      <p:sp>
        <p:nvSpPr>
          <p:cNvPr id="42" name="Shape 40"/>
          <p:cNvSpPr/>
          <p:nvPr/>
        </p:nvSpPr>
        <p:spPr>
          <a:xfrm>
            <a:off x="4850892" y="4187952"/>
            <a:ext cx="685800" cy="475488"/>
          </a:xfrm>
          <a:prstGeom prst="rect">
            <a:avLst>
              <a:gd name="adj" fmla="val 7692"/>
            </a:avLst>
          </a:prstGeom>
          <a:solidFill>
            <a:srgbClr val="FFFFFF"/>
          </a:solidFill>
          <a:ln w="12700">
            <a:solidFill>
              <a:srgbClr val="DB2777"/>
            </a:solidFill>
            <a:prstDash val="solid"/>
          </a:ln>
        </p:spPr>
      </p:sp>
      <p:sp>
        <p:nvSpPr>
          <p:cNvPr id="43" name="Text 41"/>
          <p:cNvSpPr/>
          <p:nvPr/>
        </p:nvSpPr>
        <p:spPr>
          <a:xfrm>
            <a:off x="4850892"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e</a:t>
            </a:r>
            <a:endParaRPr lang="en-US" sz="1100" dirty="0"/>
          </a:p>
        </p:txBody>
      </p:sp>
      <p:sp>
        <p:nvSpPr>
          <p:cNvPr id="44" name="Shape 42"/>
          <p:cNvSpPr/>
          <p:nvPr/>
        </p:nvSpPr>
        <p:spPr>
          <a:xfrm>
            <a:off x="5759577" y="4187952"/>
            <a:ext cx="685800" cy="475488"/>
          </a:xfrm>
          <a:prstGeom prst="rect">
            <a:avLst>
              <a:gd name="adj" fmla="val 7692"/>
            </a:avLst>
          </a:prstGeom>
          <a:solidFill>
            <a:srgbClr val="FFFFFF"/>
          </a:solidFill>
          <a:ln w="12700">
            <a:solidFill>
              <a:srgbClr val="DB2777"/>
            </a:solidFill>
            <a:prstDash val="solid"/>
          </a:ln>
        </p:spPr>
      </p:sp>
      <p:sp>
        <p:nvSpPr>
          <p:cNvPr id="45" name="Text 43"/>
          <p:cNvSpPr/>
          <p:nvPr/>
        </p:nvSpPr>
        <p:spPr>
          <a:xfrm>
            <a:off x="575957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p</a:t>
            </a:r>
            <a:endParaRPr lang="en-US" sz="1100" dirty="0"/>
          </a:p>
        </p:txBody>
      </p:sp>
      <p:sp>
        <p:nvSpPr>
          <p:cNvPr id="46" name="Shape 44"/>
          <p:cNvSpPr/>
          <p:nvPr/>
        </p:nvSpPr>
        <p:spPr>
          <a:xfrm>
            <a:off x="6668262" y="4187952"/>
            <a:ext cx="685800" cy="475488"/>
          </a:xfrm>
          <a:prstGeom prst="rect">
            <a:avLst>
              <a:gd name="adj" fmla="val 7692"/>
            </a:avLst>
          </a:prstGeom>
          <a:solidFill>
            <a:srgbClr val="FFFFFF"/>
          </a:solidFill>
          <a:ln w="12700">
            <a:solidFill>
              <a:srgbClr val="DB2777"/>
            </a:solidFill>
            <a:prstDash val="solid"/>
          </a:ln>
        </p:spPr>
      </p:sp>
      <p:sp>
        <p:nvSpPr>
          <p:cNvPr id="47" name="Text 45"/>
          <p:cNvSpPr/>
          <p:nvPr/>
        </p:nvSpPr>
        <p:spPr>
          <a:xfrm>
            <a:off x="6668262"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or</a:t>
            </a:r>
            <a:endParaRPr lang="en-US" sz="1100" dirty="0"/>
          </a:p>
        </p:txBody>
      </p:sp>
      <p:sp>
        <p:nvSpPr>
          <p:cNvPr id="48" name="Shape 46"/>
          <p:cNvSpPr/>
          <p:nvPr/>
        </p:nvSpPr>
        <p:spPr>
          <a:xfrm>
            <a:off x="7576947" y="4187952"/>
            <a:ext cx="685800" cy="475488"/>
          </a:xfrm>
          <a:prstGeom prst="rect">
            <a:avLst>
              <a:gd name="adj" fmla="val 7692"/>
            </a:avLst>
          </a:prstGeom>
          <a:solidFill>
            <a:srgbClr val="FFFFFF"/>
          </a:solidFill>
          <a:ln w="12700">
            <a:solidFill>
              <a:srgbClr val="DB2777"/>
            </a:solidFill>
            <a:prstDash val="solid"/>
          </a:ln>
        </p:spPr>
      </p:sp>
      <p:sp>
        <p:nvSpPr>
          <p:cNvPr id="49" name="Text 47"/>
          <p:cNvSpPr/>
          <p:nvPr/>
        </p:nvSpPr>
        <p:spPr>
          <a:xfrm>
            <a:off x="7576947" y="4187952"/>
            <a:ext cx="685800" cy="475488"/>
          </a:xfrm>
          <a:prstGeom prst="rect">
            <a:avLst/>
          </a:prstGeom>
          <a:noFill/>
          <a:ln/>
        </p:spPr>
        <p:txBody>
          <a:bodyPr wrap="square" lIns="0" tIns="0" rIns="0" bIns="0" rtlCol="0" anchor="ctr"/>
          <a:lstStyle/>
          <a:p>
            <a:pPr algn="ctr" indent="0" marL="0">
              <a:buNone/>
            </a:pPr>
            <a:r>
              <a:rPr lang="en-US" sz="1100" b="1" dirty="0">
                <a:solidFill>
                  <a:srgbClr val="9D174D"/>
                </a:solidFill>
                <a:latin typeface="Trebuchet MS" pitchFamily="34" charset="0"/>
                <a:ea typeface="Trebuchet MS" pitchFamily="34" charset="-122"/>
                <a:cs typeface="Trebuchet MS" pitchFamily="34" charset="-120"/>
              </a:rPr>
              <a:t>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12E8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457200" y="1645920"/>
            <a:ext cx="1097280" cy="411480"/>
          </a:xfrm>
          <a:prstGeom prst="rect">
            <a:avLst>
              <a:gd name="adj" fmla="val 17778"/>
            </a:avLst>
          </a:prstGeom>
          <a:solidFill>
            <a:srgbClr val="0D9488"/>
          </a:solidFill>
          <a:ln w="12700">
            <a:solidFill>
              <a:srgbClr val="0D9488"/>
            </a:solidFill>
            <a:prstDash val="solid"/>
          </a:ln>
        </p:spPr>
      </p:sp>
      <p:sp>
        <p:nvSpPr>
          <p:cNvPr id="4" name="Text 2"/>
          <p:cNvSpPr/>
          <p:nvPr/>
        </p:nvSpPr>
        <p:spPr>
          <a:xfrm>
            <a:off x="457200" y="1645920"/>
            <a:ext cx="10972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Day 3</a:t>
            </a:r>
            <a:endParaRPr lang="en-US" sz="1100" dirty="0"/>
          </a:p>
        </p:txBody>
      </p:sp>
      <p:sp>
        <p:nvSpPr>
          <p:cNvPr id="5" name="Text 3"/>
          <p:cNvSpPr/>
          <p:nvPr/>
        </p:nvSpPr>
        <p:spPr>
          <a:xfrm>
            <a:off x="457200" y="2148840"/>
            <a:ext cx="8412480" cy="1280160"/>
          </a:xfrm>
          <a:prstGeom prst="rect">
            <a:avLst/>
          </a:prstGeom>
          <a:noFill/>
          <a:ln/>
        </p:spPr>
        <p:txBody>
          <a:bodyPr wrap="square" lIns="0" tIns="0" rIns="0" bIns="0" rtlCol="0" anchor="t"/>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Dictation &amp;</a:t>
            </a:r>
            <a:endParaRPr lang="en-US" sz="4400" dirty="0"/>
          </a:p>
          <a:p>
            <a:pPr algn="l" indent="0" marL="0">
              <a:buNone/>
            </a:pPr>
            <a:r>
              <a:rPr lang="en-US" sz="4400" b="1" dirty="0">
                <a:solidFill>
                  <a:srgbClr val="FFFFFF"/>
                </a:solidFill>
                <a:latin typeface="Trebuchet MS" pitchFamily="34" charset="0"/>
                <a:ea typeface="Trebuchet MS" pitchFamily="34" charset="-122"/>
                <a:cs typeface="Trebuchet MS" pitchFamily="34" charset="-120"/>
              </a:rPr>
              <a:t>Word Matrix</a:t>
            </a:r>
            <a:endParaRPr lang="en-US" sz="4400" dirty="0"/>
          </a:p>
        </p:txBody>
      </p:sp>
      <p:sp>
        <p:nvSpPr>
          <p:cNvPr id="6" name="Text 4"/>
          <p:cNvSpPr/>
          <p:nvPr/>
        </p:nvSpPr>
        <p:spPr>
          <a:xfrm>
            <a:off x="457200" y="3474720"/>
            <a:ext cx="8229600" cy="548640"/>
          </a:xfrm>
          <a:prstGeom prst="rect">
            <a:avLst/>
          </a:prstGeom>
          <a:noFill/>
          <a:ln/>
        </p:spPr>
        <p:txBody>
          <a:bodyPr wrap="square" lIns="0" tIns="0" rIns="0" bIns="0" rtlCol="0" anchor="t"/>
          <a:lstStyle/>
          <a:p>
            <a:pPr algn="l" indent="0" marL="0">
              <a:buNone/>
            </a:pPr>
            <a:r>
              <a:rPr lang="en-US" sz="1600" dirty="0">
                <a:solidFill>
                  <a:srgbClr val="A5B4FC"/>
                </a:solidFill>
                <a:latin typeface="Calibri" pitchFamily="34" charset="0"/>
                <a:ea typeface="Calibri" pitchFamily="34" charset="-122"/>
                <a:cs typeface="Calibri" pitchFamily="34" charset="-120"/>
              </a:rPr>
              <a:t>Listen → Write → Reveal → Build</a:t>
            </a:r>
            <a:endParaRPr lang="en-US" sz="1600" dirty="0"/>
          </a:p>
        </p:txBody>
      </p:sp>
      <p:sp>
        <p:nvSpPr>
          <p:cNvPr id="7" name="Shape 5"/>
          <p:cNvSpPr/>
          <p:nvPr/>
        </p:nvSpPr>
        <p:spPr>
          <a:xfrm>
            <a:off x="0" y="4754880"/>
            <a:ext cx="9144000" cy="388620"/>
          </a:xfrm>
          <a:prstGeom prst="rect">
            <a:avLst/>
          </a:prstGeom>
          <a:solidFill>
            <a:srgbClr val="0F172A"/>
          </a:solidFill>
          <a:ln w="12700">
            <a:solidFill>
              <a:srgbClr val="0F172A"/>
            </a:solidFill>
            <a:prstDash val="solid"/>
          </a:ln>
        </p:spPr>
      </p:sp>
      <p:sp>
        <p:nvSpPr>
          <p:cNvPr id="8" name="Text 6"/>
          <p:cNvSpPr/>
          <p:nvPr/>
        </p:nvSpPr>
        <p:spPr>
          <a:xfrm>
            <a:off x="0" y="4754880"/>
            <a:ext cx="9144000" cy="3886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Word Labs  •  wordlabs.app</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Listen &amp; Write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77240"/>
            <a:ext cx="8412480" cy="530352"/>
          </a:xfrm>
          <a:prstGeom prst="rect">
            <a:avLst>
              <a:gd name="adj" fmla="val 13793"/>
            </a:avLst>
          </a:prstGeom>
          <a:solidFill>
            <a:srgbClr val="FEF3C7"/>
          </a:solidFill>
          <a:ln w="12700">
            <a:solidFill>
              <a:srgbClr val="D97706"/>
            </a:solidFill>
            <a:prstDash val="solid"/>
          </a:ln>
        </p:spPr>
      </p:sp>
      <p:sp>
        <p:nvSpPr>
          <p:cNvPr id="11" name="Text 9"/>
          <p:cNvSpPr/>
          <p:nvPr/>
        </p:nvSpPr>
        <p:spPr>
          <a:xfrm>
            <a:off x="502920" y="777240"/>
            <a:ext cx="8229600" cy="530352"/>
          </a:xfrm>
          <a:prstGeom prst="rect">
            <a:avLst/>
          </a:prstGeom>
          <a:noFill/>
          <a:ln/>
        </p:spPr>
        <p:txBody>
          <a:bodyPr wrap="square" rtlCol="0" anchor="ctr"/>
          <a:lstStyle/>
          <a:p>
            <a:pPr algn="l" indent="0" marL="0">
              <a:buNone/>
            </a:pPr>
            <a:r>
              <a:rPr lang="en-US" sz="1300" b="1" dirty="0">
                <a:solidFill>
                  <a:srgbClr val="92400E"/>
                </a:solidFill>
                <a:latin typeface="Calibri" pitchFamily="34" charset="0"/>
                <a:ea typeface="Calibri" pitchFamily="34" charset="-122"/>
                <a:cs typeface="Calibri" pitchFamily="34" charset="-120"/>
              </a:rPr>
              <a:t>📢  Teacher reads the passage aloud. Students write it in their books.</a:t>
            </a:r>
            <a:endParaRPr lang="en-US" sz="1300" dirty="0"/>
          </a:p>
        </p:txBody>
      </p:sp>
      <p:sp>
        <p:nvSpPr>
          <p:cNvPr id="12" name="Shape 10"/>
          <p:cNvSpPr/>
          <p:nvPr/>
        </p:nvSpPr>
        <p:spPr>
          <a:xfrm>
            <a:off x="365760" y="1600200"/>
            <a:ext cx="8412480" cy="0"/>
          </a:xfrm>
          <a:prstGeom prst="line">
            <a:avLst/>
          </a:prstGeom>
          <a:noFill/>
          <a:ln w="19050">
            <a:solidFill>
              <a:srgbClr val="E2E8F0"/>
            </a:solidFill>
            <a:prstDash val="solid"/>
          </a:ln>
        </p:spPr>
      </p:sp>
      <p:sp>
        <p:nvSpPr>
          <p:cNvPr id="13" name="Shape 11"/>
          <p:cNvSpPr/>
          <p:nvPr/>
        </p:nvSpPr>
        <p:spPr>
          <a:xfrm>
            <a:off x="365760" y="2194560"/>
            <a:ext cx="8412480" cy="0"/>
          </a:xfrm>
          <a:prstGeom prst="line">
            <a:avLst/>
          </a:prstGeom>
          <a:noFill/>
          <a:ln w="19050">
            <a:solidFill>
              <a:srgbClr val="E2E8F0"/>
            </a:solidFill>
            <a:prstDash val="solid"/>
          </a:ln>
        </p:spPr>
      </p:sp>
      <p:sp>
        <p:nvSpPr>
          <p:cNvPr id="14" name="Shape 12"/>
          <p:cNvSpPr/>
          <p:nvPr/>
        </p:nvSpPr>
        <p:spPr>
          <a:xfrm>
            <a:off x="365760" y="2788920"/>
            <a:ext cx="8412480" cy="0"/>
          </a:xfrm>
          <a:prstGeom prst="line">
            <a:avLst/>
          </a:prstGeom>
          <a:noFill/>
          <a:ln w="19050">
            <a:solidFill>
              <a:srgbClr val="E2E8F0"/>
            </a:solidFill>
            <a:prstDash val="solid"/>
          </a:ln>
        </p:spPr>
      </p:sp>
      <p:sp>
        <p:nvSpPr>
          <p:cNvPr id="15" name="Text 13"/>
          <p:cNvSpPr/>
          <p:nvPr/>
        </p:nvSpPr>
        <p:spPr>
          <a:xfrm>
            <a:off x="365760" y="3383280"/>
            <a:ext cx="8412480" cy="347472"/>
          </a:xfrm>
          <a:prstGeom prst="rect">
            <a:avLst/>
          </a:prstGeom>
          <a:noFill/>
          <a:ln/>
        </p:spPr>
        <p:txBody>
          <a:bodyPr wrap="square" rtlCol="0" anchor="ctr"/>
          <a:lstStyle/>
          <a:p>
            <a:pPr algn="ctr" indent="0" marL="0">
              <a:buNone/>
            </a:pPr>
            <a:r>
              <a:rPr lang="en-US" sz="1100" i="1" dirty="0">
                <a:solidFill>
                  <a:srgbClr val="475569"/>
                </a:solidFill>
                <a:latin typeface="Calibri" pitchFamily="34" charset="0"/>
                <a:ea typeface="Calibri" pitchFamily="34" charset="-122"/>
                <a:cs typeface="Calibri" pitchFamily="34" charset="-120"/>
              </a:rPr>
              <a:t>Write your passage here ↑</a:t>
            </a:r>
            <a:endParaRPr lang="en-US" sz="1100" dirty="0"/>
          </a:p>
        </p:txBody>
      </p:sp>
      <p:sp>
        <p:nvSpPr>
          <p:cNvPr id="16" name="Shape 14"/>
          <p:cNvSpPr/>
          <p:nvPr/>
        </p:nvSpPr>
        <p:spPr>
          <a:xfrm>
            <a:off x="1828800" y="3822192"/>
            <a:ext cx="2560320" cy="658368"/>
          </a:xfrm>
          <a:prstGeom prst="rect">
            <a:avLst>
              <a:gd name="adj" fmla="val 13889"/>
            </a:avLst>
          </a:prstGeom>
          <a:solidFill>
            <a:srgbClr val="EEF2FF"/>
          </a:solidFill>
          <a:ln w="12700">
            <a:solidFill>
              <a:srgbClr val="6366F1"/>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1828800" y="3822192"/>
            <a:ext cx="2560320" cy="658368"/>
          </a:xfrm>
          <a:prstGeom prst="rect">
            <a:avLst/>
          </a:prstGeom>
          <a:noFill/>
          <a:ln/>
        </p:spPr>
        <p:txBody>
          <a:bodyPr wrap="square" rtlCol="0" anchor="ctr"/>
          <a:lstStyle/>
          <a:p>
            <a:pPr algn="ctr" indent="0" marL="0">
              <a:buNone/>
            </a:pPr>
            <a:r>
              <a:rPr lang="en-US" sz="2800" b="1" dirty="0">
                <a:solidFill>
                  <a:srgbClr val="4338CA"/>
                </a:solidFill>
                <a:latin typeface="Trebuchet MS" pitchFamily="34" charset="0"/>
                <a:ea typeface="Trebuchet MS" pitchFamily="34" charset="-122"/>
                <a:cs typeface="Trebuchet MS" pitchFamily="34" charset="-120"/>
              </a:rPr>
              <a:t>1</a:t>
            </a:r>
            <a:pPr algn="ctr" indent="0" marL="0">
              <a:buNone/>
            </a:pPr>
            <a:r>
              <a:rPr lang="en-US" sz="1200" dirty="0">
                <a:solidFill>
                  <a:srgbClr val="475569"/>
                </a:solidFill>
                <a:latin typeface="Trebuchet MS" pitchFamily="34" charset="0"/>
                <a:ea typeface="Trebuchet MS" pitchFamily="34" charset="-122"/>
                <a:cs typeface="Trebuchet MS" pitchFamily="34" charset="-120"/>
              </a:rPr>
              <a:t>  focus word</a:t>
            </a:r>
            <a:endParaRPr lang="en-US" sz="2800" dirty="0"/>
          </a:p>
        </p:txBody>
      </p:sp>
      <p:sp>
        <p:nvSpPr>
          <p:cNvPr id="18" name="Shape 16"/>
          <p:cNvSpPr/>
          <p:nvPr/>
        </p:nvSpPr>
        <p:spPr>
          <a:xfrm>
            <a:off x="4754880" y="3822192"/>
            <a:ext cx="2560320" cy="658368"/>
          </a:xfrm>
          <a:prstGeom prst="rect">
            <a:avLst>
              <a:gd name="adj" fmla="val 13889"/>
            </a:avLst>
          </a:prstGeom>
          <a:solidFill>
            <a:srgbClr val="FEF3C7"/>
          </a:solidFill>
          <a:ln w="12700">
            <a:solidFill>
              <a:srgbClr val="D97706"/>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4754880" y="3822192"/>
            <a:ext cx="2560320" cy="658368"/>
          </a:xfrm>
          <a:prstGeom prst="rect">
            <a:avLst/>
          </a:prstGeom>
          <a:noFill/>
          <a:ln/>
        </p:spPr>
        <p:txBody>
          <a:bodyPr wrap="square" rtlCol="0" anchor="ctr"/>
          <a:lstStyle/>
          <a:p>
            <a:pPr algn="ctr" indent="0" marL="0">
              <a:buNone/>
            </a:pPr>
            <a:r>
              <a:rPr lang="en-US" sz="2800" b="1" dirty="0">
                <a:solidFill>
                  <a:srgbClr val="92400E"/>
                </a:solidFill>
                <a:latin typeface="Trebuchet MS" pitchFamily="34" charset="0"/>
                <a:ea typeface="Trebuchet MS" pitchFamily="34" charset="-122"/>
                <a:cs typeface="Trebuchet MS" pitchFamily="34" charset="-120"/>
              </a:rPr>
              <a:t>2</a:t>
            </a:r>
            <a:pPr algn="ctr" indent="0" marL="0">
              <a:buNone/>
            </a:pPr>
            <a:r>
              <a:rPr lang="en-US" sz="1200" dirty="0">
                <a:solidFill>
                  <a:srgbClr val="475569"/>
                </a:solidFill>
                <a:latin typeface="Trebuchet MS" pitchFamily="34" charset="0"/>
                <a:ea typeface="Trebuchet MS" pitchFamily="34" charset="-122"/>
                <a:cs typeface="Trebuchet MS" pitchFamily="34" charset="-120"/>
              </a:rPr>
              <a:t>  punctuation marks</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Dictation — Reveal &amp; Underline</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49808"/>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Check your writing. Underline the focus words.</a:t>
            </a:r>
            <a:endParaRPr lang="en-US" sz="1300" dirty="0"/>
          </a:p>
        </p:txBody>
      </p:sp>
      <p:sp>
        <p:nvSpPr>
          <p:cNvPr id="11" name="Shape 9"/>
          <p:cNvSpPr/>
          <p:nvPr/>
        </p:nvSpPr>
        <p:spPr>
          <a:xfrm>
            <a:off x="365760" y="1188720"/>
            <a:ext cx="8412480" cy="1554480"/>
          </a:xfrm>
          <a:prstGeom prst="rect">
            <a:avLst>
              <a:gd name="adj" fmla="val 7059"/>
            </a:avLst>
          </a:prstGeom>
          <a:solidFill>
            <a:srgbClr val="F8FAFC"/>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548640" y="1261872"/>
            <a:ext cx="8046720" cy="1408176"/>
          </a:xfrm>
          <a:prstGeom prst="rect">
            <a:avLst/>
          </a:prstGeom>
          <a:noFill/>
          <a:ln/>
        </p:spPr>
        <p:txBody>
          <a:bodyPr wrap="square" rtlCol="0" anchor="ctr">
            <a:normAutofit/>
          </a:bodyPr>
          <a:lstStyle/>
          <a:p>
            <a:pPr algn="l" indent="0" marL="0">
              <a:buNone/>
            </a:pPr>
            <a:r>
              <a:rPr lang="en-US" sz="1800" dirty="0">
                <a:solidFill>
                  <a:srgbClr val="0F172A"/>
                </a:solidFill>
                <a:latin typeface="Calibri" pitchFamily="34" charset="0"/>
                <a:ea typeface="Calibri" pitchFamily="34" charset="-122"/>
                <a:cs typeface="Calibri" pitchFamily="34" charset="-120"/>
              </a:rPr>
              <a:t>On a clear night, we set up the </a:t>
            </a:r>
            <a:pPr algn="l" indent="0" marL="0">
              <a:buNone/>
            </a:pPr>
            <a:r>
              <a:rPr lang="en-US" sz="1800" b="1" dirty="0">
                <a:solidFill>
                  <a:srgbClr val="0D9488"/>
                </a:solidFill>
                <a:highlight>
                  <a:srgbClr val="CCFBF1"/>
                </a:highlight>
                <a:latin typeface="Calibri" pitchFamily="34" charset="0"/>
                <a:ea typeface="Calibri" pitchFamily="34" charset="-122"/>
                <a:cs typeface="Calibri" pitchFamily="34" charset="-120"/>
              </a:rPr>
              <a:t>telescope</a:t>
            </a:r>
            <a:pPr algn="l" indent="0" marL="0">
              <a:buNone/>
            </a:pPr>
            <a:r>
              <a:rPr lang="en-US" sz="1800" dirty="0">
                <a:solidFill>
                  <a:srgbClr val="0F172A"/>
                </a:solidFill>
                <a:latin typeface="Calibri" pitchFamily="34" charset="0"/>
                <a:ea typeface="Calibri" pitchFamily="34" charset="-122"/>
                <a:cs typeface="Calibri" pitchFamily="34" charset="-120"/>
              </a:rPr>
              <a:t> in the backyard and spotted craters on the moon.</a:t>
            </a:r>
            <a:endParaRPr lang="en-US" sz="1800" dirty="0"/>
          </a:p>
        </p:txBody>
      </p:sp>
      <p:sp>
        <p:nvSpPr>
          <p:cNvPr id="13" name="Shape 11"/>
          <p:cNvSpPr/>
          <p:nvPr/>
        </p:nvSpPr>
        <p:spPr>
          <a:xfrm>
            <a:off x="365760" y="2852928"/>
            <a:ext cx="8412480" cy="475488"/>
          </a:xfrm>
          <a:prstGeom prst="rect">
            <a:avLst>
              <a:gd name="adj" fmla="val 15385"/>
            </a:avLst>
          </a:prstGeom>
          <a:solidFill>
            <a:srgbClr val="CCFBF1"/>
          </a:solidFill>
          <a:ln w="12700">
            <a:solidFill>
              <a:srgbClr val="0D9488"/>
            </a:solidFill>
            <a:prstDash val="solid"/>
          </a:ln>
        </p:spPr>
      </p:sp>
      <p:sp>
        <p:nvSpPr>
          <p:cNvPr id="14" name="Text 12"/>
          <p:cNvSpPr/>
          <p:nvPr/>
        </p:nvSpPr>
        <p:spPr>
          <a:xfrm>
            <a:off x="502920" y="285292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Now write each focus word below — leave room for your breakdown.</a:t>
            </a:r>
            <a:endParaRPr lang="en-US" sz="1200" dirty="0"/>
          </a:p>
        </p:txBody>
      </p:sp>
      <p:sp>
        <p:nvSpPr>
          <p:cNvPr id="15" name="Shape 13"/>
          <p:cNvSpPr/>
          <p:nvPr/>
        </p:nvSpPr>
        <p:spPr>
          <a:xfrm>
            <a:off x="3291840" y="3456432"/>
            <a:ext cx="2560320" cy="1005840"/>
          </a:xfrm>
          <a:prstGeom prst="rect">
            <a:avLst>
              <a:gd name="adj" fmla="val 7273"/>
            </a:avLst>
          </a:prstGeom>
          <a:solidFill>
            <a:srgbClr val="F8FAFC"/>
          </a:solidFill>
          <a:ln w="12700">
            <a:solidFill>
              <a:srgbClr val="E2E8F0"/>
            </a:solidFill>
            <a:prstDash val="solid"/>
          </a:ln>
        </p:spPr>
      </p:sp>
      <p:sp>
        <p:nvSpPr>
          <p:cNvPr id="16" name="Shape 14"/>
          <p:cNvSpPr/>
          <p:nvPr/>
        </p:nvSpPr>
        <p:spPr>
          <a:xfrm>
            <a:off x="3291840" y="3977640"/>
            <a:ext cx="2560320" cy="0"/>
          </a:xfrm>
          <a:prstGeom prst="line">
            <a:avLst/>
          </a:prstGeom>
          <a:noFill/>
          <a:ln w="12700">
            <a:solidFill>
              <a:srgbClr val="E2E8F0"/>
            </a:solidFill>
            <a:prstDash val="dash"/>
          </a:ln>
        </p:spPr>
      </p:sp>
      <p:sp>
        <p:nvSpPr>
          <p:cNvPr id="17" name="Text 15"/>
          <p:cNvSpPr/>
          <p:nvPr/>
        </p:nvSpPr>
        <p:spPr>
          <a:xfrm>
            <a:off x="3291840" y="3456432"/>
            <a:ext cx="2560320" cy="502920"/>
          </a:xfrm>
          <a:prstGeom prst="rect">
            <a:avLst/>
          </a:prstGeom>
          <a:noFill/>
          <a:ln/>
        </p:spPr>
        <p:txBody>
          <a:bodyPr wrap="square" lIns="0" tIns="0" rIns="0" bIns="0" rtlCol="0" anchor="ctr">
            <a:normAutofit/>
          </a:bodyP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telescope</a:t>
            </a:r>
            <a:endParaRPr lang="en-US" sz="1400" dirty="0"/>
          </a:p>
        </p:txBody>
      </p:sp>
      <p:sp>
        <p:nvSpPr>
          <p:cNvPr id="18" name="Text 16"/>
          <p:cNvSpPr/>
          <p:nvPr/>
        </p:nvSpPr>
        <p:spPr>
          <a:xfrm>
            <a:off x="3291840" y="4005072"/>
            <a:ext cx="2560320" cy="457200"/>
          </a:xfrm>
          <a:prstGeom prst="rect">
            <a:avLst/>
          </a:prstGeom>
          <a:noFill/>
          <a:ln/>
        </p:spPr>
        <p:txBody>
          <a:bodyPr wrap="square" lIns="0" tIns="0" rIns="0" bIns="0" rtlCol="0" anchor="ctr"/>
          <a:lstStyle/>
          <a:p>
            <a:pPr algn="ctr" indent="0" marL="0">
              <a:buNone/>
            </a:pPr>
            <a:r>
              <a:rPr lang="en-US" sz="900" i="1" dirty="0">
                <a:solidFill>
                  <a:srgbClr val="475569"/>
                </a:solidFill>
                <a:latin typeface="Calibri" pitchFamily="34" charset="0"/>
                <a:ea typeface="Calibri" pitchFamily="34" charset="-122"/>
                <a:cs typeface="Calibri" pitchFamily="34" charset="-120"/>
              </a:rPr>
              <a:t>write your breakdown below</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Attempt (Word 1 of 1)</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FEF3C7"/>
          </a:solidFill>
          <a:ln w="12700">
            <a:solidFill>
              <a:srgbClr val="D97706"/>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dirty="0">
                <a:solidFill>
                  <a:srgbClr val="92400E"/>
                </a:solidFill>
                <a:latin typeface="Calibri" pitchFamily="34" charset="0"/>
                <a:ea typeface="Calibri" pitchFamily="34" charset="-122"/>
                <a:cs typeface="Calibri" pitchFamily="34" charset="-120"/>
              </a:rPr>
              <a:t>Write the morpheme breakdown, syllables, and phonemes for this word. Check your work on the next slides.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1874520" y="2240280"/>
            <a:ext cx="6903720" cy="841248"/>
          </a:xfrm>
          <a:prstGeom prst="rect">
            <a:avLst>
              <a:gd name="adj" fmla="val 6522"/>
            </a:avLst>
          </a:prstGeom>
          <a:solidFill>
            <a:srgbClr val="F8FAFC"/>
          </a:solidFill>
          <a:ln w="12700">
            <a:solidFill>
              <a:srgbClr val="E2E8F0"/>
            </a:solidFill>
            <a:prstDash val="dash"/>
          </a:ln>
        </p:spPr>
      </p:sp>
      <p:sp>
        <p:nvSpPr>
          <p:cNvPr id="17" name="Text 15"/>
          <p:cNvSpPr/>
          <p:nvPr/>
        </p:nvSpPr>
        <p:spPr>
          <a:xfrm>
            <a:off x="1874520" y="2240280"/>
            <a:ext cx="6903720" cy="84124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18" name="Shape 16"/>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19" name="Text 17"/>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0" name="Shape 18"/>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1" name="Text 19"/>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2" name="Shape 20"/>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3" name="Text 21"/>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4" name="Shape 22"/>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5" name="Text 23"/>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Morphemes Revealed</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DDD6FE"/>
          </a:solidFill>
          <a:ln w="12700">
            <a:solidFill>
              <a:srgbClr val="7C3AED"/>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4C1D95"/>
                </a:solidFill>
                <a:latin typeface="Calibri" pitchFamily="34" charset="0"/>
                <a:ea typeface="Calibri" pitchFamily="34" charset="-122"/>
                <a:cs typeface="Calibri" pitchFamily="34" charset="-120"/>
              </a:rPr>
              <a:t>✓ Check your morpheme breakdown. Morphemes are the meaningful parts.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F8FAFC"/>
          </a:solidFill>
          <a:ln w="12700">
            <a:solidFill>
              <a:srgbClr val="E2E8F0"/>
            </a:solidFill>
            <a:prstDash val="dash"/>
          </a:ln>
        </p:spPr>
      </p:sp>
      <p:sp>
        <p:nvSpPr>
          <p:cNvPr id="25" name="Text 23"/>
          <p:cNvSpPr/>
          <p:nvPr/>
        </p:nvSpPr>
        <p:spPr>
          <a:xfrm>
            <a:off x="1874520" y="3273552"/>
            <a:ext cx="6903720" cy="658368"/>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
        <p:nvSpPr>
          <p:cNvPr id="26" name="Shape 24"/>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27" name="Text 25"/>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28" name="Shape 26"/>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29" name="Text 27"/>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Syllables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CCFBF1"/>
          </a:solidFill>
          <a:ln w="12700">
            <a:solidFill>
              <a:srgbClr val="0D9488"/>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0F766E"/>
                </a:solidFill>
                <a:latin typeface="Calibri" pitchFamily="34" charset="0"/>
                <a:ea typeface="Calibri" pitchFamily="34" charset="-122"/>
                <a:cs typeface="Calibri" pitchFamily="34" charset="-120"/>
              </a:rPr>
              <a:t>✓ Now check your syllable split. Syllables are the beats in the word.</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scope</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8FAFC"/>
          </a:solidFill>
          <a:ln w="12700">
            <a:solidFill>
              <a:srgbClr val="E2E8F0"/>
            </a:solidFill>
            <a:prstDash val="dash"/>
          </a:ln>
        </p:spPr>
      </p:sp>
      <p:sp>
        <p:nvSpPr>
          <p:cNvPr id="36" name="Text 34"/>
          <p:cNvSpPr/>
          <p:nvPr/>
        </p:nvSpPr>
        <p:spPr>
          <a:xfrm>
            <a:off x="1874520" y="4096512"/>
            <a:ext cx="6903720" cy="7315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Write here...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Breakdown — + Phonemes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Shape 8"/>
          <p:cNvSpPr/>
          <p:nvPr/>
        </p:nvSpPr>
        <p:spPr>
          <a:xfrm>
            <a:off x="365760" y="749808"/>
            <a:ext cx="8412480" cy="475488"/>
          </a:xfrm>
          <a:prstGeom prst="rect">
            <a:avLst>
              <a:gd name="adj" fmla="val 15385"/>
            </a:avLst>
          </a:prstGeom>
          <a:solidFill>
            <a:srgbClr val="FCE7F3"/>
          </a:solidFill>
          <a:ln w="12700">
            <a:solidFill>
              <a:srgbClr val="DB2777"/>
            </a:solidFill>
            <a:prstDash val="solid"/>
          </a:ln>
        </p:spPr>
      </p:sp>
      <p:sp>
        <p:nvSpPr>
          <p:cNvPr id="11" name="Text 9"/>
          <p:cNvSpPr/>
          <p:nvPr/>
        </p:nvSpPr>
        <p:spPr>
          <a:xfrm>
            <a:off x="502920" y="749808"/>
            <a:ext cx="8229600" cy="475488"/>
          </a:xfrm>
          <a:prstGeom prst="rect">
            <a:avLst/>
          </a:prstGeom>
          <a:noFill/>
          <a:ln/>
        </p:spPr>
        <p:txBody>
          <a:bodyPr wrap="square" rtlCol="0" anchor="ctr"/>
          <a:lstStyle/>
          <a:p>
            <a:pPr algn="l" indent="0" marL="0">
              <a:buNone/>
            </a:pPr>
            <a:r>
              <a:rPr lang="en-US" sz="1200" b="1" dirty="0">
                <a:solidFill>
                  <a:srgbClr val="9D174D"/>
                </a:solidFill>
                <a:latin typeface="Calibri" pitchFamily="34" charset="0"/>
                <a:ea typeface="Calibri" pitchFamily="34" charset="-122"/>
                <a:cs typeface="Calibri" pitchFamily="34" charset="-120"/>
              </a:rPr>
              <a:t>✓ Now check your phonemes. Phonemes are the individual sounds.</a:t>
            </a:r>
            <a:endParaRPr lang="en-US" sz="1200" dirty="0"/>
          </a:p>
        </p:txBody>
      </p:sp>
      <p:sp>
        <p:nvSpPr>
          <p:cNvPr id="12" name="Shape 10"/>
          <p:cNvSpPr/>
          <p:nvPr/>
        </p:nvSpPr>
        <p:spPr>
          <a:xfrm>
            <a:off x="2743200" y="1325880"/>
            <a:ext cx="3657600" cy="731520"/>
          </a:xfrm>
          <a:prstGeom prst="rect">
            <a:avLst>
              <a:gd name="adj" fmla="val 12500"/>
            </a:avLst>
          </a:prstGeom>
          <a:solidFill>
            <a:srgbClr val="4338CA"/>
          </a:solidFill>
          <a:ln w="12700">
            <a:solidFill>
              <a:srgbClr val="4338C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0" y="1325880"/>
            <a:ext cx="3657600" cy="73152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Trebuchet MS" pitchFamily="34" charset="0"/>
                <a:ea typeface="Trebuchet MS" pitchFamily="34" charset="-122"/>
                <a:cs typeface="Trebuchet MS" pitchFamily="34" charset="-120"/>
              </a:rPr>
              <a:t>telescope</a:t>
            </a:r>
            <a:endParaRPr lang="en-US" sz="2800" dirty="0"/>
          </a:p>
        </p:txBody>
      </p:sp>
      <p:sp>
        <p:nvSpPr>
          <p:cNvPr id="14" name="Shape 12"/>
          <p:cNvSpPr/>
          <p:nvPr/>
        </p:nvSpPr>
        <p:spPr>
          <a:xfrm>
            <a:off x="365760" y="2240280"/>
            <a:ext cx="1371600" cy="841248"/>
          </a:xfrm>
          <a:prstGeom prst="rect">
            <a:avLst>
              <a:gd name="adj" fmla="val 6522"/>
            </a:avLst>
          </a:prstGeom>
          <a:solidFill>
            <a:srgbClr val="E2E8F0"/>
          </a:solidFill>
          <a:ln w="12700">
            <a:solidFill>
              <a:srgbClr val="E2E8F0"/>
            </a:solidFill>
            <a:prstDash val="solid"/>
          </a:ln>
        </p:spPr>
      </p:sp>
      <p:sp>
        <p:nvSpPr>
          <p:cNvPr id="15" name="Text 13"/>
          <p:cNvSpPr/>
          <p:nvPr/>
        </p:nvSpPr>
        <p:spPr>
          <a:xfrm>
            <a:off x="365760" y="2240280"/>
            <a:ext cx="1371600" cy="84124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Morphemes</a:t>
            </a:r>
            <a:endParaRPr lang="en-US" sz="1100" dirty="0"/>
          </a:p>
        </p:txBody>
      </p:sp>
      <p:sp>
        <p:nvSpPr>
          <p:cNvPr id="16" name="Shape 14"/>
          <p:cNvSpPr/>
          <p:nvPr/>
        </p:nvSpPr>
        <p:spPr>
          <a:xfrm>
            <a:off x="2938272" y="2276856"/>
            <a:ext cx="1828800" cy="365760"/>
          </a:xfrm>
          <a:prstGeom prst="rect">
            <a:avLst>
              <a:gd name="adj" fmla="val 20000"/>
            </a:avLst>
          </a:prstGeom>
          <a:solidFill>
            <a:srgbClr val="DDD6FE"/>
          </a:solidFill>
          <a:ln w="31750">
            <a:solidFill>
              <a:srgbClr val="7C3AE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293827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8" name="Text 16"/>
          <p:cNvSpPr/>
          <p:nvPr/>
        </p:nvSpPr>
        <p:spPr>
          <a:xfrm>
            <a:off x="293827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far; at a distance</a:t>
            </a:r>
            <a:endParaRPr lang="en-US" sz="850" dirty="0"/>
          </a:p>
        </p:txBody>
      </p:sp>
      <p:sp>
        <p:nvSpPr>
          <p:cNvPr id="19" name="Shape 17"/>
          <p:cNvSpPr/>
          <p:nvPr/>
        </p:nvSpPr>
        <p:spPr>
          <a:xfrm>
            <a:off x="5803392" y="2276856"/>
            <a:ext cx="1828800" cy="365760"/>
          </a:xfrm>
          <a:prstGeom prst="rect">
            <a:avLst>
              <a:gd name="adj" fmla="val 20000"/>
            </a:avLst>
          </a:prstGeom>
          <a:solidFill>
            <a:srgbClr val="CCFBF1"/>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5803392" y="2276856"/>
            <a:ext cx="1828800" cy="365760"/>
          </a:xfrm>
          <a:prstGeom prst="rect">
            <a:avLst/>
          </a:prstGeom>
          <a:noFill/>
          <a:ln/>
        </p:spPr>
        <p:txBody>
          <a:bodyPr wrap="square" lIns="0" tIns="0" rIns="0" bIns="0" rtlCol="0" anchor="ctr">
            <a:normAutofit/>
          </a:bodyP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scope</a:t>
            </a:r>
            <a:endParaRPr lang="en-US" sz="1300" dirty="0"/>
          </a:p>
        </p:txBody>
      </p:sp>
      <p:sp>
        <p:nvSpPr>
          <p:cNvPr id="21" name="Text 19"/>
          <p:cNvSpPr/>
          <p:nvPr/>
        </p:nvSpPr>
        <p:spPr>
          <a:xfrm>
            <a:off x="5803392" y="2679192"/>
            <a:ext cx="1828800" cy="365760"/>
          </a:xfrm>
          <a:prstGeom prst="rect">
            <a:avLst/>
          </a:prstGeom>
          <a:noFill/>
          <a:ln/>
        </p:spPr>
        <p:txBody>
          <a:bodyPr wrap="square" lIns="0" tIns="0" rIns="0" bIns="0" rtlCol="0" anchor="t">
            <a:normAutofit/>
          </a:bodyPr>
          <a:lstStyle/>
          <a:p>
            <a:pPr algn="ctr" indent="0" marL="0">
              <a:buNone/>
            </a:pPr>
            <a:r>
              <a:rPr lang="en-US" sz="850" dirty="0">
                <a:solidFill>
                  <a:srgbClr val="475569"/>
                </a:solidFill>
                <a:latin typeface="Calibri" pitchFamily="34" charset="0"/>
                <a:ea typeface="Calibri" pitchFamily="34" charset="-122"/>
                <a:cs typeface="Calibri" pitchFamily="34" charset="-120"/>
              </a:rPr>
              <a:t>look; view; examine</a:t>
            </a:r>
            <a:endParaRPr lang="en-US" sz="850" dirty="0"/>
          </a:p>
        </p:txBody>
      </p:sp>
      <p:sp>
        <p:nvSpPr>
          <p:cNvPr id="22" name="Shape 20"/>
          <p:cNvSpPr/>
          <p:nvPr/>
        </p:nvSpPr>
        <p:spPr>
          <a:xfrm>
            <a:off x="365760" y="3273552"/>
            <a:ext cx="1371600" cy="658368"/>
          </a:xfrm>
          <a:prstGeom prst="rect">
            <a:avLst>
              <a:gd name="adj" fmla="val 8333"/>
            </a:avLst>
          </a:prstGeom>
          <a:solidFill>
            <a:srgbClr val="E2E8F0"/>
          </a:solidFill>
          <a:ln w="12700">
            <a:solidFill>
              <a:srgbClr val="E2E8F0"/>
            </a:solidFill>
            <a:prstDash val="solid"/>
          </a:ln>
        </p:spPr>
      </p:sp>
      <p:sp>
        <p:nvSpPr>
          <p:cNvPr id="23" name="Text 21"/>
          <p:cNvSpPr/>
          <p:nvPr/>
        </p:nvSpPr>
        <p:spPr>
          <a:xfrm>
            <a:off x="365760" y="3273552"/>
            <a:ext cx="1371600" cy="658368"/>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Syllables</a:t>
            </a:r>
            <a:endParaRPr lang="en-US" sz="1100" dirty="0"/>
          </a:p>
        </p:txBody>
      </p:sp>
      <p:sp>
        <p:nvSpPr>
          <p:cNvPr id="24" name="Shape 22"/>
          <p:cNvSpPr/>
          <p:nvPr/>
        </p:nvSpPr>
        <p:spPr>
          <a:xfrm>
            <a:off x="1874520" y="3273552"/>
            <a:ext cx="6903720" cy="658368"/>
          </a:xfrm>
          <a:prstGeom prst="rect">
            <a:avLst>
              <a:gd name="adj" fmla="val 8333"/>
            </a:avLst>
          </a:prstGeom>
          <a:solidFill>
            <a:srgbClr val="CCFBF1"/>
          </a:solidFill>
          <a:ln w="12700">
            <a:solidFill>
              <a:srgbClr val="0D9488"/>
            </a:solidFill>
            <a:prstDash val="solid"/>
          </a:ln>
        </p:spPr>
      </p:sp>
      <p:sp>
        <p:nvSpPr>
          <p:cNvPr id="25" name="Shape 23"/>
          <p:cNvSpPr/>
          <p:nvPr/>
        </p:nvSpPr>
        <p:spPr>
          <a:xfrm>
            <a:off x="2313432" y="3364992"/>
            <a:ext cx="1645920" cy="475488"/>
          </a:xfrm>
          <a:prstGeom prst="rect">
            <a:avLst>
              <a:gd name="adj" fmla="val 9615"/>
            </a:avLst>
          </a:prstGeom>
          <a:solidFill>
            <a:srgbClr val="FFFFFF"/>
          </a:solidFill>
          <a:ln w="12700">
            <a:solidFill>
              <a:srgbClr val="0D9488"/>
            </a:solidFill>
            <a:prstDash val="solid"/>
          </a:ln>
        </p:spPr>
      </p:sp>
      <p:sp>
        <p:nvSpPr>
          <p:cNvPr id="26" name="Text 24"/>
          <p:cNvSpPr/>
          <p:nvPr/>
        </p:nvSpPr>
        <p:spPr>
          <a:xfrm>
            <a:off x="23134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tel</a:t>
            </a:r>
            <a:endParaRPr lang="en-US" sz="1400" dirty="0"/>
          </a:p>
        </p:txBody>
      </p:sp>
      <p:sp>
        <p:nvSpPr>
          <p:cNvPr id="27" name="Text 25"/>
          <p:cNvSpPr/>
          <p:nvPr/>
        </p:nvSpPr>
        <p:spPr>
          <a:xfrm>
            <a:off x="39593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28" name="Shape 26"/>
          <p:cNvSpPr/>
          <p:nvPr/>
        </p:nvSpPr>
        <p:spPr>
          <a:xfrm>
            <a:off x="4370832" y="3364992"/>
            <a:ext cx="1645920" cy="475488"/>
          </a:xfrm>
          <a:prstGeom prst="rect">
            <a:avLst>
              <a:gd name="adj" fmla="val 9615"/>
            </a:avLst>
          </a:prstGeom>
          <a:solidFill>
            <a:srgbClr val="FFFFFF"/>
          </a:solidFill>
          <a:ln w="12700">
            <a:solidFill>
              <a:srgbClr val="0D9488"/>
            </a:solidFill>
            <a:prstDash val="solid"/>
          </a:ln>
        </p:spPr>
      </p:sp>
      <p:sp>
        <p:nvSpPr>
          <p:cNvPr id="29" name="Text 27"/>
          <p:cNvSpPr/>
          <p:nvPr/>
        </p:nvSpPr>
        <p:spPr>
          <a:xfrm>
            <a:off x="43708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e</a:t>
            </a:r>
            <a:endParaRPr lang="en-US" sz="1400" dirty="0"/>
          </a:p>
        </p:txBody>
      </p:sp>
      <p:sp>
        <p:nvSpPr>
          <p:cNvPr id="30" name="Text 28"/>
          <p:cNvSpPr/>
          <p:nvPr/>
        </p:nvSpPr>
        <p:spPr>
          <a:xfrm>
            <a:off x="6016752" y="3364992"/>
            <a:ext cx="411480" cy="475488"/>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a:t>
            </a:r>
            <a:endParaRPr lang="en-US" sz="1600" dirty="0"/>
          </a:p>
        </p:txBody>
      </p:sp>
      <p:sp>
        <p:nvSpPr>
          <p:cNvPr id="31" name="Shape 29"/>
          <p:cNvSpPr/>
          <p:nvPr/>
        </p:nvSpPr>
        <p:spPr>
          <a:xfrm>
            <a:off x="6428232" y="3364992"/>
            <a:ext cx="1645920" cy="475488"/>
          </a:xfrm>
          <a:prstGeom prst="rect">
            <a:avLst>
              <a:gd name="adj" fmla="val 9615"/>
            </a:avLst>
          </a:prstGeom>
          <a:solidFill>
            <a:srgbClr val="FFFFFF"/>
          </a:solidFill>
          <a:ln w="12700">
            <a:solidFill>
              <a:srgbClr val="0D9488"/>
            </a:solidFill>
            <a:prstDash val="solid"/>
          </a:ln>
        </p:spPr>
      </p:sp>
      <p:sp>
        <p:nvSpPr>
          <p:cNvPr id="32" name="Text 30"/>
          <p:cNvSpPr/>
          <p:nvPr/>
        </p:nvSpPr>
        <p:spPr>
          <a:xfrm>
            <a:off x="6428232" y="3364992"/>
            <a:ext cx="1645920" cy="475488"/>
          </a:xfrm>
          <a:prstGeom prst="rect">
            <a:avLst/>
          </a:prstGeom>
          <a:noFill/>
          <a:ln/>
        </p:spPr>
        <p:txBody>
          <a:bodyPr wrap="square" lIns="0" tIns="0" rIns="0" bIns="0" rtlCol="0" anchor="ctr"/>
          <a:lstStyle/>
          <a:p>
            <a:pPr algn="ctr" indent="0" marL="0">
              <a:buNone/>
            </a:pPr>
            <a:r>
              <a:rPr lang="en-US" sz="1400" b="1" dirty="0">
                <a:solidFill>
                  <a:srgbClr val="0D9488"/>
                </a:solidFill>
                <a:latin typeface="Trebuchet MS" pitchFamily="34" charset="0"/>
                <a:ea typeface="Trebuchet MS" pitchFamily="34" charset="-122"/>
                <a:cs typeface="Trebuchet MS" pitchFamily="34" charset="-120"/>
              </a:rPr>
              <a:t>scope</a:t>
            </a:r>
            <a:endParaRPr lang="en-US" sz="1400" dirty="0"/>
          </a:p>
        </p:txBody>
      </p:sp>
      <p:sp>
        <p:nvSpPr>
          <p:cNvPr id="33" name="Shape 31"/>
          <p:cNvSpPr/>
          <p:nvPr/>
        </p:nvSpPr>
        <p:spPr>
          <a:xfrm>
            <a:off x="365760" y="4096512"/>
            <a:ext cx="1371600" cy="731520"/>
          </a:xfrm>
          <a:prstGeom prst="rect">
            <a:avLst>
              <a:gd name="adj" fmla="val 7500"/>
            </a:avLst>
          </a:prstGeom>
          <a:solidFill>
            <a:srgbClr val="E2E8F0"/>
          </a:solidFill>
          <a:ln w="12700">
            <a:solidFill>
              <a:srgbClr val="E2E8F0"/>
            </a:solidFill>
            <a:prstDash val="solid"/>
          </a:ln>
        </p:spPr>
      </p:sp>
      <p:sp>
        <p:nvSpPr>
          <p:cNvPr id="34" name="Text 32"/>
          <p:cNvSpPr/>
          <p:nvPr/>
        </p:nvSpPr>
        <p:spPr>
          <a:xfrm>
            <a:off x="365760" y="4096512"/>
            <a:ext cx="1371600" cy="731520"/>
          </a:xfrm>
          <a:prstGeom prst="rect">
            <a:avLst/>
          </a:prstGeom>
          <a:noFill/>
          <a:ln/>
        </p:spPr>
        <p:txBody>
          <a:bodyPr wrap="square" lIns="0" tIns="0" rIns="0" bIns="0" rtlCol="0" anchor="ctr"/>
          <a:lstStyle/>
          <a:p>
            <a:pPr algn="ctr" indent="0" marL="0">
              <a:buNone/>
            </a:pPr>
            <a:r>
              <a:rPr lang="en-US" sz="1100" b="1" dirty="0">
                <a:solidFill>
                  <a:srgbClr val="475569"/>
                </a:solidFill>
                <a:latin typeface="Trebuchet MS" pitchFamily="34" charset="0"/>
                <a:ea typeface="Trebuchet MS" pitchFamily="34" charset="-122"/>
                <a:cs typeface="Trebuchet MS" pitchFamily="34" charset="-120"/>
              </a:rPr>
              <a:t>Phonemes</a:t>
            </a:r>
            <a:endParaRPr lang="en-US" sz="1100" dirty="0"/>
          </a:p>
        </p:txBody>
      </p:sp>
      <p:sp>
        <p:nvSpPr>
          <p:cNvPr id="35" name="Shape 33"/>
          <p:cNvSpPr/>
          <p:nvPr/>
        </p:nvSpPr>
        <p:spPr>
          <a:xfrm>
            <a:off x="1874520" y="4096512"/>
            <a:ext cx="6903720" cy="731520"/>
          </a:xfrm>
          <a:prstGeom prst="rect">
            <a:avLst>
              <a:gd name="adj" fmla="val 7500"/>
            </a:avLst>
          </a:prstGeom>
          <a:solidFill>
            <a:srgbClr val="FCE7F3"/>
          </a:solidFill>
          <a:ln w="12700">
            <a:solidFill>
              <a:srgbClr val="DB2777"/>
            </a:solidFill>
            <a:prstDash val="solid"/>
          </a:ln>
        </p:spPr>
      </p:sp>
      <p:sp>
        <p:nvSpPr>
          <p:cNvPr id="36" name="Shape 34"/>
          <p:cNvSpPr/>
          <p:nvPr/>
        </p:nvSpPr>
        <p:spPr>
          <a:xfrm>
            <a:off x="2023872" y="4187952"/>
            <a:ext cx="685800" cy="475488"/>
          </a:xfrm>
          <a:prstGeom prst="rect">
            <a:avLst>
              <a:gd name="adj" fmla="val 7692"/>
            </a:avLst>
          </a:prstGeom>
          <a:solidFill>
            <a:srgbClr val="FFFFFF"/>
          </a:solidFill>
          <a:ln w="12700">
            <a:solidFill>
              <a:srgbClr val="DB2777"/>
            </a:solidFill>
            <a:prstDash val="solid"/>
          </a:ln>
        </p:spPr>
      </p:sp>
      <p:sp>
        <p:nvSpPr>
          <p:cNvPr id="37" name="Text 35"/>
          <p:cNvSpPr/>
          <p:nvPr/>
        </p:nvSpPr>
        <p:spPr>
          <a:xfrm>
            <a:off x="202387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t</a:t>
            </a:r>
            <a:endParaRPr lang="en-US" sz="1000" dirty="0"/>
          </a:p>
        </p:txBody>
      </p:sp>
      <p:sp>
        <p:nvSpPr>
          <p:cNvPr id="38" name="Shape 36"/>
          <p:cNvSpPr/>
          <p:nvPr/>
        </p:nvSpPr>
        <p:spPr>
          <a:xfrm>
            <a:off x="2831592" y="4187952"/>
            <a:ext cx="685800" cy="475488"/>
          </a:xfrm>
          <a:prstGeom prst="rect">
            <a:avLst>
              <a:gd name="adj" fmla="val 7692"/>
            </a:avLst>
          </a:prstGeom>
          <a:solidFill>
            <a:srgbClr val="FFFFFF"/>
          </a:solidFill>
          <a:ln w="12700">
            <a:solidFill>
              <a:srgbClr val="DB2777"/>
            </a:solidFill>
            <a:prstDash val="solid"/>
          </a:ln>
        </p:spPr>
      </p:sp>
      <p:sp>
        <p:nvSpPr>
          <p:cNvPr id="39" name="Text 37"/>
          <p:cNvSpPr/>
          <p:nvPr/>
        </p:nvSpPr>
        <p:spPr>
          <a:xfrm>
            <a:off x="283159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e</a:t>
            </a:r>
            <a:endParaRPr lang="en-US" sz="1000" dirty="0"/>
          </a:p>
        </p:txBody>
      </p:sp>
      <p:sp>
        <p:nvSpPr>
          <p:cNvPr id="40" name="Shape 38"/>
          <p:cNvSpPr/>
          <p:nvPr/>
        </p:nvSpPr>
        <p:spPr>
          <a:xfrm>
            <a:off x="3639312" y="4187952"/>
            <a:ext cx="685800" cy="475488"/>
          </a:xfrm>
          <a:prstGeom prst="rect">
            <a:avLst>
              <a:gd name="adj" fmla="val 7692"/>
            </a:avLst>
          </a:prstGeom>
          <a:solidFill>
            <a:srgbClr val="FFFFFF"/>
          </a:solidFill>
          <a:ln w="12700">
            <a:solidFill>
              <a:srgbClr val="DB2777"/>
            </a:solidFill>
            <a:prstDash val="solid"/>
          </a:ln>
        </p:spPr>
      </p:sp>
      <p:sp>
        <p:nvSpPr>
          <p:cNvPr id="41" name="Text 39"/>
          <p:cNvSpPr/>
          <p:nvPr/>
        </p:nvSpPr>
        <p:spPr>
          <a:xfrm>
            <a:off x="363931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l</a:t>
            </a:r>
            <a:endParaRPr lang="en-US" sz="1000" dirty="0"/>
          </a:p>
        </p:txBody>
      </p:sp>
      <p:sp>
        <p:nvSpPr>
          <p:cNvPr id="42" name="Shape 40"/>
          <p:cNvSpPr/>
          <p:nvPr/>
        </p:nvSpPr>
        <p:spPr>
          <a:xfrm>
            <a:off x="4447032" y="4187952"/>
            <a:ext cx="685800" cy="475488"/>
          </a:xfrm>
          <a:prstGeom prst="rect">
            <a:avLst>
              <a:gd name="adj" fmla="val 7692"/>
            </a:avLst>
          </a:prstGeom>
          <a:solidFill>
            <a:srgbClr val="FFFFFF"/>
          </a:solidFill>
          <a:ln w="12700">
            <a:solidFill>
              <a:srgbClr val="DB2777"/>
            </a:solidFill>
            <a:prstDash val="solid"/>
          </a:ln>
        </p:spPr>
      </p:sp>
      <p:sp>
        <p:nvSpPr>
          <p:cNvPr id="43" name="Text 41"/>
          <p:cNvSpPr/>
          <p:nvPr/>
        </p:nvSpPr>
        <p:spPr>
          <a:xfrm>
            <a:off x="444703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e</a:t>
            </a:r>
            <a:endParaRPr lang="en-US" sz="1000" dirty="0"/>
          </a:p>
        </p:txBody>
      </p:sp>
      <p:sp>
        <p:nvSpPr>
          <p:cNvPr id="44" name="Shape 42"/>
          <p:cNvSpPr/>
          <p:nvPr/>
        </p:nvSpPr>
        <p:spPr>
          <a:xfrm>
            <a:off x="5254752" y="4187952"/>
            <a:ext cx="685800" cy="475488"/>
          </a:xfrm>
          <a:prstGeom prst="rect">
            <a:avLst>
              <a:gd name="adj" fmla="val 7692"/>
            </a:avLst>
          </a:prstGeom>
          <a:solidFill>
            <a:srgbClr val="FFFFFF"/>
          </a:solidFill>
          <a:ln w="12700">
            <a:solidFill>
              <a:srgbClr val="DB2777"/>
            </a:solidFill>
            <a:prstDash val="solid"/>
          </a:ln>
        </p:spPr>
      </p:sp>
      <p:sp>
        <p:nvSpPr>
          <p:cNvPr id="45" name="Text 43"/>
          <p:cNvSpPr/>
          <p:nvPr/>
        </p:nvSpPr>
        <p:spPr>
          <a:xfrm>
            <a:off x="525475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s</a:t>
            </a:r>
            <a:endParaRPr lang="en-US" sz="1000" dirty="0"/>
          </a:p>
        </p:txBody>
      </p:sp>
      <p:sp>
        <p:nvSpPr>
          <p:cNvPr id="46" name="Shape 44"/>
          <p:cNvSpPr/>
          <p:nvPr/>
        </p:nvSpPr>
        <p:spPr>
          <a:xfrm>
            <a:off x="6062472" y="4187952"/>
            <a:ext cx="685800" cy="475488"/>
          </a:xfrm>
          <a:prstGeom prst="rect">
            <a:avLst>
              <a:gd name="adj" fmla="val 7692"/>
            </a:avLst>
          </a:prstGeom>
          <a:solidFill>
            <a:srgbClr val="FFFFFF"/>
          </a:solidFill>
          <a:ln w="12700">
            <a:solidFill>
              <a:srgbClr val="DB2777"/>
            </a:solidFill>
            <a:prstDash val="solid"/>
          </a:ln>
        </p:spPr>
      </p:sp>
      <p:sp>
        <p:nvSpPr>
          <p:cNvPr id="47" name="Text 45"/>
          <p:cNvSpPr/>
          <p:nvPr/>
        </p:nvSpPr>
        <p:spPr>
          <a:xfrm>
            <a:off x="606247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c</a:t>
            </a:r>
            <a:endParaRPr lang="en-US" sz="1000" dirty="0"/>
          </a:p>
        </p:txBody>
      </p:sp>
      <p:sp>
        <p:nvSpPr>
          <p:cNvPr id="48" name="Shape 46"/>
          <p:cNvSpPr/>
          <p:nvPr/>
        </p:nvSpPr>
        <p:spPr>
          <a:xfrm>
            <a:off x="6870192" y="4187952"/>
            <a:ext cx="685800" cy="475488"/>
          </a:xfrm>
          <a:prstGeom prst="rect">
            <a:avLst>
              <a:gd name="adj" fmla="val 7692"/>
            </a:avLst>
          </a:prstGeom>
          <a:solidFill>
            <a:srgbClr val="FFFFFF"/>
          </a:solidFill>
          <a:ln w="12700">
            <a:solidFill>
              <a:srgbClr val="DB2777"/>
            </a:solidFill>
            <a:prstDash val="solid"/>
          </a:ln>
        </p:spPr>
      </p:sp>
      <p:sp>
        <p:nvSpPr>
          <p:cNvPr id="49" name="Text 47"/>
          <p:cNvSpPr/>
          <p:nvPr/>
        </p:nvSpPr>
        <p:spPr>
          <a:xfrm>
            <a:off x="687019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o_e</a:t>
            </a:r>
            <a:endParaRPr lang="en-US" sz="1000" dirty="0"/>
          </a:p>
        </p:txBody>
      </p:sp>
      <p:sp>
        <p:nvSpPr>
          <p:cNvPr id="50" name="Shape 48"/>
          <p:cNvSpPr/>
          <p:nvPr/>
        </p:nvSpPr>
        <p:spPr>
          <a:xfrm>
            <a:off x="7677912" y="4187952"/>
            <a:ext cx="685800" cy="475488"/>
          </a:xfrm>
          <a:prstGeom prst="rect">
            <a:avLst>
              <a:gd name="adj" fmla="val 7692"/>
            </a:avLst>
          </a:prstGeom>
          <a:solidFill>
            <a:srgbClr val="FFFFFF"/>
          </a:solidFill>
          <a:ln w="12700">
            <a:solidFill>
              <a:srgbClr val="DB2777"/>
            </a:solidFill>
            <a:prstDash val="solid"/>
          </a:ln>
        </p:spPr>
      </p:sp>
      <p:sp>
        <p:nvSpPr>
          <p:cNvPr id="51" name="Text 49"/>
          <p:cNvSpPr/>
          <p:nvPr/>
        </p:nvSpPr>
        <p:spPr>
          <a:xfrm>
            <a:off x="7677912" y="4187952"/>
            <a:ext cx="685800" cy="475488"/>
          </a:xfrm>
          <a:prstGeom prst="rect">
            <a:avLst/>
          </a:prstGeom>
          <a:noFill/>
          <a:ln/>
        </p:spPr>
        <p:txBody>
          <a:bodyPr wrap="square" lIns="0" tIns="0" rIns="0" bIns="0" rtlCol="0" anchor="ctr"/>
          <a:lstStyle/>
          <a:p>
            <a:pPr algn="ctr" indent="0" marL="0">
              <a:buNone/>
            </a:pPr>
            <a:r>
              <a:rPr lang="en-US" sz="1000" b="1" dirty="0">
                <a:solidFill>
                  <a:srgbClr val="9D174D"/>
                </a:solidFill>
                <a:latin typeface="Trebuchet MS" pitchFamily="34" charset="0"/>
                <a:ea typeface="Trebuchet MS" pitchFamily="34" charset="-122"/>
                <a:cs typeface="Trebuchet MS" pitchFamily="34" charset="-120"/>
              </a:rPr>
              <a:t>p</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Word Matrix — Build Your Own Words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Use the Word Labs Morpheme Builder to find words, then fill in the matrix below.</a:t>
            </a:r>
            <a:endParaRPr lang="en-US" sz="1300" dirty="0"/>
          </a:p>
        </p:txBody>
      </p:sp>
      <p:sp>
        <p:nvSpPr>
          <p:cNvPr id="11" name="Text 9"/>
          <p:cNvSpPr/>
          <p:nvPr/>
        </p:nvSpPr>
        <p:spPr>
          <a:xfrm>
            <a:off x="365760" y="1143000"/>
            <a:ext cx="731520" cy="329184"/>
          </a:xfrm>
          <a:prstGeom prst="rect">
            <a:avLst/>
          </a:prstGeom>
          <a:noFill/>
          <a:ln/>
        </p:spPr>
        <p:txBody>
          <a:bodyPr wrap="square" lIns="0" tIns="0" rIns="0" bIns="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Name:</a:t>
            </a:r>
            <a:endParaRPr lang="en-US" sz="1100" dirty="0"/>
          </a:p>
        </p:txBody>
      </p:sp>
      <p:sp>
        <p:nvSpPr>
          <p:cNvPr id="12" name="Shape 10"/>
          <p:cNvSpPr/>
          <p:nvPr/>
        </p:nvSpPr>
        <p:spPr>
          <a:xfrm>
            <a:off x="1143000" y="1371600"/>
            <a:ext cx="2926080" cy="0"/>
          </a:xfrm>
          <a:prstGeom prst="line">
            <a:avLst/>
          </a:prstGeom>
          <a:noFill/>
          <a:ln w="12700">
            <a:solidFill>
              <a:srgbClr val="475569"/>
            </a:solidFill>
            <a:prstDash val="solid"/>
          </a:ln>
        </p:spPr>
      </p:sp>
      <p:sp>
        <p:nvSpPr>
          <p:cNvPr id="13" name="Text 11"/>
          <p:cNvSpPr/>
          <p:nvPr/>
        </p:nvSpPr>
        <p:spPr>
          <a:xfrm>
            <a:off x="4663440" y="1143000"/>
            <a:ext cx="640080" cy="329184"/>
          </a:xfrm>
          <a:prstGeom prst="rect">
            <a:avLst/>
          </a:prstGeom>
          <a:noFill/>
          <a:ln/>
        </p:spPr>
        <p:txBody>
          <a:bodyPr wrap="square" lIns="0" tIns="0" rIns="0" bIns="0" rtlCol="0" anchor="ctr"/>
          <a:lstStyle/>
          <a:p>
            <a:pPr algn="l" indent="0" marL="0">
              <a:buNone/>
            </a:pPr>
            <a:r>
              <a:rPr lang="en-US" sz="1100" b="1" dirty="0">
                <a:solidFill>
                  <a:srgbClr val="0F172A"/>
                </a:solidFill>
                <a:latin typeface="Trebuchet MS" pitchFamily="34" charset="0"/>
                <a:ea typeface="Trebuchet MS" pitchFamily="34" charset="-122"/>
                <a:cs typeface="Trebuchet MS" pitchFamily="34" charset="-120"/>
              </a:rPr>
              <a:t>Date:</a:t>
            </a:r>
            <a:endParaRPr lang="en-US" sz="1100" dirty="0"/>
          </a:p>
        </p:txBody>
      </p:sp>
      <p:sp>
        <p:nvSpPr>
          <p:cNvPr id="14" name="Shape 12"/>
          <p:cNvSpPr/>
          <p:nvPr/>
        </p:nvSpPr>
        <p:spPr>
          <a:xfrm>
            <a:off x="5349240" y="1371600"/>
            <a:ext cx="3246120" cy="0"/>
          </a:xfrm>
          <a:prstGeom prst="line">
            <a:avLst/>
          </a:prstGeom>
          <a:noFill/>
          <a:ln w="12700">
            <a:solidFill>
              <a:srgbClr val="475569"/>
            </a:solidFill>
            <a:prstDash val="solid"/>
          </a:ln>
        </p:spPr>
      </p:sp>
      <p:sp>
        <p:nvSpPr>
          <p:cNvPr id="15" name="Shape 13"/>
          <p:cNvSpPr/>
          <p:nvPr/>
        </p:nvSpPr>
        <p:spPr>
          <a:xfrm>
            <a:off x="365760" y="1536192"/>
            <a:ext cx="1931670" cy="402336"/>
          </a:xfrm>
          <a:prstGeom prst="rect">
            <a:avLst>
              <a:gd name="adj" fmla="val 13636"/>
            </a:avLst>
          </a:prstGeom>
          <a:solidFill>
            <a:srgbClr val="7C3AED"/>
          </a:solidFill>
          <a:ln w="12700">
            <a:solidFill>
              <a:srgbClr val="7C3AED"/>
            </a:solidFill>
            <a:prstDash val="solid"/>
          </a:ln>
        </p:spPr>
      </p:sp>
      <p:sp>
        <p:nvSpPr>
          <p:cNvPr id="16" name="Text 14"/>
          <p:cNvSpPr/>
          <p:nvPr/>
        </p:nvSpPr>
        <p:spPr>
          <a:xfrm>
            <a:off x="365760" y="1536192"/>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Prefixes</a:t>
            </a:r>
            <a:endParaRPr lang="en-US" sz="1200" dirty="0"/>
          </a:p>
        </p:txBody>
      </p:sp>
      <p:sp>
        <p:nvSpPr>
          <p:cNvPr id="17" name="Shape 15"/>
          <p:cNvSpPr/>
          <p:nvPr/>
        </p:nvSpPr>
        <p:spPr>
          <a:xfrm>
            <a:off x="365760" y="1975104"/>
            <a:ext cx="1931670" cy="301752"/>
          </a:xfrm>
          <a:prstGeom prst="rect">
            <a:avLst/>
          </a:prstGeom>
          <a:solidFill>
            <a:srgbClr val="F8FAFC"/>
          </a:solidFill>
          <a:ln w="9525">
            <a:solidFill>
              <a:srgbClr val="E2E8F0"/>
            </a:solidFill>
            <a:prstDash val="solid"/>
          </a:ln>
        </p:spPr>
      </p:sp>
      <p:sp>
        <p:nvSpPr>
          <p:cNvPr id="18" name="Shape 16"/>
          <p:cNvSpPr/>
          <p:nvPr/>
        </p:nvSpPr>
        <p:spPr>
          <a:xfrm>
            <a:off x="365760" y="2313432"/>
            <a:ext cx="1931670" cy="301752"/>
          </a:xfrm>
          <a:prstGeom prst="rect">
            <a:avLst/>
          </a:prstGeom>
          <a:solidFill>
            <a:srgbClr val="F1F5F9"/>
          </a:solidFill>
          <a:ln w="9525">
            <a:solidFill>
              <a:srgbClr val="E2E8F0"/>
            </a:solidFill>
            <a:prstDash val="solid"/>
          </a:ln>
        </p:spPr>
      </p:sp>
      <p:sp>
        <p:nvSpPr>
          <p:cNvPr id="19" name="Shape 17"/>
          <p:cNvSpPr/>
          <p:nvPr/>
        </p:nvSpPr>
        <p:spPr>
          <a:xfrm>
            <a:off x="365760" y="2651760"/>
            <a:ext cx="1931670" cy="301752"/>
          </a:xfrm>
          <a:prstGeom prst="rect">
            <a:avLst/>
          </a:prstGeom>
          <a:solidFill>
            <a:srgbClr val="F8FAFC"/>
          </a:solidFill>
          <a:ln w="9525">
            <a:solidFill>
              <a:srgbClr val="E2E8F0"/>
            </a:solidFill>
            <a:prstDash val="solid"/>
          </a:ln>
        </p:spPr>
      </p:sp>
      <p:sp>
        <p:nvSpPr>
          <p:cNvPr id="20" name="Shape 18"/>
          <p:cNvSpPr/>
          <p:nvPr/>
        </p:nvSpPr>
        <p:spPr>
          <a:xfrm>
            <a:off x="365760" y="2990088"/>
            <a:ext cx="1931670" cy="301752"/>
          </a:xfrm>
          <a:prstGeom prst="rect">
            <a:avLst/>
          </a:prstGeom>
          <a:solidFill>
            <a:srgbClr val="F1F5F9"/>
          </a:solidFill>
          <a:ln w="9525">
            <a:solidFill>
              <a:srgbClr val="E2E8F0"/>
            </a:solidFill>
            <a:prstDash val="solid"/>
          </a:ln>
        </p:spPr>
      </p:sp>
      <p:sp>
        <p:nvSpPr>
          <p:cNvPr id="21" name="Shape 19"/>
          <p:cNvSpPr/>
          <p:nvPr/>
        </p:nvSpPr>
        <p:spPr>
          <a:xfrm>
            <a:off x="2526030" y="1536192"/>
            <a:ext cx="1931670" cy="402336"/>
          </a:xfrm>
          <a:prstGeom prst="rect">
            <a:avLst>
              <a:gd name="adj" fmla="val 13636"/>
            </a:avLst>
          </a:prstGeom>
          <a:solidFill>
            <a:srgbClr val="0D9488"/>
          </a:solidFill>
          <a:ln w="12700">
            <a:solidFill>
              <a:srgbClr val="0D9488"/>
            </a:solidFill>
            <a:prstDash val="solid"/>
          </a:ln>
        </p:spPr>
      </p:sp>
      <p:sp>
        <p:nvSpPr>
          <p:cNvPr id="22" name="Text 20"/>
          <p:cNvSpPr/>
          <p:nvPr/>
        </p:nvSpPr>
        <p:spPr>
          <a:xfrm>
            <a:off x="2526030" y="1536192"/>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Bases</a:t>
            </a:r>
            <a:endParaRPr lang="en-US" sz="1200" dirty="0"/>
          </a:p>
        </p:txBody>
      </p:sp>
      <p:sp>
        <p:nvSpPr>
          <p:cNvPr id="23" name="Shape 21"/>
          <p:cNvSpPr/>
          <p:nvPr/>
        </p:nvSpPr>
        <p:spPr>
          <a:xfrm>
            <a:off x="2526030" y="1975104"/>
            <a:ext cx="1931670" cy="301752"/>
          </a:xfrm>
          <a:prstGeom prst="rect">
            <a:avLst/>
          </a:prstGeom>
          <a:solidFill>
            <a:srgbClr val="F8FAFC"/>
          </a:solidFill>
          <a:ln w="9525">
            <a:solidFill>
              <a:srgbClr val="E2E8F0"/>
            </a:solidFill>
            <a:prstDash val="solid"/>
          </a:ln>
        </p:spPr>
      </p:sp>
      <p:sp>
        <p:nvSpPr>
          <p:cNvPr id="24" name="Shape 22"/>
          <p:cNvSpPr/>
          <p:nvPr/>
        </p:nvSpPr>
        <p:spPr>
          <a:xfrm>
            <a:off x="2526030" y="2313432"/>
            <a:ext cx="1931670" cy="301752"/>
          </a:xfrm>
          <a:prstGeom prst="rect">
            <a:avLst/>
          </a:prstGeom>
          <a:solidFill>
            <a:srgbClr val="F1F5F9"/>
          </a:solidFill>
          <a:ln w="9525">
            <a:solidFill>
              <a:srgbClr val="E2E8F0"/>
            </a:solidFill>
            <a:prstDash val="solid"/>
          </a:ln>
        </p:spPr>
      </p:sp>
      <p:sp>
        <p:nvSpPr>
          <p:cNvPr id="25" name="Shape 23"/>
          <p:cNvSpPr/>
          <p:nvPr/>
        </p:nvSpPr>
        <p:spPr>
          <a:xfrm>
            <a:off x="2526030" y="2651760"/>
            <a:ext cx="1931670" cy="301752"/>
          </a:xfrm>
          <a:prstGeom prst="rect">
            <a:avLst/>
          </a:prstGeom>
          <a:solidFill>
            <a:srgbClr val="F8FAFC"/>
          </a:solidFill>
          <a:ln w="9525">
            <a:solidFill>
              <a:srgbClr val="E2E8F0"/>
            </a:solidFill>
            <a:prstDash val="solid"/>
          </a:ln>
        </p:spPr>
      </p:sp>
      <p:sp>
        <p:nvSpPr>
          <p:cNvPr id="26" name="Shape 24"/>
          <p:cNvSpPr/>
          <p:nvPr/>
        </p:nvSpPr>
        <p:spPr>
          <a:xfrm>
            <a:off x="2526030" y="2990088"/>
            <a:ext cx="1931670" cy="301752"/>
          </a:xfrm>
          <a:prstGeom prst="rect">
            <a:avLst/>
          </a:prstGeom>
          <a:solidFill>
            <a:srgbClr val="F1F5F9"/>
          </a:solidFill>
          <a:ln w="9525">
            <a:solidFill>
              <a:srgbClr val="E2E8F0"/>
            </a:solidFill>
            <a:prstDash val="solid"/>
          </a:ln>
        </p:spPr>
      </p:sp>
      <p:sp>
        <p:nvSpPr>
          <p:cNvPr id="27" name="Shape 25"/>
          <p:cNvSpPr/>
          <p:nvPr/>
        </p:nvSpPr>
        <p:spPr>
          <a:xfrm>
            <a:off x="4686300" y="1536192"/>
            <a:ext cx="1931670" cy="402336"/>
          </a:xfrm>
          <a:prstGeom prst="rect">
            <a:avLst>
              <a:gd name="adj" fmla="val 13636"/>
            </a:avLst>
          </a:prstGeom>
          <a:solidFill>
            <a:srgbClr val="DB2777"/>
          </a:solidFill>
          <a:ln w="12700">
            <a:solidFill>
              <a:srgbClr val="DB2777"/>
            </a:solidFill>
            <a:prstDash val="solid"/>
          </a:ln>
        </p:spPr>
      </p:sp>
      <p:sp>
        <p:nvSpPr>
          <p:cNvPr id="28" name="Text 26"/>
          <p:cNvSpPr/>
          <p:nvPr/>
        </p:nvSpPr>
        <p:spPr>
          <a:xfrm>
            <a:off x="4686300" y="1536192"/>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Suffixes</a:t>
            </a:r>
            <a:endParaRPr lang="en-US" sz="1200" dirty="0"/>
          </a:p>
        </p:txBody>
      </p:sp>
      <p:sp>
        <p:nvSpPr>
          <p:cNvPr id="29" name="Shape 27"/>
          <p:cNvSpPr/>
          <p:nvPr/>
        </p:nvSpPr>
        <p:spPr>
          <a:xfrm>
            <a:off x="4686300" y="1975104"/>
            <a:ext cx="1931670" cy="301752"/>
          </a:xfrm>
          <a:prstGeom prst="rect">
            <a:avLst/>
          </a:prstGeom>
          <a:solidFill>
            <a:srgbClr val="F8FAFC"/>
          </a:solidFill>
          <a:ln w="9525">
            <a:solidFill>
              <a:srgbClr val="E2E8F0"/>
            </a:solidFill>
            <a:prstDash val="solid"/>
          </a:ln>
        </p:spPr>
      </p:sp>
      <p:sp>
        <p:nvSpPr>
          <p:cNvPr id="30" name="Shape 28"/>
          <p:cNvSpPr/>
          <p:nvPr/>
        </p:nvSpPr>
        <p:spPr>
          <a:xfrm>
            <a:off x="4686300" y="2313432"/>
            <a:ext cx="1931670" cy="301752"/>
          </a:xfrm>
          <a:prstGeom prst="rect">
            <a:avLst/>
          </a:prstGeom>
          <a:solidFill>
            <a:srgbClr val="F1F5F9"/>
          </a:solidFill>
          <a:ln w="9525">
            <a:solidFill>
              <a:srgbClr val="E2E8F0"/>
            </a:solidFill>
            <a:prstDash val="solid"/>
          </a:ln>
        </p:spPr>
      </p:sp>
      <p:sp>
        <p:nvSpPr>
          <p:cNvPr id="31" name="Shape 29"/>
          <p:cNvSpPr/>
          <p:nvPr/>
        </p:nvSpPr>
        <p:spPr>
          <a:xfrm>
            <a:off x="4686300" y="2651760"/>
            <a:ext cx="1931670" cy="301752"/>
          </a:xfrm>
          <a:prstGeom prst="rect">
            <a:avLst/>
          </a:prstGeom>
          <a:solidFill>
            <a:srgbClr val="F8FAFC"/>
          </a:solidFill>
          <a:ln w="9525">
            <a:solidFill>
              <a:srgbClr val="E2E8F0"/>
            </a:solidFill>
            <a:prstDash val="solid"/>
          </a:ln>
        </p:spPr>
      </p:sp>
      <p:sp>
        <p:nvSpPr>
          <p:cNvPr id="32" name="Shape 30"/>
          <p:cNvSpPr/>
          <p:nvPr/>
        </p:nvSpPr>
        <p:spPr>
          <a:xfrm>
            <a:off x="4686300" y="2990088"/>
            <a:ext cx="1931670" cy="301752"/>
          </a:xfrm>
          <a:prstGeom prst="rect">
            <a:avLst/>
          </a:prstGeom>
          <a:solidFill>
            <a:srgbClr val="F1F5F9"/>
          </a:solidFill>
          <a:ln w="9525">
            <a:solidFill>
              <a:srgbClr val="E2E8F0"/>
            </a:solidFill>
            <a:prstDash val="solid"/>
          </a:ln>
        </p:spPr>
      </p:sp>
      <p:sp>
        <p:nvSpPr>
          <p:cNvPr id="33" name="Shape 31"/>
          <p:cNvSpPr/>
          <p:nvPr/>
        </p:nvSpPr>
        <p:spPr>
          <a:xfrm>
            <a:off x="6846570" y="1536192"/>
            <a:ext cx="1931670" cy="402336"/>
          </a:xfrm>
          <a:prstGeom prst="rect">
            <a:avLst>
              <a:gd name="adj" fmla="val 13636"/>
            </a:avLst>
          </a:prstGeom>
          <a:solidFill>
            <a:srgbClr val="DB2777"/>
          </a:solidFill>
          <a:ln w="12700">
            <a:solidFill>
              <a:srgbClr val="DB2777"/>
            </a:solidFill>
            <a:prstDash val="solid"/>
          </a:ln>
        </p:spPr>
      </p:sp>
      <p:sp>
        <p:nvSpPr>
          <p:cNvPr id="34" name="Text 32"/>
          <p:cNvSpPr/>
          <p:nvPr/>
        </p:nvSpPr>
        <p:spPr>
          <a:xfrm>
            <a:off x="6846570" y="1536192"/>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More suffixes</a:t>
            </a:r>
            <a:endParaRPr lang="en-US" sz="1200" dirty="0"/>
          </a:p>
        </p:txBody>
      </p:sp>
      <p:sp>
        <p:nvSpPr>
          <p:cNvPr id="35" name="Shape 33"/>
          <p:cNvSpPr/>
          <p:nvPr/>
        </p:nvSpPr>
        <p:spPr>
          <a:xfrm>
            <a:off x="6846570" y="1975104"/>
            <a:ext cx="1931670" cy="301752"/>
          </a:xfrm>
          <a:prstGeom prst="rect">
            <a:avLst/>
          </a:prstGeom>
          <a:solidFill>
            <a:srgbClr val="F8FAFC"/>
          </a:solidFill>
          <a:ln w="9525">
            <a:solidFill>
              <a:srgbClr val="E2E8F0"/>
            </a:solidFill>
            <a:prstDash val="solid"/>
          </a:ln>
        </p:spPr>
      </p:sp>
      <p:sp>
        <p:nvSpPr>
          <p:cNvPr id="36" name="Shape 34"/>
          <p:cNvSpPr/>
          <p:nvPr/>
        </p:nvSpPr>
        <p:spPr>
          <a:xfrm>
            <a:off x="6846570" y="2313432"/>
            <a:ext cx="1931670" cy="301752"/>
          </a:xfrm>
          <a:prstGeom prst="rect">
            <a:avLst/>
          </a:prstGeom>
          <a:solidFill>
            <a:srgbClr val="F1F5F9"/>
          </a:solidFill>
          <a:ln w="9525">
            <a:solidFill>
              <a:srgbClr val="E2E8F0"/>
            </a:solidFill>
            <a:prstDash val="solid"/>
          </a:ln>
        </p:spPr>
      </p:sp>
      <p:sp>
        <p:nvSpPr>
          <p:cNvPr id="37" name="Shape 35"/>
          <p:cNvSpPr/>
          <p:nvPr/>
        </p:nvSpPr>
        <p:spPr>
          <a:xfrm>
            <a:off x="6846570" y="2651760"/>
            <a:ext cx="1931670" cy="301752"/>
          </a:xfrm>
          <a:prstGeom prst="rect">
            <a:avLst/>
          </a:prstGeom>
          <a:solidFill>
            <a:srgbClr val="F8FAFC"/>
          </a:solidFill>
          <a:ln w="9525">
            <a:solidFill>
              <a:srgbClr val="E2E8F0"/>
            </a:solidFill>
            <a:prstDash val="solid"/>
          </a:ln>
        </p:spPr>
      </p:sp>
      <p:sp>
        <p:nvSpPr>
          <p:cNvPr id="38" name="Shape 36"/>
          <p:cNvSpPr/>
          <p:nvPr/>
        </p:nvSpPr>
        <p:spPr>
          <a:xfrm>
            <a:off x="6846570" y="2990088"/>
            <a:ext cx="1931670" cy="301752"/>
          </a:xfrm>
          <a:prstGeom prst="rect">
            <a:avLst/>
          </a:prstGeom>
          <a:solidFill>
            <a:srgbClr val="F1F5F9"/>
          </a:solidFill>
          <a:ln w="9525">
            <a:solidFill>
              <a:srgbClr val="E2E8F0"/>
            </a:solidFill>
            <a:prstDash val="solid"/>
          </a:ln>
        </p:spPr>
      </p:sp>
      <p:sp>
        <p:nvSpPr>
          <p:cNvPr id="39" name="Text 37"/>
          <p:cNvSpPr/>
          <p:nvPr/>
        </p:nvSpPr>
        <p:spPr>
          <a:xfrm>
            <a:off x="365760" y="3474720"/>
            <a:ext cx="8412480" cy="292608"/>
          </a:xfrm>
          <a:prstGeom prst="rect">
            <a:avLst/>
          </a:prstGeom>
          <a:noFill/>
          <a:ln/>
        </p:spPr>
        <p:txBody>
          <a:bodyPr wrap="square" lIns="0" tIns="0" rIns="0" bIns="0" rtlCol="0" anchor="ctr"/>
          <a:lstStyle/>
          <a:p>
            <a:pPr algn="l" indent="0" marL="0">
              <a:buNone/>
            </a:pPr>
            <a:r>
              <a:rPr lang="en-US" sz="1200" b="1" dirty="0">
                <a:solidFill>
                  <a:srgbClr val="0F172A"/>
                </a:solidFill>
                <a:latin typeface="Trebuchet MS" pitchFamily="34" charset="0"/>
                <a:ea typeface="Trebuchet MS" pitchFamily="34" charset="-122"/>
                <a:cs typeface="Trebuchet MS" pitchFamily="34" charset="-120"/>
              </a:rPr>
              <a:t>Words I made:</a:t>
            </a:r>
            <a:endParaRPr lang="en-US" sz="1200" dirty="0"/>
          </a:p>
        </p:txBody>
      </p:sp>
      <p:sp>
        <p:nvSpPr>
          <p:cNvPr id="40" name="Shape 38"/>
          <p:cNvSpPr/>
          <p:nvPr/>
        </p:nvSpPr>
        <p:spPr>
          <a:xfrm>
            <a:off x="365760" y="4069080"/>
            <a:ext cx="2606040" cy="0"/>
          </a:xfrm>
          <a:prstGeom prst="line">
            <a:avLst/>
          </a:prstGeom>
          <a:noFill/>
          <a:ln w="9525">
            <a:solidFill>
              <a:srgbClr val="475569"/>
            </a:solidFill>
            <a:prstDash val="solid"/>
          </a:ln>
        </p:spPr>
      </p:sp>
      <p:sp>
        <p:nvSpPr>
          <p:cNvPr id="41" name="Shape 39"/>
          <p:cNvSpPr/>
          <p:nvPr/>
        </p:nvSpPr>
        <p:spPr>
          <a:xfrm>
            <a:off x="3200400" y="4069080"/>
            <a:ext cx="2606040" cy="0"/>
          </a:xfrm>
          <a:prstGeom prst="line">
            <a:avLst/>
          </a:prstGeom>
          <a:noFill/>
          <a:ln w="9525">
            <a:solidFill>
              <a:srgbClr val="475569"/>
            </a:solidFill>
            <a:prstDash val="solid"/>
          </a:ln>
        </p:spPr>
      </p:sp>
      <p:sp>
        <p:nvSpPr>
          <p:cNvPr id="42" name="Shape 40"/>
          <p:cNvSpPr/>
          <p:nvPr/>
        </p:nvSpPr>
        <p:spPr>
          <a:xfrm>
            <a:off x="6035040" y="4069080"/>
            <a:ext cx="2606040" cy="0"/>
          </a:xfrm>
          <a:prstGeom prst="line">
            <a:avLst/>
          </a:prstGeom>
          <a:noFill/>
          <a:ln w="9525">
            <a:solidFill>
              <a:srgbClr val="475569"/>
            </a:solidFill>
            <a:prstDash val="solid"/>
          </a:ln>
        </p:spPr>
      </p:sp>
      <p:sp>
        <p:nvSpPr>
          <p:cNvPr id="43" name="Shape 41"/>
          <p:cNvSpPr/>
          <p:nvPr/>
        </p:nvSpPr>
        <p:spPr>
          <a:xfrm>
            <a:off x="365760" y="4416552"/>
            <a:ext cx="2606040" cy="0"/>
          </a:xfrm>
          <a:prstGeom prst="line">
            <a:avLst/>
          </a:prstGeom>
          <a:noFill/>
          <a:ln w="9525">
            <a:solidFill>
              <a:srgbClr val="475569"/>
            </a:solidFill>
            <a:prstDash val="solid"/>
          </a:ln>
        </p:spPr>
      </p:sp>
      <p:sp>
        <p:nvSpPr>
          <p:cNvPr id="44" name="Shape 42"/>
          <p:cNvSpPr/>
          <p:nvPr/>
        </p:nvSpPr>
        <p:spPr>
          <a:xfrm>
            <a:off x="3200400" y="4416552"/>
            <a:ext cx="2606040" cy="0"/>
          </a:xfrm>
          <a:prstGeom prst="line">
            <a:avLst/>
          </a:prstGeom>
          <a:noFill/>
          <a:ln w="9525">
            <a:solidFill>
              <a:srgbClr val="475569"/>
            </a:solidFill>
            <a:prstDash val="solid"/>
          </a:ln>
        </p:spPr>
      </p:sp>
      <p:sp>
        <p:nvSpPr>
          <p:cNvPr id="45" name="Shape 43"/>
          <p:cNvSpPr/>
          <p:nvPr/>
        </p:nvSpPr>
        <p:spPr>
          <a:xfrm>
            <a:off x="6035040" y="4416552"/>
            <a:ext cx="2606040" cy="0"/>
          </a:xfrm>
          <a:prstGeom prst="line">
            <a:avLst/>
          </a:prstGeom>
          <a:noFill/>
          <a:ln w="9525">
            <a:solidFill>
              <a:srgbClr val="475569"/>
            </a:solidFill>
            <a:prstDash val="solid"/>
          </a:ln>
        </p:spPr>
      </p:sp>
      <p:sp>
        <p:nvSpPr>
          <p:cNvPr id="46" name="Text 44"/>
          <p:cNvSpPr/>
          <p:nvPr/>
        </p:nvSpPr>
        <p:spPr>
          <a:xfrm>
            <a:off x="365760" y="4535424"/>
            <a:ext cx="8412480" cy="274320"/>
          </a:xfrm>
          <a:prstGeom prst="rect">
            <a:avLst/>
          </a:prstGeom>
          <a:noFill/>
          <a:ln/>
        </p:spPr>
        <p:txBody>
          <a:bodyPr wrap="square" lIns="0" tIns="0" rIns="0" bIns="0" rtlCol="0" anchor="ctr"/>
          <a:lstStyle/>
          <a:p>
            <a:pPr algn="l" indent="0" marL="0">
              <a:buNone/>
            </a:pPr>
            <a:r>
              <a:rPr lang="en-US" sz="1000" b="1" dirty="0">
                <a:solidFill>
                  <a:srgbClr val="0F172A"/>
                </a:solidFill>
                <a:latin typeface="Trebuchet MS" pitchFamily="34" charset="0"/>
                <a:ea typeface="Trebuchet MS" pitchFamily="34" charset="-122"/>
                <a:cs typeface="Trebuchet MS" pitchFamily="34" charset="-120"/>
              </a:rPr>
              <a:t>Choose 3 words and write a sentence for each.</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338CA"/>
          </a:solidFill>
          <a:ln w="12700">
            <a:solidFill>
              <a:srgbClr val="4338CA"/>
            </a:solidFill>
            <a:prstDash val="solid"/>
          </a:ln>
        </p:spPr>
      </p:sp>
      <p:sp>
        <p:nvSpPr>
          <p:cNvPr id="3" name="Shape 1"/>
          <p:cNvSpPr/>
          <p:nvPr/>
        </p:nvSpPr>
        <p:spPr>
          <a:xfrm>
            <a:off x="274320" y="118872"/>
            <a:ext cx="1005840" cy="402336"/>
          </a:xfrm>
          <a:prstGeom prst="rect">
            <a:avLst>
              <a:gd name="adj" fmla="val 18182"/>
            </a:avLst>
          </a:prstGeom>
          <a:solidFill>
            <a:srgbClr val="0D9488"/>
          </a:solidFill>
          <a:ln w="12700">
            <a:solidFill>
              <a:srgbClr val="0D9488"/>
            </a:solidFill>
            <a:prstDash val="solid"/>
          </a:ln>
        </p:spPr>
      </p:sp>
      <p:sp>
        <p:nvSpPr>
          <p:cNvPr id="4" name="Text 2"/>
          <p:cNvSpPr/>
          <p:nvPr/>
        </p:nvSpPr>
        <p:spPr>
          <a:xfrm>
            <a:off x="274320" y="118872"/>
            <a:ext cx="100584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Day 3</a:t>
            </a:r>
            <a:endParaRPr lang="en-US" sz="1000" dirty="0"/>
          </a:p>
        </p:txBody>
      </p:sp>
      <p:sp>
        <p:nvSpPr>
          <p:cNvPr id="5" name="Text 3"/>
          <p:cNvSpPr/>
          <p:nvPr/>
        </p:nvSpPr>
        <p:spPr>
          <a:xfrm>
            <a:off x="1417320" y="0"/>
            <a:ext cx="6309360" cy="658368"/>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Word Matrix — Review Answers</a:t>
            </a:r>
            <a:endParaRPr lang="en-US" sz="1600" dirty="0"/>
          </a:p>
        </p:txBody>
      </p:sp>
      <p:sp>
        <p:nvSpPr>
          <p:cNvPr id="6" name="Shape 4"/>
          <p:cNvSpPr/>
          <p:nvPr/>
        </p:nvSpPr>
        <p:spPr>
          <a:xfrm>
            <a:off x="7772400" y="91440"/>
            <a:ext cx="1097280" cy="457200"/>
          </a:xfrm>
          <a:prstGeom prst="rect">
            <a:avLst>
              <a:gd name="adj" fmla="val 20000"/>
            </a:avLst>
          </a:prstGeom>
          <a:solidFill>
            <a:srgbClr val="312E81"/>
          </a:solidFill>
          <a:ln w="12700">
            <a:solidFill>
              <a:srgbClr val="6366F1"/>
            </a:solidFill>
            <a:prstDash val="solid"/>
          </a:ln>
        </p:spPr>
      </p:sp>
      <p:sp>
        <p:nvSpPr>
          <p:cNvPr id="7" name="Text 5"/>
          <p:cNvSpPr/>
          <p:nvPr/>
        </p:nvSpPr>
        <p:spPr>
          <a:xfrm>
            <a:off x="7772400" y="91440"/>
            <a:ext cx="1097280" cy="457200"/>
          </a:xfrm>
          <a:prstGeom prst="rect">
            <a:avLst/>
          </a:prstGeom>
          <a:noFill/>
          <a:ln/>
        </p:spPr>
        <p:txBody>
          <a:bodyPr wrap="square" lIns="0" tIns="0" rIns="0" bIns="0" rtlCol="0" anchor="ctr">
            <a:normAutofit/>
          </a:bodyPr>
          <a:lstStyle/>
          <a:p>
            <a:pPr algn="ctr" indent="0" marL="0">
              <a:buNone/>
            </a:pPr>
            <a:r>
              <a:rPr lang="en-US" sz="1200" b="1" dirty="0">
                <a:solidFill>
                  <a:srgbClr val="C7D2FE"/>
                </a:solidFill>
                <a:latin typeface="Trebuchet MS" pitchFamily="34" charset="0"/>
                <a:ea typeface="Trebuchet MS" pitchFamily="34" charset="-122"/>
                <a:cs typeface="Trebuchet MS" pitchFamily="34" charset="-120"/>
              </a:rPr>
              <a:t>'tele-'</a:t>
            </a:r>
            <a:endParaRPr lang="en-US" sz="1200" dirty="0"/>
          </a:p>
        </p:txBody>
      </p:sp>
      <p:sp>
        <p:nvSpPr>
          <p:cNvPr id="8" name="Shape 6"/>
          <p:cNvSpPr/>
          <p:nvPr/>
        </p:nvSpPr>
        <p:spPr>
          <a:xfrm>
            <a:off x="0" y="4869180"/>
            <a:ext cx="9144000" cy="274320"/>
          </a:xfrm>
          <a:prstGeom prst="rect">
            <a:avLst/>
          </a:prstGeom>
          <a:solidFill>
            <a:srgbClr val="E2E8F0"/>
          </a:solidFill>
          <a:ln w="12700">
            <a:solidFill>
              <a:srgbClr val="E2E8F0"/>
            </a:solidFill>
            <a:prstDash val="solid"/>
          </a:ln>
        </p:spPr>
      </p:sp>
      <p:sp>
        <p:nvSpPr>
          <p:cNvPr id="9" name="Text 7"/>
          <p:cNvSpPr/>
          <p:nvPr/>
        </p:nvSpPr>
        <p:spPr>
          <a:xfrm>
            <a:off x="0" y="4869180"/>
            <a:ext cx="9144000" cy="274320"/>
          </a:xfrm>
          <a:prstGeom prst="rect">
            <a:avLst/>
          </a:prstGeom>
          <a:noFill/>
          <a:ln/>
        </p:spPr>
        <p:txBody>
          <a:bodyPr wrap="square" lIns="0" tIns="0" rIns="0" bIns="0" rtlCol="0" anchor="ctr">
            <a:normAutofit/>
          </a:bodyPr>
          <a:lstStyle/>
          <a:p>
            <a:pPr algn="ctr" indent="0" marL="0">
              <a:buNone/>
            </a:pPr>
            <a:r>
              <a:rPr lang="en-US" sz="800" dirty="0">
                <a:solidFill>
                  <a:srgbClr val="475569"/>
                </a:solidFill>
                <a:latin typeface="Calibri" pitchFamily="34" charset="0"/>
                <a:ea typeface="Calibri" pitchFamily="34" charset="-122"/>
                <a:cs typeface="Calibri" pitchFamily="34" charset="-120"/>
              </a:rPr>
              <a:t>Word Labs  •  wordlabs.app  •  Prefix: 'tele-' = far; distant</a:t>
            </a:r>
            <a:endParaRPr lang="en-US" sz="800" dirty="0"/>
          </a:p>
        </p:txBody>
      </p:sp>
      <p:sp>
        <p:nvSpPr>
          <p:cNvPr id="10" name="Text 8"/>
          <p:cNvSpPr/>
          <p:nvPr/>
        </p:nvSpPr>
        <p:spPr>
          <a:xfrm>
            <a:off x="365760" y="731520"/>
            <a:ext cx="8412480" cy="384048"/>
          </a:xfrm>
          <a:prstGeom prst="rect">
            <a:avLst/>
          </a:prstGeom>
          <a:noFill/>
          <a:ln/>
        </p:spPr>
        <p:txBody>
          <a:bodyPr wrap="square" rtlCol="0" anchor="ctr">
            <a:normAutofit/>
          </a:bodyPr>
          <a:lstStyle/>
          <a:p>
            <a:pPr algn="l" indent="0" marL="0">
              <a:buNone/>
            </a:pPr>
            <a:r>
              <a:rPr lang="en-US" sz="1300" dirty="0">
                <a:solidFill>
                  <a:srgbClr val="475569"/>
                </a:solidFill>
                <a:latin typeface="Calibri" pitchFamily="34" charset="0"/>
                <a:ea typeface="Calibri" pitchFamily="34" charset="-122"/>
                <a:cs typeface="Calibri" pitchFamily="34" charset="-120"/>
              </a:rPr>
              <a:t>Here are more words this matrix can build. Did you find them?</a:t>
            </a:r>
            <a:endParaRPr lang="en-US" sz="1300" dirty="0"/>
          </a:p>
        </p:txBody>
      </p:sp>
      <p:sp>
        <p:nvSpPr>
          <p:cNvPr id="11" name="Shape 9"/>
          <p:cNvSpPr/>
          <p:nvPr/>
        </p:nvSpPr>
        <p:spPr>
          <a:xfrm>
            <a:off x="365760" y="1143000"/>
            <a:ext cx="1931670" cy="402336"/>
          </a:xfrm>
          <a:prstGeom prst="rect">
            <a:avLst>
              <a:gd name="adj" fmla="val 13636"/>
            </a:avLst>
          </a:prstGeom>
          <a:solidFill>
            <a:srgbClr val="7C3AED"/>
          </a:solidFill>
          <a:ln w="12700">
            <a:solidFill>
              <a:srgbClr val="7C3AED"/>
            </a:solidFill>
            <a:prstDash val="solid"/>
          </a:ln>
        </p:spPr>
      </p:sp>
      <p:sp>
        <p:nvSpPr>
          <p:cNvPr id="12" name="Text 10"/>
          <p:cNvSpPr/>
          <p:nvPr/>
        </p:nvSpPr>
        <p:spPr>
          <a:xfrm>
            <a:off x="365760" y="114300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Prefixes</a:t>
            </a:r>
            <a:endParaRPr lang="en-US" sz="1200" dirty="0"/>
          </a:p>
        </p:txBody>
      </p:sp>
      <p:sp>
        <p:nvSpPr>
          <p:cNvPr id="13" name="Shape 11"/>
          <p:cNvSpPr/>
          <p:nvPr/>
        </p:nvSpPr>
        <p:spPr>
          <a:xfrm>
            <a:off x="365760" y="1581912"/>
            <a:ext cx="1931670" cy="292608"/>
          </a:xfrm>
          <a:prstGeom prst="rect">
            <a:avLst/>
          </a:prstGeom>
          <a:solidFill>
            <a:srgbClr val="DDD6FE"/>
          </a:solidFill>
          <a:ln w="25400">
            <a:solidFill>
              <a:srgbClr val="7C3AED"/>
            </a:solidFill>
            <a:prstDash val="solid"/>
          </a:ln>
        </p:spPr>
      </p:sp>
      <p:sp>
        <p:nvSpPr>
          <p:cNvPr id="14" name="Text 12"/>
          <p:cNvSpPr/>
          <p:nvPr/>
        </p:nvSpPr>
        <p:spPr>
          <a:xfrm>
            <a:off x="365760" y="1581912"/>
            <a:ext cx="1931670" cy="292608"/>
          </a:xfrm>
          <a:prstGeom prst="rect">
            <a:avLst/>
          </a:prstGeom>
          <a:noFill/>
          <a:ln/>
        </p:spPr>
        <p:txBody>
          <a:bodyPr wrap="square" lIns="0" tIns="0" rIns="0" bIns="0" rtlCol="0" anchor="ctr"/>
          <a:lstStyle/>
          <a:p>
            <a:pPr algn="ctr" indent="0" marL="0">
              <a:buNone/>
            </a:pPr>
            <a:r>
              <a:rPr lang="en-US" sz="1300" b="1" dirty="0">
                <a:solidFill>
                  <a:srgbClr val="4C1D95"/>
                </a:solidFill>
                <a:latin typeface="Trebuchet MS" pitchFamily="34" charset="0"/>
                <a:ea typeface="Trebuchet MS" pitchFamily="34" charset="-122"/>
                <a:cs typeface="Trebuchet MS" pitchFamily="34" charset="-120"/>
              </a:rPr>
              <a:t>tele-</a:t>
            </a:r>
            <a:endParaRPr lang="en-US" sz="1300" dirty="0"/>
          </a:p>
        </p:txBody>
      </p:sp>
      <p:sp>
        <p:nvSpPr>
          <p:cNvPr id="15" name="Shape 13"/>
          <p:cNvSpPr/>
          <p:nvPr/>
        </p:nvSpPr>
        <p:spPr>
          <a:xfrm>
            <a:off x="365760" y="1911096"/>
            <a:ext cx="1931670" cy="292608"/>
          </a:xfrm>
          <a:prstGeom prst="rect">
            <a:avLst/>
          </a:prstGeom>
          <a:solidFill>
            <a:srgbClr val="F1F5F9"/>
          </a:solidFill>
          <a:ln w="9525">
            <a:solidFill>
              <a:srgbClr val="E2E8F0"/>
            </a:solidFill>
            <a:prstDash val="solid"/>
          </a:ln>
        </p:spPr>
      </p:sp>
      <p:sp>
        <p:nvSpPr>
          <p:cNvPr id="16" name="Shape 14"/>
          <p:cNvSpPr/>
          <p:nvPr/>
        </p:nvSpPr>
        <p:spPr>
          <a:xfrm>
            <a:off x="365760" y="2240280"/>
            <a:ext cx="1931670" cy="292608"/>
          </a:xfrm>
          <a:prstGeom prst="rect">
            <a:avLst/>
          </a:prstGeom>
          <a:solidFill>
            <a:srgbClr val="F8FAFC"/>
          </a:solidFill>
          <a:ln w="9525">
            <a:solidFill>
              <a:srgbClr val="E2E8F0"/>
            </a:solidFill>
            <a:prstDash val="solid"/>
          </a:ln>
        </p:spPr>
      </p:sp>
      <p:sp>
        <p:nvSpPr>
          <p:cNvPr id="17" name="Shape 15"/>
          <p:cNvSpPr/>
          <p:nvPr/>
        </p:nvSpPr>
        <p:spPr>
          <a:xfrm>
            <a:off x="365760" y="2569464"/>
            <a:ext cx="1931670" cy="292608"/>
          </a:xfrm>
          <a:prstGeom prst="rect">
            <a:avLst/>
          </a:prstGeom>
          <a:solidFill>
            <a:srgbClr val="F1F5F9"/>
          </a:solidFill>
          <a:ln w="9525">
            <a:solidFill>
              <a:srgbClr val="E2E8F0"/>
            </a:solidFill>
            <a:prstDash val="solid"/>
          </a:ln>
        </p:spPr>
      </p:sp>
      <p:sp>
        <p:nvSpPr>
          <p:cNvPr id="18" name="Shape 16"/>
          <p:cNvSpPr/>
          <p:nvPr/>
        </p:nvSpPr>
        <p:spPr>
          <a:xfrm>
            <a:off x="365760" y="2898648"/>
            <a:ext cx="1931670" cy="292608"/>
          </a:xfrm>
          <a:prstGeom prst="rect">
            <a:avLst/>
          </a:prstGeom>
          <a:solidFill>
            <a:srgbClr val="F8FAFC"/>
          </a:solidFill>
          <a:ln w="9525">
            <a:solidFill>
              <a:srgbClr val="E2E8F0"/>
            </a:solidFill>
            <a:prstDash val="solid"/>
          </a:ln>
        </p:spPr>
      </p:sp>
      <p:sp>
        <p:nvSpPr>
          <p:cNvPr id="19" name="Shape 17"/>
          <p:cNvSpPr/>
          <p:nvPr/>
        </p:nvSpPr>
        <p:spPr>
          <a:xfrm>
            <a:off x="2526030" y="1143000"/>
            <a:ext cx="1931670" cy="402336"/>
          </a:xfrm>
          <a:prstGeom prst="rect">
            <a:avLst>
              <a:gd name="adj" fmla="val 13636"/>
            </a:avLst>
          </a:prstGeom>
          <a:solidFill>
            <a:srgbClr val="0D9488"/>
          </a:solidFill>
          <a:ln w="12700">
            <a:solidFill>
              <a:srgbClr val="0D9488"/>
            </a:solidFill>
            <a:prstDash val="solid"/>
          </a:ln>
        </p:spPr>
      </p:sp>
      <p:sp>
        <p:nvSpPr>
          <p:cNvPr id="20" name="Text 18"/>
          <p:cNvSpPr/>
          <p:nvPr/>
        </p:nvSpPr>
        <p:spPr>
          <a:xfrm>
            <a:off x="2526030" y="114300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Bases</a:t>
            </a:r>
            <a:endParaRPr lang="en-US" sz="1200" dirty="0"/>
          </a:p>
        </p:txBody>
      </p:sp>
      <p:sp>
        <p:nvSpPr>
          <p:cNvPr id="21" name="Shape 19"/>
          <p:cNvSpPr/>
          <p:nvPr/>
        </p:nvSpPr>
        <p:spPr>
          <a:xfrm>
            <a:off x="2526030" y="1581912"/>
            <a:ext cx="1931670" cy="292608"/>
          </a:xfrm>
          <a:prstGeom prst="rect">
            <a:avLst/>
          </a:prstGeom>
          <a:solidFill>
            <a:srgbClr val="CCFBF1"/>
          </a:solidFill>
          <a:ln w="9525">
            <a:solidFill>
              <a:srgbClr val="E2E8F0"/>
            </a:solidFill>
            <a:prstDash val="solid"/>
          </a:ln>
        </p:spPr>
      </p:sp>
      <p:sp>
        <p:nvSpPr>
          <p:cNvPr id="22" name="Text 20"/>
          <p:cNvSpPr/>
          <p:nvPr/>
        </p:nvSpPr>
        <p:spPr>
          <a:xfrm>
            <a:off x="2526030" y="1581912"/>
            <a:ext cx="1931670" cy="292608"/>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vis</a:t>
            </a:r>
            <a:endParaRPr lang="en-US" sz="1300" dirty="0"/>
          </a:p>
        </p:txBody>
      </p:sp>
      <p:sp>
        <p:nvSpPr>
          <p:cNvPr id="23" name="Shape 21"/>
          <p:cNvSpPr/>
          <p:nvPr/>
        </p:nvSpPr>
        <p:spPr>
          <a:xfrm>
            <a:off x="2526030" y="1911096"/>
            <a:ext cx="1931670" cy="292608"/>
          </a:xfrm>
          <a:prstGeom prst="rect">
            <a:avLst/>
          </a:prstGeom>
          <a:solidFill>
            <a:srgbClr val="CCFBF1"/>
          </a:solidFill>
          <a:ln w="9525">
            <a:solidFill>
              <a:srgbClr val="E2E8F0"/>
            </a:solidFill>
            <a:prstDash val="solid"/>
          </a:ln>
        </p:spPr>
      </p:sp>
      <p:sp>
        <p:nvSpPr>
          <p:cNvPr id="24" name="Text 22"/>
          <p:cNvSpPr/>
          <p:nvPr/>
        </p:nvSpPr>
        <p:spPr>
          <a:xfrm>
            <a:off x="2526030" y="1911096"/>
            <a:ext cx="1931670" cy="292608"/>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gram</a:t>
            </a:r>
            <a:endParaRPr lang="en-US" sz="1300" dirty="0"/>
          </a:p>
        </p:txBody>
      </p:sp>
      <p:sp>
        <p:nvSpPr>
          <p:cNvPr id="25" name="Shape 23"/>
          <p:cNvSpPr/>
          <p:nvPr/>
        </p:nvSpPr>
        <p:spPr>
          <a:xfrm>
            <a:off x="2526030" y="2240280"/>
            <a:ext cx="1931670" cy="292608"/>
          </a:xfrm>
          <a:prstGeom prst="rect">
            <a:avLst/>
          </a:prstGeom>
          <a:solidFill>
            <a:srgbClr val="CCFBF1"/>
          </a:solidFill>
          <a:ln w="9525">
            <a:solidFill>
              <a:srgbClr val="E2E8F0"/>
            </a:solidFill>
            <a:prstDash val="solid"/>
          </a:ln>
        </p:spPr>
      </p:sp>
      <p:sp>
        <p:nvSpPr>
          <p:cNvPr id="26" name="Text 24"/>
          <p:cNvSpPr/>
          <p:nvPr/>
        </p:nvSpPr>
        <p:spPr>
          <a:xfrm>
            <a:off x="2526030" y="2240280"/>
            <a:ext cx="1931670" cy="292608"/>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graph</a:t>
            </a:r>
            <a:endParaRPr lang="en-US" sz="1300" dirty="0"/>
          </a:p>
        </p:txBody>
      </p:sp>
      <p:sp>
        <p:nvSpPr>
          <p:cNvPr id="27" name="Shape 25"/>
          <p:cNvSpPr/>
          <p:nvPr/>
        </p:nvSpPr>
        <p:spPr>
          <a:xfrm>
            <a:off x="2526030" y="2569464"/>
            <a:ext cx="1931670" cy="292608"/>
          </a:xfrm>
          <a:prstGeom prst="rect">
            <a:avLst/>
          </a:prstGeom>
          <a:solidFill>
            <a:srgbClr val="CCFBF1"/>
          </a:solidFill>
          <a:ln w="9525">
            <a:solidFill>
              <a:srgbClr val="E2E8F0"/>
            </a:solidFill>
            <a:prstDash val="solid"/>
          </a:ln>
        </p:spPr>
      </p:sp>
      <p:sp>
        <p:nvSpPr>
          <p:cNvPr id="28" name="Text 26"/>
          <p:cNvSpPr/>
          <p:nvPr/>
        </p:nvSpPr>
        <p:spPr>
          <a:xfrm>
            <a:off x="2526030" y="2569464"/>
            <a:ext cx="1931670" cy="292608"/>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communicate</a:t>
            </a:r>
            <a:endParaRPr lang="en-US" sz="1300" dirty="0"/>
          </a:p>
        </p:txBody>
      </p:sp>
      <p:sp>
        <p:nvSpPr>
          <p:cNvPr id="29" name="Shape 27"/>
          <p:cNvSpPr/>
          <p:nvPr/>
        </p:nvSpPr>
        <p:spPr>
          <a:xfrm>
            <a:off x="2526030" y="2898648"/>
            <a:ext cx="1931670" cy="292608"/>
          </a:xfrm>
          <a:prstGeom prst="rect">
            <a:avLst/>
          </a:prstGeom>
          <a:solidFill>
            <a:srgbClr val="CCFBF1"/>
          </a:solidFill>
          <a:ln w="9525">
            <a:solidFill>
              <a:srgbClr val="E2E8F0"/>
            </a:solidFill>
            <a:prstDash val="solid"/>
          </a:ln>
        </p:spPr>
      </p:sp>
      <p:sp>
        <p:nvSpPr>
          <p:cNvPr id="30" name="Text 28"/>
          <p:cNvSpPr/>
          <p:nvPr/>
        </p:nvSpPr>
        <p:spPr>
          <a:xfrm>
            <a:off x="2526030" y="2898648"/>
            <a:ext cx="1931670" cy="292608"/>
          </a:xfrm>
          <a:prstGeom prst="rect">
            <a:avLst/>
          </a:prstGeom>
          <a:noFill/>
          <a:ln/>
        </p:spPr>
        <p:txBody>
          <a:bodyPr wrap="square" lIns="0" tIns="0" rIns="0" bIns="0" rtlCol="0" anchor="ctr"/>
          <a:lstStyle/>
          <a:p>
            <a:pPr algn="ctr" indent="0" marL="0">
              <a:buNone/>
            </a:pPr>
            <a:r>
              <a:rPr lang="en-US" sz="1300" b="1" dirty="0">
                <a:solidFill>
                  <a:srgbClr val="0F766E"/>
                </a:solidFill>
                <a:latin typeface="Trebuchet MS" pitchFamily="34" charset="0"/>
                <a:ea typeface="Trebuchet MS" pitchFamily="34" charset="-122"/>
                <a:cs typeface="Trebuchet MS" pitchFamily="34" charset="-120"/>
              </a:rPr>
              <a:t>phone</a:t>
            </a:r>
            <a:endParaRPr lang="en-US" sz="1300" dirty="0"/>
          </a:p>
        </p:txBody>
      </p:sp>
      <p:sp>
        <p:nvSpPr>
          <p:cNvPr id="31" name="Shape 29"/>
          <p:cNvSpPr/>
          <p:nvPr/>
        </p:nvSpPr>
        <p:spPr>
          <a:xfrm>
            <a:off x="4686300" y="1143000"/>
            <a:ext cx="1931670" cy="402336"/>
          </a:xfrm>
          <a:prstGeom prst="rect">
            <a:avLst>
              <a:gd name="adj" fmla="val 13636"/>
            </a:avLst>
          </a:prstGeom>
          <a:solidFill>
            <a:srgbClr val="DB2777"/>
          </a:solidFill>
          <a:ln w="12700">
            <a:solidFill>
              <a:srgbClr val="DB2777"/>
            </a:solidFill>
            <a:prstDash val="solid"/>
          </a:ln>
        </p:spPr>
      </p:sp>
      <p:sp>
        <p:nvSpPr>
          <p:cNvPr id="32" name="Text 30"/>
          <p:cNvSpPr/>
          <p:nvPr/>
        </p:nvSpPr>
        <p:spPr>
          <a:xfrm>
            <a:off x="4686300" y="114300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Suffixes</a:t>
            </a:r>
            <a:endParaRPr lang="en-US" sz="1200" dirty="0"/>
          </a:p>
        </p:txBody>
      </p:sp>
      <p:sp>
        <p:nvSpPr>
          <p:cNvPr id="33" name="Shape 31"/>
          <p:cNvSpPr/>
          <p:nvPr/>
        </p:nvSpPr>
        <p:spPr>
          <a:xfrm>
            <a:off x="4686300" y="1581912"/>
            <a:ext cx="1931670" cy="292608"/>
          </a:xfrm>
          <a:prstGeom prst="rect">
            <a:avLst/>
          </a:prstGeom>
          <a:solidFill>
            <a:srgbClr val="FCE7F3"/>
          </a:solidFill>
          <a:ln w="9525">
            <a:solidFill>
              <a:srgbClr val="E2E8F0"/>
            </a:solidFill>
            <a:prstDash val="solid"/>
          </a:ln>
        </p:spPr>
      </p:sp>
      <p:sp>
        <p:nvSpPr>
          <p:cNvPr id="34" name="Text 32"/>
          <p:cNvSpPr/>
          <p:nvPr/>
        </p:nvSpPr>
        <p:spPr>
          <a:xfrm>
            <a:off x="4686300" y="1581912"/>
            <a:ext cx="1931670" cy="292608"/>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-ion</a:t>
            </a:r>
            <a:endParaRPr lang="en-US" sz="1300" dirty="0"/>
          </a:p>
        </p:txBody>
      </p:sp>
      <p:sp>
        <p:nvSpPr>
          <p:cNvPr id="35" name="Shape 33"/>
          <p:cNvSpPr/>
          <p:nvPr/>
        </p:nvSpPr>
        <p:spPr>
          <a:xfrm>
            <a:off x="4686300" y="1911096"/>
            <a:ext cx="1931670" cy="292608"/>
          </a:xfrm>
          <a:prstGeom prst="rect">
            <a:avLst/>
          </a:prstGeom>
          <a:solidFill>
            <a:srgbClr val="FCE7F3"/>
          </a:solidFill>
          <a:ln w="9525">
            <a:solidFill>
              <a:srgbClr val="E2E8F0"/>
            </a:solidFill>
            <a:prstDash val="solid"/>
          </a:ln>
        </p:spPr>
      </p:sp>
      <p:sp>
        <p:nvSpPr>
          <p:cNvPr id="36" name="Text 34"/>
          <p:cNvSpPr/>
          <p:nvPr/>
        </p:nvSpPr>
        <p:spPr>
          <a:xfrm>
            <a:off x="4686300" y="1911096"/>
            <a:ext cx="1931670" cy="292608"/>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-pathy</a:t>
            </a:r>
            <a:endParaRPr lang="en-US" sz="1300" dirty="0"/>
          </a:p>
        </p:txBody>
      </p:sp>
      <p:sp>
        <p:nvSpPr>
          <p:cNvPr id="37" name="Shape 35"/>
          <p:cNvSpPr/>
          <p:nvPr/>
        </p:nvSpPr>
        <p:spPr>
          <a:xfrm>
            <a:off x="4686300" y="2240280"/>
            <a:ext cx="1931670" cy="292608"/>
          </a:xfrm>
          <a:prstGeom prst="rect">
            <a:avLst/>
          </a:prstGeom>
          <a:solidFill>
            <a:srgbClr val="F8FAFC"/>
          </a:solidFill>
          <a:ln w="9525">
            <a:solidFill>
              <a:srgbClr val="E2E8F0"/>
            </a:solidFill>
            <a:prstDash val="solid"/>
          </a:ln>
        </p:spPr>
      </p:sp>
      <p:sp>
        <p:nvSpPr>
          <p:cNvPr id="38" name="Shape 36"/>
          <p:cNvSpPr/>
          <p:nvPr/>
        </p:nvSpPr>
        <p:spPr>
          <a:xfrm>
            <a:off x="4686300" y="2569464"/>
            <a:ext cx="1931670" cy="292608"/>
          </a:xfrm>
          <a:prstGeom prst="rect">
            <a:avLst/>
          </a:prstGeom>
          <a:solidFill>
            <a:srgbClr val="F1F5F9"/>
          </a:solidFill>
          <a:ln w="9525">
            <a:solidFill>
              <a:srgbClr val="E2E8F0"/>
            </a:solidFill>
            <a:prstDash val="solid"/>
          </a:ln>
        </p:spPr>
      </p:sp>
      <p:sp>
        <p:nvSpPr>
          <p:cNvPr id="39" name="Shape 37"/>
          <p:cNvSpPr/>
          <p:nvPr/>
        </p:nvSpPr>
        <p:spPr>
          <a:xfrm>
            <a:off x="4686300" y="2898648"/>
            <a:ext cx="1931670" cy="292608"/>
          </a:xfrm>
          <a:prstGeom prst="rect">
            <a:avLst/>
          </a:prstGeom>
          <a:solidFill>
            <a:srgbClr val="F8FAFC"/>
          </a:solidFill>
          <a:ln w="9525">
            <a:solidFill>
              <a:srgbClr val="E2E8F0"/>
            </a:solidFill>
            <a:prstDash val="solid"/>
          </a:ln>
        </p:spPr>
      </p:sp>
      <p:sp>
        <p:nvSpPr>
          <p:cNvPr id="40" name="Shape 38"/>
          <p:cNvSpPr/>
          <p:nvPr/>
        </p:nvSpPr>
        <p:spPr>
          <a:xfrm>
            <a:off x="6846570" y="1143000"/>
            <a:ext cx="1931670" cy="402336"/>
          </a:xfrm>
          <a:prstGeom prst="rect">
            <a:avLst>
              <a:gd name="adj" fmla="val 13636"/>
            </a:avLst>
          </a:prstGeom>
          <a:solidFill>
            <a:srgbClr val="DB2777"/>
          </a:solidFill>
          <a:ln w="12700">
            <a:solidFill>
              <a:srgbClr val="DB2777"/>
            </a:solidFill>
            <a:prstDash val="solid"/>
          </a:ln>
        </p:spPr>
      </p:sp>
      <p:sp>
        <p:nvSpPr>
          <p:cNvPr id="41" name="Text 39"/>
          <p:cNvSpPr/>
          <p:nvPr/>
        </p:nvSpPr>
        <p:spPr>
          <a:xfrm>
            <a:off x="6846570" y="1143000"/>
            <a:ext cx="193167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More suffixes</a:t>
            </a:r>
            <a:endParaRPr lang="en-US" sz="1200" dirty="0"/>
          </a:p>
        </p:txBody>
      </p:sp>
      <p:sp>
        <p:nvSpPr>
          <p:cNvPr id="42" name="Shape 40"/>
          <p:cNvSpPr/>
          <p:nvPr/>
        </p:nvSpPr>
        <p:spPr>
          <a:xfrm>
            <a:off x="6846570" y="1581912"/>
            <a:ext cx="1931670" cy="292608"/>
          </a:xfrm>
          <a:prstGeom prst="rect">
            <a:avLst/>
          </a:prstGeom>
          <a:solidFill>
            <a:srgbClr val="FCE7F3"/>
          </a:solidFill>
          <a:ln w="9525">
            <a:solidFill>
              <a:srgbClr val="E2E8F0"/>
            </a:solidFill>
            <a:prstDash val="solid"/>
          </a:ln>
        </p:spPr>
      </p:sp>
      <p:sp>
        <p:nvSpPr>
          <p:cNvPr id="43" name="Text 41"/>
          <p:cNvSpPr/>
          <p:nvPr/>
        </p:nvSpPr>
        <p:spPr>
          <a:xfrm>
            <a:off x="6846570" y="1581912"/>
            <a:ext cx="1931670" cy="292608"/>
          </a:xfrm>
          <a:prstGeom prst="rect">
            <a:avLst/>
          </a:prstGeom>
          <a:noFill/>
          <a:ln/>
        </p:spPr>
        <p:txBody>
          <a:bodyPr wrap="square" lIns="0" tIns="0" rIns="0" bIns="0" rtlCol="0" anchor="ctr"/>
          <a:lstStyle/>
          <a:p>
            <a:pPr algn="ctr" indent="0" marL="0">
              <a:buNone/>
            </a:pPr>
            <a:r>
              <a:rPr lang="en-US" sz="1300" b="1" dirty="0">
                <a:solidFill>
                  <a:srgbClr val="9D174D"/>
                </a:solidFill>
                <a:latin typeface="Trebuchet MS" pitchFamily="34" charset="0"/>
                <a:ea typeface="Trebuchet MS" pitchFamily="34" charset="-122"/>
                <a:cs typeface="Trebuchet MS" pitchFamily="34" charset="-120"/>
              </a:rPr>
              <a:t>-s</a:t>
            </a:r>
            <a:endParaRPr lang="en-US" sz="1300" dirty="0"/>
          </a:p>
        </p:txBody>
      </p:sp>
      <p:sp>
        <p:nvSpPr>
          <p:cNvPr id="44" name="Shape 42"/>
          <p:cNvSpPr/>
          <p:nvPr/>
        </p:nvSpPr>
        <p:spPr>
          <a:xfrm>
            <a:off x="6846570" y="1911096"/>
            <a:ext cx="1931670" cy="292608"/>
          </a:xfrm>
          <a:prstGeom prst="rect">
            <a:avLst/>
          </a:prstGeom>
          <a:solidFill>
            <a:srgbClr val="F1F5F9"/>
          </a:solidFill>
          <a:ln w="9525">
            <a:solidFill>
              <a:srgbClr val="E2E8F0"/>
            </a:solidFill>
            <a:prstDash val="solid"/>
          </a:ln>
        </p:spPr>
      </p:sp>
      <p:sp>
        <p:nvSpPr>
          <p:cNvPr id="45" name="Shape 43"/>
          <p:cNvSpPr/>
          <p:nvPr/>
        </p:nvSpPr>
        <p:spPr>
          <a:xfrm>
            <a:off x="6846570" y="2240280"/>
            <a:ext cx="1931670" cy="292608"/>
          </a:xfrm>
          <a:prstGeom prst="rect">
            <a:avLst/>
          </a:prstGeom>
          <a:solidFill>
            <a:srgbClr val="F8FAFC"/>
          </a:solidFill>
          <a:ln w="9525">
            <a:solidFill>
              <a:srgbClr val="E2E8F0"/>
            </a:solidFill>
            <a:prstDash val="solid"/>
          </a:ln>
        </p:spPr>
      </p:sp>
      <p:sp>
        <p:nvSpPr>
          <p:cNvPr id="46" name="Shape 44"/>
          <p:cNvSpPr/>
          <p:nvPr/>
        </p:nvSpPr>
        <p:spPr>
          <a:xfrm>
            <a:off x="6846570" y="2569464"/>
            <a:ext cx="1931670" cy="292608"/>
          </a:xfrm>
          <a:prstGeom prst="rect">
            <a:avLst/>
          </a:prstGeom>
          <a:solidFill>
            <a:srgbClr val="F1F5F9"/>
          </a:solidFill>
          <a:ln w="9525">
            <a:solidFill>
              <a:srgbClr val="E2E8F0"/>
            </a:solidFill>
            <a:prstDash val="solid"/>
          </a:ln>
        </p:spPr>
      </p:sp>
      <p:sp>
        <p:nvSpPr>
          <p:cNvPr id="47" name="Shape 45"/>
          <p:cNvSpPr/>
          <p:nvPr/>
        </p:nvSpPr>
        <p:spPr>
          <a:xfrm>
            <a:off x="6846570" y="2898648"/>
            <a:ext cx="1931670" cy="292608"/>
          </a:xfrm>
          <a:prstGeom prst="rect">
            <a:avLst/>
          </a:prstGeom>
          <a:solidFill>
            <a:srgbClr val="F8FAFC"/>
          </a:solidFill>
          <a:ln w="9525">
            <a:solidFill>
              <a:srgbClr val="E2E8F0"/>
            </a:solidFill>
            <a:prstDash val="solid"/>
          </a:ln>
        </p:spPr>
      </p:sp>
      <p:sp>
        <p:nvSpPr>
          <p:cNvPr id="48" name="Text 46"/>
          <p:cNvSpPr/>
          <p:nvPr/>
        </p:nvSpPr>
        <p:spPr>
          <a:xfrm>
            <a:off x="365760" y="3319272"/>
            <a:ext cx="1828800" cy="329184"/>
          </a:xfrm>
          <a:prstGeom prst="rect">
            <a:avLst/>
          </a:prstGeom>
          <a:noFill/>
          <a:ln/>
        </p:spPr>
        <p:txBody>
          <a:bodyPr wrap="square" lIns="0" tIns="0" rIns="0" bIns="0" rtlCol="0" anchor="ctr"/>
          <a:lstStyle/>
          <a:p>
            <a:pPr algn="l" indent="0" marL="0">
              <a:buNone/>
            </a:pPr>
            <a:r>
              <a:rPr lang="en-US" sz="1200" b="1" dirty="0">
                <a:solidFill>
                  <a:srgbClr val="0F172A"/>
                </a:solidFill>
                <a:latin typeface="Trebuchet MS" pitchFamily="34" charset="0"/>
                <a:ea typeface="Trebuchet MS" pitchFamily="34" charset="-122"/>
                <a:cs typeface="Trebuchet MS" pitchFamily="34" charset="-120"/>
              </a:rPr>
              <a:t>Sample words:</a:t>
            </a:r>
            <a:endParaRPr lang="en-US" sz="1200" dirty="0"/>
          </a:p>
        </p:txBody>
      </p:sp>
      <p:sp>
        <p:nvSpPr>
          <p:cNvPr id="49" name="Shape 47"/>
          <p:cNvSpPr/>
          <p:nvPr/>
        </p:nvSpPr>
        <p:spPr>
          <a:xfrm>
            <a:off x="365760" y="3685032"/>
            <a:ext cx="2011680" cy="365760"/>
          </a:xfrm>
          <a:prstGeom prst="rect">
            <a:avLst>
              <a:gd name="adj" fmla="val 15000"/>
            </a:avLst>
          </a:prstGeom>
          <a:solidFill>
            <a:srgbClr val="EEF2FF"/>
          </a:solidFill>
          <a:ln w="12700">
            <a:solidFill>
              <a:srgbClr val="6366F1"/>
            </a:solidFill>
            <a:prstDash val="solid"/>
          </a:ln>
        </p:spPr>
      </p:sp>
      <p:sp>
        <p:nvSpPr>
          <p:cNvPr id="50" name="Text 48"/>
          <p:cNvSpPr/>
          <p:nvPr/>
        </p:nvSpPr>
        <p:spPr>
          <a:xfrm>
            <a:off x="365760" y="3685032"/>
            <a:ext cx="2011680" cy="365760"/>
          </a:xfrm>
          <a:prstGeom prst="rect">
            <a:avLst/>
          </a:prstGeom>
          <a:noFill/>
          <a:ln/>
        </p:spPr>
        <p:txBody>
          <a:bodyPr wrap="square" lIns="0" tIns="0" rIns="0" bIns="0" rtlCol="0" anchor="ctr">
            <a:normAutofit/>
          </a:bodyPr>
          <a:lstStyle/>
          <a:p>
            <a:pPr algn="ctr" indent="0" marL="0">
              <a:buNone/>
            </a:pPr>
            <a:r>
              <a:rPr lang="en-US" sz="1200" b="1" dirty="0">
                <a:solidFill>
                  <a:srgbClr val="4338CA"/>
                </a:solidFill>
                <a:latin typeface="Trebuchet MS" pitchFamily="34" charset="0"/>
                <a:ea typeface="Trebuchet MS" pitchFamily="34" charset="-122"/>
                <a:cs typeface="Trebuchet MS" pitchFamily="34" charset="-120"/>
              </a:rPr>
              <a:t>telephone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Word Labs — Prefix 'tele-' — Teaching Deck</dc:title>
  <dc:subject>PptxGenJS Presentation</dc:subject>
  <dc:creator>Word Labs</dc:creator>
  <cp:lastModifiedBy>Word Labs</cp:lastModifiedBy>
  <cp:revision>1</cp:revision>
  <dcterms:created xsi:type="dcterms:W3CDTF">2026-10-22T10:14:34Z</dcterms:created>
  <dcterms:modified xsi:type="dcterms:W3CDTF">2026-10-22T10:14:34Z</dcterms:modified>
</cp:coreProperties>
</file>