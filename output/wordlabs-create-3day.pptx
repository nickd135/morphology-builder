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931920"/>
            <a:ext cx="9144000" cy="12115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LABS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Root: 'create'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"to make or bring forth"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creare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429000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429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56616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5661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033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01568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4015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785616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78561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169664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16966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 Meaning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'create' — to make or bring forth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Intention &amp; Success Criteria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'create'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'create' = to make or bring forth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22960"/>
            <a:ext cx="8412480" cy="1234440"/>
          </a:xfrm>
          <a:prstGeom prst="rect">
            <a:avLst>
              <a:gd name="adj" fmla="val 7407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86868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are learning that the root 'create' means 'to make or bring forth'.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5760" y="21945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 Criteria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2633472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263347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the meaning of the root 'create'.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" y="3291840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3291840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use prefixes and suffixes to build and decode 'create' words.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5760" y="3950208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1248" y="3950208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read and spell 'create' words effectively in sentences.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Vocabulary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'create'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'create' = to make or bring forth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04672"/>
            <a:ext cx="8412480" cy="1170432"/>
          </a:xfrm>
          <a:prstGeom prst="rect">
            <a:avLst>
              <a:gd name="adj" fmla="val 781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804672"/>
            <a:ext cx="1280160" cy="1170432"/>
          </a:xfrm>
          <a:prstGeom prst="rect">
            <a:avLst>
              <a:gd name="adj" fmla="val 781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1328" y="804672"/>
            <a:ext cx="91440" cy="1170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80467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91640" y="84124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part of a word carrying its basic meaning. For example, 'create' means 'to make or bring forth'.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65760" y="2130552"/>
            <a:ext cx="8412480" cy="1170432"/>
          </a:xfrm>
          <a:prstGeom prst="rect">
            <a:avLst>
              <a:gd name="adj" fmla="val 7813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130552"/>
            <a:ext cx="1280160" cy="1170432"/>
          </a:xfrm>
          <a:prstGeom prst="rect">
            <a:avLst>
              <a:gd name="adj" fmla="val 781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1328" y="2130552"/>
            <a:ext cx="91440" cy="1170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13055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216712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beginning of a root to change its meaning. E.g. a prefix before 'create' changes the word's meaning.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65760" y="3456432"/>
            <a:ext cx="8412480" cy="1170432"/>
          </a:xfrm>
          <a:prstGeom prst="rect">
            <a:avLst>
              <a:gd name="adj" fmla="val 781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3456432"/>
            <a:ext cx="1280160" cy="1170432"/>
          </a:xfrm>
          <a:prstGeom prst="rect">
            <a:avLst>
              <a:gd name="adj" fmla="val 781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1328" y="3456432"/>
            <a:ext cx="91440" cy="1170432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45643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691640" y="349300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end of a word to change its meaning or form. E.g. a suffix after 'create' can make a noun or adjective.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 or False?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'create'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'create' = to make or bring forth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 following statements true or false?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1207008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07008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The root 'create' comes from the Latin word 'creare', meaning to make.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0" y="1207008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0" y="12070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1901952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" y="1901952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The word 'creature' has nothing to do with the root 'create'.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0" y="1901952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0" y="190195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596896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" y="2596896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A 'creator' is someone who makes or brings something new into the world.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0" y="2596896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0" y="2596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3291840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48640" y="3291840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The word 'recreation' contains the prefix 're-', meaning again.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772400" y="3291840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0" y="329184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3986784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48640" y="3986784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The suffix '-ive' in 'creative' means the action of doing something.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772400" y="3986784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0" y="398678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 'create' — Meaning &amp; Origin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'create'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'create' = to make or bring forth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1371600"/>
          </a:xfrm>
          <a:prstGeom prst="rect">
            <a:avLst>
              <a:gd name="adj" fmla="val 8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77724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'create'</a:t>
            </a:r>
            <a:endParaRPr lang="en-US" sz="5200" dirty="0"/>
          </a:p>
        </p:txBody>
      </p:sp>
      <p:sp>
        <p:nvSpPr>
          <p:cNvPr id="12" name="Shape 10"/>
          <p:cNvSpPr/>
          <p:nvPr/>
        </p:nvSpPr>
        <p:spPr>
          <a:xfrm>
            <a:off x="3246120" y="777240"/>
            <a:ext cx="36576" cy="1371600"/>
          </a:xfrm>
          <a:prstGeom prst="rect">
            <a:avLst/>
          </a:prstGeom>
          <a:solidFill>
            <a:srgbClr val="312E81"/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77724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to make or bring forth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132320" y="777240"/>
            <a:ext cx="1600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creare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33172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using this root: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6576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creation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51460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51460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creative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66344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6344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creator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81228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1228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creature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36576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recreate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51460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51460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recreation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466344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66344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procreate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with 'create'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'create'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'create' = to make or bring forth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matrix below. Choose morpheme parts to build a word. Not all combinations work!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91840" y="1234440"/>
            <a:ext cx="1645920" cy="457200"/>
          </a:xfrm>
          <a:prstGeom prst="rect">
            <a:avLst>
              <a:gd name="adj" fmla="val 12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2344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'create'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create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-ion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-ive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-or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-ure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1508760" y="4178808"/>
            <a:ext cx="822960" cy="420624"/>
          </a:xfrm>
          <a:prstGeom prst="rect">
            <a:avLst>
              <a:gd name="adj" fmla="val 17391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5" name="Text 43"/>
          <p:cNvSpPr/>
          <p:nvPr/>
        </p:nvSpPr>
        <p:spPr>
          <a:xfrm>
            <a:off x="1508760" y="41788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46" name="Text 44"/>
          <p:cNvSpPr/>
          <p:nvPr/>
        </p:nvSpPr>
        <p:spPr>
          <a:xfrm>
            <a:off x="2359152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47" name="Shape 45"/>
          <p:cNvSpPr/>
          <p:nvPr/>
        </p:nvSpPr>
        <p:spPr>
          <a:xfrm>
            <a:off x="2706624" y="4178808"/>
            <a:ext cx="1536192" cy="420624"/>
          </a:xfrm>
          <a:prstGeom prst="rect">
            <a:avLst>
              <a:gd name="adj" fmla="val 17391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8" name="Text 46"/>
          <p:cNvSpPr/>
          <p:nvPr/>
        </p:nvSpPr>
        <p:spPr>
          <a:xfrm>
            <a:off x="2706624" y="4178808"/>
            <a:ext cx="153619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'create'</a:t>
            </a:r>
            <a:endParaRPr lang="en-US" sz="1300" dirty="0"/>
          </a:p>
        </p:txBody>
      </p:sp>
      <p:sp>
        <p:nvSpPr>
          <p:cNvPr id="49" name="Text 47"/>
          <p:cNvSpPr/>
          <p:nvPr/>
        </p:nvSpPr>
        <p:spPr>
          <a:xfrm>
            <a:off x="4270248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50" name="Shape 48"/>
          <p:cNvSpPr/>
          <p:nvPr/>
        </p:nvSpPr>
        <p:spPr>
          <a:xfrm>
            <a:off x="4617720" y="4178808"/>
            <a:ext cx="950976" cy="420624"/>
          </a:xfrm>
          <a:prstGeom prst="rect">
            <a:avLst>
              <a:gd name="adj" fmla="val 17391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1" name="Text 49"/>
          <p:cNvSpPr/>
          <p:nvPr/>
        </p:nvSpPr>
        <p:spPr>
          <a:xfrm>
            <a:off x="4617720" y="4178808"/>
            <a:ext cx="95097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-ion</a:t>
            </a:r>
            <a:endParaRPr lang="en-US" sz="1300" dirty="0"/>
          </a:p>
        </p:txBody>
      </p:sp>
      <p:sp>
        <p:nvSpPr>
          <p:cNvPr id="52" name="Text 50"/>
          <p:cNvSpPr/>
          <p:nvPr/>
        </p:nvSpPr>
        <p:spPr>
          <a:xfrm>
            <a:off x="5641848" y="4178808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=</a:t>
            </a:r>
            <a:endParaRPr lang="en-US" sz="1800" dirty="0"/>
          </a:p>
        </p:txBody>
      </p:sp>
      <p:sp>
        <p:nvSpPr>
          <p:cNvPr id="53" name="Shape 51"/>
          <p:cNvSpPr/>
          <p:nvPr/>
        </p:nvSpPr>
        <p:spPr>
          <a:xfrm>
            <a:off x="6053328" y="4178808"/>
            <a:ext cx="2194560" cy="420624"/>
          </a:xfrm>
          <a:prstGeom prst="rect">
            <a:avLst>
              <a:gd name="adj" fmla="val 1739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6053328" y="417880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creation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'create' Word Definitions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'create'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'create' = to make or bring forth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 to its meaning: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65760" y="11887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creation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514600" y="118872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51760" y="118872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produce offspring or have babies — used when talking about animals or people reproducing.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" y="171907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65760" y="17190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creative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514600" y="171907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51760" y="171907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living being, especially an animal.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65760" y="2249424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760" y="224942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creator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514600" y="2249424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651760" y="2249424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 activities you do in your spare time, like sport or hobbies.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65760" y="2779776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365760" y="277977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creature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514600" y="2779776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651760" y="2779776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make or do something again, or to enjoy a fun activity.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65760" y="3310128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365760" y="331012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recreate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2514600" y="3310128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651760" y="3310128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Something that has been made or brought into existence, like a piece of art or a new invention.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365760" y="384048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365760" y="38404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recreation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2514600" y="384048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51760" y="384048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person or thing that makes something new.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65760" y="437083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365760" y="437083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procreate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2514600" y="437083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651760" y="437083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Having the ability to make new and imaginative things.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 'create' Words in Sentences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'create'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'create' = to make or bring forth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these example sentences. Underline the 'create' word and discuss its meaning.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261872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1261872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1261872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1261872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0120" y="1307592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students used recycled materials to create a model of the solar system.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2468880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468880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2468880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46888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2514600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art teacher said that being creative means trying new ideas without being afraid of mistakes.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65760" y="3675888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3675888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675888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675888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60120" y="3721608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During recreation time, the children played handball and skipped rope in the playground.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Check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'create'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'create' = to make or bring forth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'create'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'create' = to make or bring forth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most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creative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student won first prize for her amazing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creation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at the science fair!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73736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3736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73736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creative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73736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457200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creation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'create'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'create' = to make or bring forth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creative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'create'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'create' = to make or bring forth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creative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create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make or bring forth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293827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ive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having the quality of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6" name="Text 24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0" name="Text 28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'create'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'create' = to make or bring forth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creative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create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make or bring forth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293827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ive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having the quality of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cre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tive</a:t>
            </a:r>
            <a:endParaRPr lang="en-US" sz="1400" dirty="0"/>
          </a:p>
        </p:txBody>
      </p:sp>
      <p:sp>
        <p:nvSpPr>
          <p:cNvPr id="34" name="Shape 32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7" name="Text 35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'create'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'create' = to make or bring forth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creative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create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make or bring forth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293827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ive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having the quality of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cre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tive</a:t>
            </a:r>
            <a:endParaRPr lang="en-US" sz="1400" dirty="0"/>
          </a:p>
        </p:txBody>
      </p:sp>
      <p:sp>
        <p:nvSpPr>
          <p:cNvPr id="34" name="Shape 32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24277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4277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cr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72740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72740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ive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'create'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'create' = to make or bring forth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creation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'create'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'create' = to make or bring forth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creation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create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make or bring forth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293827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act or result of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6" name="Text 24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0" name="Text 28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'create'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'create' = to make or bring forth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creation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create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make or bring forth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293827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act or result of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cre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tion</a:t>
            </a:r>
            <a:endParaRPr lang="en-US" sz="1400" dirty="0"/>
          </a:p>
        </p:txBody>
      </p:sp>
      <p:sp>
        <p:nvSpPr>
          <p:cNvPr id="34" name="Shape 32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7" name="Text 35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'create'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'create' = to make or bring forth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creation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create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make or bring forth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293827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act or result of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cre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tion</a:t>
            </a:r>
            <a:endParaRPr lang="en-US" sz="1400" dirty="0"/>
          </a:p>
        </p:txBody>
      </p:sp>
      <p:sp>
        <p:nvSpPr>
          <p:cNvPr id="34" name="Shape 32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2254649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254649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cr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3293146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293146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4331643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4331643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5370141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5370141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6408638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6408638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</a:t>
            </a:r>
            <a:endParaRPr lang="en-US" sz="900" dirty="0"/>
          </a:p>
        </p:txBody>
      </p:sp>
      <p:sp>
        <p:nvSpPr>
          <p:cNvPr id="47" name="Text 45"/>
          <p:cNvSpPr/>
          <p:nvPr/>
        </p:nvSpPr>
        <p:spPr>
          <a:xfrm>
            <a:off x="6408638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/sh/</a:t>
            </a:r>
            <a:endParaRPr lang="en-US" sz="750" dirty="0"/>
          </a:p>
        </p:txBody>
      </p:sp>
      <p:sp>
        <p:nvSpPr>
          <p:cNvPr id="48" name="Shape 46"/>
          <p:cNvSpPr/>
          <p:nvPr/>
        </p:nvSpPr>
        <p:spPr>
          <a:xfrm>
            <a:off x="7447135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7447135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Build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'create'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'create' = to make or bring forth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marks</a:t>
            </a:r>
            <a:endParaRPr lang="en-US" sz="2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'create'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'create' = to make or bring forth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talented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creator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explained how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recreation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and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creativity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helped her design the sculpture.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1148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creator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1148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8516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8516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18516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recreation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8516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95884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5884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595884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creativity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95884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'create'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'create' = to make or bring forth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creator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'create'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'create' = to make or bring forth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creator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create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make or bring forth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293827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person who does something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6" name="Text 24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0" name="Text 28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'create'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'create' = to make or bring forth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creator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create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make or bring forth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293827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person who does something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cre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tor</a:t>
            </a:r>
            <a:endParaRPr lang="en-US" sz="1400" dirty="0"/>
          </a:p>
        </p:txBody>
      </p:sp>
      <p:sp>
        <p:nvSpPr>
          <p:cNvPr id="34" name="Shape 32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7" name="Text 35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'create'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'create' = to make or bring forth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creator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create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make or bring forth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293827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person who does something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cre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tor</a:t>
            </a:r>
            <a:endParaRPr lang="en-US" sz="1400" dirty="0"/>
          </a:p>
        </p:txBody>
      </p:sp>
      <p:sp>
        <p:nvSpPr>
          <p:cNvPr id="34" name="Shape 32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24277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4277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cr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72740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72740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'create'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'create' = to make or bring forth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recreation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'create'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'create' = to make or bring forth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recreation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create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make or bring forth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437083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act or result of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'create'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'create' = to make or bring forth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recreation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create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make or bring forth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437083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act or result of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rec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1400" dirty="0"/>
          </a:p>
        </p:txBody>
      </p:sp>
      <p:sp>
        <p:nvSpPr>
          <p:cNvPr id="37" name="Text 35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8" name="Shape 36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tion</a:t>
            </a:r>
            <a:endParaRPr lang="en-US" sz="1400" dirty="0"/>
          </a:p>
        </p:txBody>
      </p:sp>
      <p:sp>
        <p:nvSpPr>
          <p:cNvPr id="40" name="Shape 3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2" name="Shape 4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3" name="Text 4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'create'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'create' = to make or bring forth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recreation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create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make or bring forth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437083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act or result of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rec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1400" dirty="0"/>
          </a:p>
        </p:txBody>
      </p:sp>
      <p:sp>
        <p:nvSpPr>
          <p:cNvPr id="37" name="Text 35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8" name="Shape 36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tion</a:t>
            </a:r>
            <a:endParaRPr lang="en-US" sz="1400" dirty="0"/>
          </a:p>
        </p:txBody>
      </p:sp>
      <p:sp>
        <p:nvSpPr>
          <p:cNvPr id="40" name="Shape 3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2" name="Shape 4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202387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202387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28315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28315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363931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363931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cr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444703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444703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525475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525475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606247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606247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>
            <a:off x="68701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68701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</a:t>
            </a:r>
            <a:endParaRPr lang="en-US" sz="900" dirty="0"/>
          </a:p>
        </p:txBody>
      </p:sp>
      <p:sp>
        <p:nvSpPr>
          <p:cNvPr id="57" name="Text 55"/>
          <p:cNvSpPr/>
          <p:nvPr/>
        </p:nvSpPr>
        <p:spPr>
          <a:xfrm>
            <a:off x="6870192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/sh/</a:t>
            </a:r>
            <a:endParaRPr lang="en-US" sz="750" dirty="0"/>
          </a:p>
        </p:txBody>
      </p:sp>
      <p:sp>
        <p:nvSpPr>
          <p:cNvPr id="58" name="Shape 56"/>
          <p:cNvSpPr/>
          <p:nvPr/>
        </p:nvSpPr>
        <p:spPr>
          <a:xfrm>
            <a:off x="767791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767791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3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'create'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'create' = to make or bring forth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creativity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'create'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'create' = to make or bring forth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creativity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create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make or bring forth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222199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ive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having the quality of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ity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state or quality of being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'create'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'create' = to make or bring forth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creativity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create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make or bring forth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222199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ive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having the quality of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ity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state or quality of being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1978152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1978152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cre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3203448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3279648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279648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4504944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4581144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4581144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tiv</a:t>
            </a:r>
            <a:endParaRPr lang="en-US" sz="1400" dirty="0"/>
          </a:p>
        </p:txBody>
      </p:sp>
      <p:sp>
        <p:nvSpPr>
          <p:cNvPr id="37" name="Text 35"/>
          <p:cNvSpPr/>
          <p:nvPr/>
        </p:nvSpPr>
        <p:spPr>
          <a:xfrm>
            <a:off x="5806440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8" name="Shape 36"/>
          <p:cNvSpPr/>
          <p:nvPr/>
        </p:nvSpPr>
        <p:spPr>
          <a:xfrm>
            <a:off x="5882640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5882640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1400" dirty="0"/>
          </a:p>
        </p:txBody>
      </p:sp>
      <p:sp>
        <p:nvSpPr>
          <p:cNvPr id="40" name="Text 38"/>
          <p:cNvSpPr/>
          <p:nvPr/>
        </p:nvSpPr>
        <p:spPr>
          <a:xfrm>
            <a:off x="7107936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1" name="Shape 39"/>
          <p:cNvSpPr/>
          <p:nvPr/>
        </p:nvSpPr>
        <p:spPr>
          <a:xfrm>
            <a:off x="7184136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7184136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ty</a:t>
            </a:r>
            <a:endParaRPr lang="en-US" sz="1400" dirty="0"/>
          </a:p>
        </p:txBody>
      </p:sp>
      <p:sp>
        <p:nvSpPr>
          <p:cNvPr id="43" name="Shape 4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5" name="Shape 4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6" name="Text 4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'create'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'create' = to make or bring forth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creativity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create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make or bring forth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222199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ive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having the quality of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ity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state or quality of being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1978152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1978152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cre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3203448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3279648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279648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4504944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4581144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4581144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tiv</a:t>
            </a:r>
            <a:endParaRPr lang="en-US" sz="1400" dirty="0"/>
          </a:p>
        </p:txBody>
      </p:sp>
      <p:sp>
        <p:nvSpPr>
          <p:cNvPr id="37" name="Text 35"/>
          <p:cNvSpPr/>
          <p:nvPr/>
        </p:nvSpPr>
        <p:spPr>
          <a:xfrm>
            <a:off x="5806440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8" name="Shape 36"/>
          <p:cNvSpPr/>
          <p:nvPr/>
        </p:nvSpPr>
        <p:spPr>
          <a:xfrm>
            <a:off x="5882640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5882640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1400" dirty="0"/>
          </a:p>
        </p:txBody>
      </p:sp>
      <p:sp>
        <p:nvSpPr>
          <p:cNvPr id="40" name="Text 38"/>
          <p:cNvSpPr/>
          <p:nvPr/>
        </p:nvSpPr>
        <p:spPr>
          <a:xfrm>
            <a:off x="7107936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1" name="Shape 39"/>
          <p:cNvSpPr/>
          <p:nvPr/>
        </p:nvSpPr>
        <p:spPr>
          <a:xfrm>
            <a:off x="7184136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7184136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ty</a:t>
            </a:r>
            <a:endParaRPr lang="en-US" sz="1400" dirty="0"/>
          </a:p>
        </p:txBody>
      </p:sp>
      <p:sp>
        <p:nvSpPr>
          <p:cNvPr id="43" name="Shape 4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5" name="Shape 43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20238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20238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cr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28315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28315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44470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44470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52547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52547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iv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58" name="Shape 56"/>
          <p:cNvSpPr/>
          <p:nvPr/>
        </p:nvSpPr>
        <p:spPr>
          <a:xfrm>
            <a:off x="68701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8701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60" name="Shape 58"/>
          <p:cNvSpPr/>
          <p:nvPr/>
        </p:nvSpPr>
        <p:spPr>
          <a:xfrm>
            <a:off x="76779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76779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Your Own Words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'create'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'create' = to make or bring forth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Labs Morpheme Builder to find words, then fill in the matrix below.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117043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Name: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43000" y="1371600"/>
            <a:ext cx="292608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17043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Date: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49240" y="1371600"/>
            <a:ext cx="32461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1600200"/>
            <a:ext cx="2468880" cy="438912"/>
          </a:xfrm>
          <a:prstGeom prst="rect">
            <a:avLst>
              <a:gd name="adj" fmla="val 125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60020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718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718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'create'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2066544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2404872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743200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3081528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47472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I made: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6576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3504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0040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3504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53542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Choose 3 words and write a sentence for each: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Review Answers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'create'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'create' = to make or bring forth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are some words you could have made. Check your list!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15568"/>
            <a:ext cx="2468880" cy="420624"/>
          </a:xfrm>
          <a:prstGeom prst="rect">
            <a:avLst>
              <a:gd name="adj" fmla="val 1304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11556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9718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'create'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436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create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-ion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-ive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-or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-ure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36118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Sample words: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365760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65760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creation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2542032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2542032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creative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4718304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718304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creator</a:t>
            </a:r>
            <a:endParaRPr lang="en-US" sz="1200" dirty="0"/>
          </a:p>
        </p:txBody>
      </p:sp>
      <p:sp>
        <p:nvSpPr>
          <p:cNvPr id="50" name="Shape 48"/>
          <p:cNvSpPr/>
          <p:nvPr/>
        </p:nvSpPr>
        <p:spPr>
          <a:xfrm>
            <a:off x="6894576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894576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creature</a:t>
            </a:r>
            <a:endParaRPr lang="en-US" sz="1200" dirty="0"/>
          </a:p>
        </p:txBody>
      </p:sp>
      <p:sp>
        <p:nvSpPr>
          <p:cNvPr id="52" name="Shape 50"/>
          <p:cNvSpPr/>
          <p:nvPr/>
        </p:nvSpPr>
        <p:spPr>
          <a:xfrm>
            <a:off x="365760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365760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recreate</a:t>
            </a:r>
            <a:endParaRPr lang="en-US" sz="1200" dirty="0"/>
          </a:p>
        </p:txBody>
      </p:sp>
      <p:sp>
        <p:nvSpPr>
          <p:cNvPr id="54" name="Shape 52"/>
          <p:cNvSpPr/>
          <p:nvPr/>
        </p:nvSpPr>
        <p:spPr>
          <a:xfrm>
            <a:off x="2542032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2542032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recreation</a:t>
            </a:r>
            <a:endParaRPr lang="en-US" sz="1200" dirty="0"/>
          </a:p>
        </p:txBody>
      </p:sp>
      <p:sp>
        <p:nvSpPr>
          <p:cNvPr id="56" name="Shape 54"/>
          <p:cNvSpPr/>
          <p:nvPr/>
        </p:nvSpPr>
        <p:spPr>
          <a:xfrm>
            <a:off x="4718304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718304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procreate</a:t>
            </a:r>
            <a:endParaRPr lang="en-US" sz="1200" dirty="0"/>
          </a:p>
        </p:txBody>
      </p:sp>
      <p:sp>
        <p:nvSpPr>
          <p:cNvPr id="58" name="Shape 56"/>
          <p:cNvSpPr/>
          <p:nvPr/>
        </p:nvSpPr>
        <p:spPr>
          <a:xfrm>
            <a:off x="6894576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894576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creativity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Word Labs — Root 'create' — 3-Day Teaching Deck</dc:title>
  <dc:subject>PptxGenJS Presentation</dc:subject>
  <dc:creator>Word Labs</dc:creator>
  <cp:lastModifiedBy>Word Labs</cp:lastModifiedBy>
  <cp:revision>1</cp:revision>
  <dcterms:created xsi:type="dcterms:W3CDTF">2026-03-25T03:08:27Z</dcterms:created>
  <dcterms:modified xsi:type="dcterms:W3CDTF">2026-03-25T03:08:27Z</dcterms:modified>
</cp:coreProperties>
</file>