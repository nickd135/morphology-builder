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</p:sldIdLst>
  <p:notesMasterIdLst>
    <p:notesMasterId r:id="rId39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notesMaster" Target="notesMasters/notesMaster1.xml"/><Relationship Id="rId40" Type="http://schemas.openxmlformats.org/officeDocument/2006/relationships/presProps" Target="presProps.xml"/><Relationship Id="rId41" Type="http://schemas.openxmlformats.org/officeDocument/2006/relationships/viewProps" Target="viewProps.xml"/><Relationship Id="rId42" Type="http://schemas.openxmlformats.org/officeDocument/2006/relationships/theme" Target="theme/theme1.xml"/><Relationship Id="rId43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201168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0" y="3931920"/>
            <a:ext cx="9144000" cy="121158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50292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spc="800" kern="0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LABS</a:t>
            </a:r>
            <a:endParaRPr lang="en-US" sz="1300" dirty="0"/>
          </a:p>
        </p:txBody>
      </p:sp>
      <p:sp>
        <p:nvSpPr>
          <p:cNvPr id="5" name="Text 3"/>
          <p:cNvSpPr/>
          <p:nvPr/>
        </p:nvSpPr>
        <p:spPr>
          <a:xfrm>
            <a:off x="457200" y="1005840"/>
            <a:ext cx="8229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6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Root: 'end'</a:t>
            </a:r>
            <a:endParaRPr lang="en-US" sz="6400" dirty="0"/>
          </a:p>
        </p:txBody>
      </p:sp>
      <p:sp>
        <p:nvSpPr>
          <p:cNvPr id="6" name="Text 4"/>
          <p:cNvSpPr/>
          <p:nvPr/>
        </p:nvSpPr>
        <p:spPr>
          <a:xfrm>
            <a:off x="457200" y="2331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2200" i="1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"to finish, stop, or limit"</a:t>
            </a:r>
            <a:endParaRPr lang="en-US" sz="2200" dirty="0"/>
          </a:p>
        </p:txBody>
      </p:sp>
      <p:sp>
        <p:nvSpPr>
          <p:cNvPr id="7" name="Text 5"/>
          <p:cNvSpPr/>
          <p:nvPr/>
        </p:nvSpPr>
        <p:spPr>
          <a:xfrm>
            <a:off x="457200" y="292608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6366F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finis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3429000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457200" y="342900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457200" y="356616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356616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457200" y="3703320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57200" y="3703320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457200" y="3401568"/>
            <a:ext cx="4023360" cy="347472"/>
          </a:xfrm>
          <a:prstGeom prst="rect">
            <a:avLst>
              <a:gd name="adj" fmla="val 15789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57200" y="3401568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1 — Morpheme Meaning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457200" y="3785616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3785616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2 — Dictation &amp; Breakdown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457200" y="4169664"/>
            <a:ext cx="4023360" cy="347472"/>
          </a:xfrm>
          <a:prstGeom prst="rect">
            <a:avLst>
              <a:gd name="adj" fmla="val 15789"/>
            </a:avLst>
          </a:prstGeom>
          <a:solidFill>
            <a:srgbClr val="1E1B4B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457200" y="4169664"/>
            <a:ext cx="402336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 3 — Dictation &amp; Word Matrix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4023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 Meaning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Root 'end' — to finish, stop, or limit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Learning Intention &amp; Success Criteria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22960"/>
            <a:ext cx="8412480" cy="1234440"/>
          </a:xfrm>
          <a:prstGeom prst="rect">
            <a:avLst>
              <a:gd name="adj" fmla="val 7407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502920" y="868680"/>
            <a:ext cx="813816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We are learning that the root 'end' means 'to finish, stop, or limit'.</a:t>
            </a:r>
            <a:endParaRPr lang="en-US" sz="2000" dirty="0"/>
          </a:p>
        </p:txBody>
      </p:sp>
      <p:sp>
        <p:nvSpPr>
          <p:cNvPr id="12" name="Text 10"/>
          <p:cNvSpPr/>
          <p:nvPr/>
        </p:nvSpPr>
        <p:spPr>
          <a:xfrm>
            <a:off x="365760" y="21945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4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Success Criteria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365760" y="2633472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263347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841248" y="2633472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explain the meaning of the root 'end'.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365760" y="3291840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329184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841248" y="3291840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use prefixes and suffixes to build and decode 'end' words.</a:t>
            </a:r>
            <a:endParaRPr lang="en-US" sz="1400" dirty="0"/>
          </a:p>
        </p:txBody>
      </p:sp>
      <p:sp>
        <p:nvSpPr>
          <p:cNvPr id="19" name="Shape 17"/>
          <p:cNvSpPr/>
          <p:nvPr/>
        </p:nvSpPr>
        <p:spPr>
          <a:xfrm>
            <a:off x="365760" y="3950208"/>
            <a:ext cx="384048" cy="384048"/>
          </a:xfrm>
          <a:prstGeom prst="rect">
            <a:avLst>
              <a:gd name="adj" fmla="val 14286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65760" y="39502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✓</a:t>
            </a:r>
            <a:endParaRPr lang="en-US" sz="1400" dirty="0"/>
          </a:p>
        </p:txBody>
      </p:sp>
      <p:sp>
        <p:nvSpPr>
          <p:cNvPr id="21" name="Text 19"/>
          <p:cNvSpPr/>
          <p:nvPr/>
        </p:nvSpPr>
        <p:spPr>
          <a:xfrm>
            <a:off x="841248" y="3950208"/>
            <a:ext cx="786384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can read and spell 'end' words effectively in sentences.</a:t>
            </a:r>
            <a:endParaRPr lang="en-US" sz="14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Key Vocabulary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804672"/>
            <a:ext cx="8412480" cy="1170432"/>
          </a:xfrm>
          <a:prstGeom prst="rect">
            <a:avLst>
              <a:gd name="adj" fmla="val 781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Shape 9"/>
          <p:cNvSpPr/>
          <p:nvPr/>
        </p:nvSpPr>
        <p:spPr>
          <a:xfrm>
            <a:off x="365760" y="804672"/>
            <a:ext cx="1280160" cy="1170432"/>
          </a:xfrm>
          <a:prstGeom prst="rect">
            <a:avLst>
              <a:gd name="adj" fmla="val 781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2" name="Shape 10"/>
          <p:cNvSpPr/>
          <p:nvPr/>
        </p:nvSpPr>
        <p:spPr>
          <a:xfrm>
            <a:off x="1481328" y="804672"/>
            <a:ext cx="91440" cy="1170432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65760" y="80467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1691640" y="84124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core part of a word carrying its basic meaning. For example, 'end' means 'to finish, stop, or limit'.</a:t>
            </a:r>
            <a:endParaRPr lang="en-US" sz="1350" dirty="0"/>
          </a:p>
        </p:txBody>
      </p:sp>
      <p:sp>
        <p:nvSpPr>
          <p:cNvPr id="15" name="Shape 13"/>
          <p:cNvSpPr/>
          <p:nvPr/>
        </p:nvSpPr>
        <p:spPr>
          <a:xfrm>
            <a:off x="365760" y="2130552"/>
            <a:ext cx="8412480" cy="1170432"/>
          </a:xfrm>
          <a:prstGeom prst="rect">
            <a:avLst>
              <a:gd name="adj" fmla="val 7813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Shape 14"/>
          <p:cNvSpPr/>
          <p:nvPr/>
        </p:nvSpPr>
        <p:spPr>
          <a:xfrm>
            <a:off x="365760" y="2130552"/>
            <a:ext cx="1280160" cy="1170432"/>
          </a:xfrm>
          <a:prstGeom prst="rect">
            <a:avLst>
              <a:gd name="adj" fmla="val 781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1481328" y="2130552"/>
            <a:ext cx="91440" cy="1170432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213055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</a:t>
            </a:r>
            <a:endParaRPr lang="en-US" sz="1600" dirty="0"/>
          </a:p>
        </p:txBody>
      </p:sp>
      <p:sp>
        <p:nvSpPr>
          <p:cNvPr id="19" name="Text 17"/>
          <p:cNvSpPr/>
          <p:nvPr/>
        </p:nvSpPr>
        <p:spPr>
          <a:xfrm>
            <a:off x="1691640" y="216712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beginning of a root to change its meaning. E.g. a prefix before 'end' changes the word's meaning.</a:t>
            </a:r>
            <a:endParaRPr lang="en-US" sz="1350" dirty="0"/>
          </a:p>
        </p:txBody>
      </p:sp>
      <p:sp>
        <p:nvSpPr>
          <p:cNvPr id="20" name="Shape 18"/>
          <p:cNvSpPr/>
          <p:nvPr/>
        </p:nvSpPr>
        <p:spPr>
          <a:xfrm>
            <a:off x="365760" y="3456432"/>
            <a:ext cx="8412480" cy="1170432"/>
          </a:xfrm>
          <a:prstGeom prst="rect">
            <a:avLst>
              <a:gd name="adj" fmla="val 781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65760" y="3456432"/>
            <a:ext cx="1280160" cy="1170432"/>
          </a:xfrm>
          <a:prstGeom prst="rect">
            <a:avLst>
              <a:gd name="adj" fmla="val 781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1481328" y="3456432"/>
            <a:ext cx="91440" cy="1170432"/>
          </a:xfrm>
          <a:prstGeom prst="rect">
            <a:avLst/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456432"/>
            <a:ext cx="1280160" cy="11704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</a:t>
            </a:r>
            <a:endParaRPr lang="en-US" sz="1600" dirty="0"/>
          </a:p>
        </p:txBody>
      </p:sp>
      <p:sp>
        <p:nvSpPr>
          <p:cNvPr id="24" name="Text 22"/>
          <p:cNvSpPr/>
          <p:nvPr/>
        </p:nvSpPr>
        <p:spPr>
          <a:xfrm>
            <a:off x="1691640" y="3493008"/>
            <a:ext cx="694944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50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meaningful word part added to the end of a word to change its meaning or form. E.g. a suffix after 'end' can make a noun or adjective.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 or False?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31520"/>
            <a:ext cx="8412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 the following statements true or false?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207008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07008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  The word 'endless' contains the root 'end' and the suffix '-less'.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7772400" y="1207008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7772400" y="1207008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365760" y="1901952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548640" y="1901952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2.  The root 'end' comes from a Greek word.</a:t>
            </a:r>
            <a:endParaRPr lang="en-US" sz="1300" dirty="0"/>
          </a:p>
        </p:txBody>
      </p:sp>
      <p:sp>
        <p:nvSpPr>
          <p:cNvPr id="17" name="Shape 15"/>
          <p:cNvSpPr/>
          <p:nvPr/>
        </p:nvSpPr>
        <p:spPr>
          <a:xfrm>
            <a:off x="7772400" y="1901952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7772400" y="1901952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365760" y="2596896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48640" y="2596896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3.  The word 'extend' means to make something stretch out longer.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7772400" y="2596896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7772400" y="2596896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365760" y="3291840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548640" y="3291840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4.  Adding the suffix '-ing' to 'end' makes the word 'ending'.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7772400" y="3291840"/>
            <a:ext cx="1005840" cy="566928"/>
          </a:xfrm>
          <a:prstGeom prst="rect">
            <a:avLst>
              <a:gd name="adj" fmla="val 12903"/>
            </a:avLst>
          </a:prstGeom>
          <a:solidFill>
            <a:srgbClr val="DCFCE7"/>
          </a:solidFill>
          <a:ln w="12700">
            <a:solidFill>
              <a:srgbClr val="16A34A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7772400" y="3291840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16A34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TRUE</a:t>
            </a:r>
            <a:endParaRPr lang="en-US" sz="1100" dirty="0"/>
          </a:p>
        </p:txBody>
      </p:sp>
      <p:sp>
        <p:nvSpPr>
          <p:cNvPr id="27" name="Shape 25"/>
          <p:cNvSpPr/>
          <p:nvPr/>
        </p:nvSpPr>
        <p:spPr>
          <a:xfrm>
            <a:off x="365760" y="3986784"/>
            <a:ext cx="7315200" cy="566928"/>
          </a:xfrm>
          <a:prstGeom prst="rect">
            <a:avLst>
              <a:gd name="adj" fmla="val 1290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48640" y="3986784"/>
            <a:ext cx="6949440" cy="56692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5.  The word 'defend' has the prefix 'de' meaning 'up' or 'above'.</a:t>
            </a:r>
            <a:endParaRPr lang="en-US" sz="1300" dirty="0"/>
          </a:p>
        </p:txBody>
      </p:sp>
      <p:sp>
        <p:nvSpPr>
          <p:cNvPr id="29" name="Shape 27"/>
          <p:cNvSpPr/>
          <p:nvPr/>
        </p:nvSpPr>
        <p:spPr>
          <a:xfrm>
            <a:off x="7772400" y="3986784"/>
            <a:ext cx="1005840" cy="566928"/>
          </a:xfrm>
          <a:prstGeom prst="rect">
            <a:avLst>
              <a:gd name="adj" fmla="val 12903"/>
            </a:avLst>
          </a:prstGeom>
          <a:solidFill>
            <a:srgbClr val="FEE2E2"/>
          </a:solidFill>
          <a:ln w="12700">
            <a:solidFill>
              <a:srgbClr val="DC2626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7772400" y="3986784"/>
            <a:ext cx="100584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C2626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FALSE</a:t>
            </a:r>
            <a:endParaRPr lang="en-US" sz="11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Root 'end' — Meaning &amp; Origin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1371600"/>
          </a:xfrm>
          <a:prstGeom prst="rect">
            <a:avLst>
              <a:gd name="adj" fmla="val 8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1" name="Text 9"/>
          <p:cNvSpPr/>
          <p:nvPr/>
        </p:nvSpPr>
        <p:spPr>
          <a:xfrm>
            <a:off x="365760" y="777240"/>
            <a:ext cx="292608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5200" dirty="0"/>
          </a:p>
        </p:txBody>
      </p:sp>
      <p:sp>
        <p:nvSpPr>
          <p:cNvPr id="12" name="Shape 10"/>
          <p:cNvSpPr/>
          <p:nvPr/>
        </p:nvSpPr>
        <p:spPr>
          <a:xfrm>
            <a:off x="3246120" y="777240"/>
            <a:ext cx="36576" cy="1371600"/>
          </a:xfrm>
          <a:prstGeom prst="rect">
            <a:avLst/>
          </a:prstGeom>
          <a:solidFill>
            <a:srgbClr val="312E81"/>
          </a:solidFill>
          <a:ln w="12700">
            <a:solidFill>
              <a:srgbClr val="312E81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429000" y="777240"/>
            <a:ext cx="36576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to finish, stop, or limit</a:t>
            </a:r>
            <a:endParaRPr lang="en-US" sz="2000" dirty="0"/>
          </a:p>
        </p:txBody>
      </p:sp>
      <p:sp>
        <p:nvSpPr>
          <p:cNvPr id="14" name="Text 12"/>
          <p:cNvSpPr/>
          <p:nvPr/>
        </p:nvSpPr>
        <p:spPr>
          <a:xfrm>
            <a:off x="7132320" y="777240"/>
            <a:ext cx="160020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99F6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Origin: Latin: finis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65760" y="2331720"/>
            <a:ext cx="84124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using this root: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36576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36576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300" dirty="0"/>
          </a:p>
        </p:txBody>
      </p:sp>
      <p:sp>
        <p:nvSpPr>
          <p:cNvPr id="18" name="Shape 16"/>
          <p:cNvSpPr/>
          <p:nvPr/>
        </p:nvSpPr>
        <p:spPr>
          <a:xfrm>
            <a:off x="251460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251460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300" dirty="0"/>
          </a:p>
        </p:txBody>
      </p:sp>
      <p:sp>
        <p:nvSpPr>
          <p:cNvPr id="20" name="Shape 18"/>
          <p:cNvSpPr/>
          <p:nvPr/>
        </p:nvSpPr>
        <p:spPr>
          <a:xfrm>
            <a:off x="466344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466344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1300" dirty="0"/>
          </a:p>
        </p:txBody>
      </p:sp>
      <p:sp>
        <p:nvSpPr>
          <p:cNvPr id="22" name="Shape 20"/>
          <p:cNvSpPr/>
          <p:nvPr/>
        </p:nvSpPr>
        <p:spPr>
          <a:xfrm>
            <a:off x="6812280" y="2743200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812280" y="2743200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300" dirty="0"/>
          </a:p>
        </p:txBody>
      </p:sp>
      <p:sp>
        <p:nvSpPr>
          <p:cNvPr id="24" name="Shape 22"/>
          <p:cNvSpPr/>
          <p:nvPr/>
        </p:nvSpPr>
        <p:spPr>
          <a:xfrm>
            <a:off x="36576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36576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300" dirty="0"/>
          </a:p>
        </p:txBody>
      </p:sp>
      <p:sp>
        <p:nvSpPr>
          <p:cNvPr id="26" name="Shape 24"/>
          <p:cNvSpPr/>
          <p:nvPr/>
        </p:nvSpPr>
        <p:spPr>
          <a:xfrm>
            <a:off x="251460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251460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fender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4663440" y="3401568"/>
            <a:ext cx="2011680" cy="502920"/>
          </a:xfrm>
          <a:prstGeom prst="rect">
            <a:avLst>
              <a:gd name="adj" fmla="val 14545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3401568"/>
            <a:ext cx="20116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spend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with 'end'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matrix below. Choose morpheme parts to build a word. Not all combinations work!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64008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3291840" y="1234440"/>
            <a:ext cx="1645920" cy="457200"/>
          </a:xfrm>
          <a:prstGeom prst="rect">
            <a:avLst>
              <a:gd name="adj" fmla="val 120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291840" y="1234440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943600" y="1234440"/>
            <a:ext cx="1463040" cy="457200"/>
          </a:xfrm>
          <a:prstGeom prst="rect">
            <a:avLst>
              <a:gd name="adj" fmla="val 120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234440"/>
            <a:ext cx="1463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64008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solidFill>
            <a:srgbClr val="CCFBF1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3291840" y="1755648"/>
            <a:ext cx="164592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7556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64008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3291840" y="22128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22128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64008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3291840" y="26700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6700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64008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3291840" y="3127248"/>
            <a:ext cx="1645920" cy="420624"/>
          </a:xfrm>
          <a:prstGeom prst="rect">
            <a:avLst/>
          </a:prstGeom>
          <a:solidFill>
            <a:srgbClr val="F1F5F9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31272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solidFill>
            <a:srgbClr val="DDD6FE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64008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3291840" y="3584448"/>
            <a:ext cx="1645920" cy="420624"/>
          </a:xfrm>
          <a:prstGeom prst="rect">
            <a:avLst/>
          </a:prstGeom>
          <a:solidFill>
            <a:srgbClr val="F8FAFC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solidFill>
            <a:srgbClr val="FCE7F3"/>
          </a:solidFill>
          <a:ln w="12700">
            <a:solidFill>
              <a:srgbClr val="E5E7EB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584448"/>
            <a:ext cx="1463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Example: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1508760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5" name="Text 43"/>
          <p:cNvSpPr/>
          <p:nvPr/>
        </p:nvSpPr>
        <p:spPr>
          <a:xfrm>
            <a:off x="1508760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46" name="Text 44"/>
          <p:cNvSpPr/>
          <p:nvPr/>
        </p:nvSpPr>
        <p:spPr>
          <a:xfrm>
            <a:off x="2359152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47" name="Shape 45"/>
          <p:cNvSpPr/>
          <p:nvPr/>
        </p:nvSpPr>
        <p:spPr>
          <a:xfrm>
            <a:off x="2706624" y="4178808"/>
            <a:ext cx="1097280" cy="420624"/>
          </a:xfrm>
          <a:prstGeom prst="rect">
            <a:avLst>
              <a:gd name="adj" fmla="val 17391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48" name="Text 46"/>
          <p:cNvSpPr/>
          <p:nvPr/>
        </p:nvSpPr>
        <p:spPr>
          <a:xfrm>
            <a:off x="2706624" y="4178808"/>
            <a:ext cx="10972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300" dirty="0"/>
          </a:p>
        </p:txBody>
      </p:sp>
      <p:sp>
        <p:nvSpPr>
          <p:cNvPr id="49" name="Text 47"/>
          <p:cNvSpPr/>
          <p:nvPr/>
        </p:nvSpPr>
        <p:spPr>
          <a:xfrm>
            <a:off x="3831336" y="4178808"/>
            <a:ext cx="3200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+</a:t>
            </a:r>
            <a:endParaRPr lang="en-US" sz="1400" dirty="0"/>
          </a:p>
        </p:txBody>
      </p:sp>
      <p:sp>
        <p:nvSpPr>
          <p:cNvPr id="50" name="Shape 48"/>
          <p:cNvSpPr/>
          <p:nvPr/>
        </p:nvSpPr>
        <p:spPr>
          <a:xfrm>
            <a:off x="4178808" y="4178808"/>
            <a:ext cx="822960" cy="420624"/>
          </a:xfrm>
          <a:prstGeom prst="rect">
            <a:avLst>
              <a:gd name="adj" fmla="val 17391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51" name="Text 49"/>
          <p:cNvSpPr/>
          <p:nvPr/>
        </p:nvSpPr>
        <p:spPr>
          <a:xfrm>
            <a:off x="4178808" y="4178808"/>
            <a:ext cx="8229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074920" y="4178808"/>
            <a:ext cx="3657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=</a:t>
            </a:r>
            <a:endParaRPr lang="en-US" sz="1800" dirty="0"/>
          </a:p>
        </p:txBody>
      </p:sp>
      <p:sp>
        <p:nvSpPr>
          <p:cNvPr id="53" name="Shape 51"/>
          <p:cNvSpPr/>
          <p:nvPr/>
        </p:nvSpPr>
        <p:spPr>
          <a:xfrm>
            <a:off x="5486400" y="4178808"/>
            <a:ext cx="2194560" cy="420624"/>
          </a:xfrm>
          <a:prstGeom prst="rect">
            <a:avLst>
              <a:gd name="adj" fmla="val 17391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54" name="Text 52"/>
          <p:cNvSpPr/>
          <p:nvPr/>
        </p:nvSpPr>
        <p:spPr>
          <a:xfrm>
            <a:off x="5486400" y="4178808"/>
            <a:ext cx="21945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 Word Definitions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Match the word to its meaning: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365760" y="118872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2514600" y="118872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651760" y="118872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make something longer or stretch it out further.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365760" y="171907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365760" y="171907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2514600" y="171907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651760" y="171907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final part of something, like the ending of a story.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365760" y="2249424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" y="2249424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1200" dirty="0"/>
          </a:p>
        </p:txBody>
      </p:sp>
      <p:sp>
        <p:nvSpPr>
          <p:cNvPr id="21" name="Shape 19"/>
          <p:cNvSpPr/>
          <p:nvPr/>
        </p:nvSpPr>
        <p:spPr>
          <a:xfrm>
            <a:off x="2514600" y="2249424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2651760" y="2249424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use money to buy something, or to use time doing something.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365760" y="2779776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365760" y="2779776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25" name="Shape 23"/>
          <p:cNvSpPr/>
          <p:nvPr/>
        </p:nvSpPr>
        <p:spPr>
          <a:xfrm>
            <a:off x="2514600" y="2779776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651760" y="2779776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protect someone or something from danger or attack.</a:t>
            </a:r>
            <a:endParaRPr lang="en-US" sz="1200" dirty="0"/>
          </a:p>
        </p:txBody>
      </p:sp>
      <p:sp>
        <p:nvSpPr>
          <p:cNvPr id="27" name="Shape 25"/>
          <p:cNvSpPr/>
          <p:nvPr/>
        </p:nvSpPr>
        <p:spPr>
          <a:xfrm>
            <a:off x="365760" y="3310128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365760" y="3310128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2514600" y="3310128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Text 28"/>
          <p:cNvSpPr/>
          <p:nvPr/>
        </p:nvSpPr>
        <p:spPr>
          <a:xfrm>
            <a:off x="2651760" y="3310128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curved cover over a car or bike wheel that stops mud splashing.</a:t>
            </a:r>
            <a:endParaRPr lang="en-US" sz="1200" dirty="0"/>
          </a:p>
        </p:txBody>
      </p:sp>
      <p:sp>
        <p:nvSpPr>
          <p:cNvPr id="31" name="Shape 29"/>
          <p:cNvSpPr/>
          <p:nvPr/>
        </p:nvSpPr>
        <p:spPr>
          <a:xfrm>
            <a:off x="365760" y="3840480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365760" y="3840480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fender</a:t>
            </a:r>
            <a:endParaRPr lang="en-US" sz="1200" dirty="0"/>
          </a:p>
        </p:txBody>
      </p:sp>
      <p:sp>
        <p:nvSpPr>
          <p:cNvPr id="33" name="Shape 31"/>
          <p:cNvSpPr/>
          <p:nvPr/>
        </p:nvSpPr>
        <p:spPr>
          <a:xfrm>
            <a:off x="2514600" y="3840480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651760" y="3840480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mix things together smoothly so they become one.</a:t>
            </a:r>
            <a:endParaRPr lang="en-US" sz="1200" dirty="0"/>
          </a:p>
        </p:txBody>
      </p:sp>
      <p:sp>
        <p:nvSpPr>
          <p:cNvPr id="35" name="Shape 33"/>
          <p:cNvSpPr/>
          <p:nvPr/>
        </p:nvSpPr>
        <p:spPr>
          <a:xfrm>
            <a:off x="365760" y="4370832"/>
            <a:ext cx="2011680" cy="457200"/>
          </a:xfrm>
          <a:prstGeom prst="rect">
            <a:avLst>
              <a:gd name="adj" fmla="val 12000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365760" y="4370832"/>
            <a:ext cx="20116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spend</a:t>
            </a:r>
            <a:endParaRPr lang="en-US" sz="1200" dirty="0"/>
          </a:p>
        </p:txBody>
      </p:sp>
      <p:sp>
        <p:nvSpPr>
          <p:cNvPr id="37" name="Shape 35"/>
          <p:cNvSpPr/>
          <p:nvPr/>
        </p:nvSpPr>
        <p:spPr>
          <a:xfrm>
            <a:off x="2514600" y="4370832"/>
            <a:ext cx="6263640" cy="457200"/>
          </a:xfrm>
          <a:prstGeom prst="rect">
            <a:avLst>
              <a:gd name="adj" fmla="val 12000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2651760" y="4370832"/>
            <a:ext cx="60350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that seems to go on forever with no stop.</a:t>
            </a:r>
            <a:endParaRPr lang="en-US" sz="12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1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Using 'end' Words in Sentences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these example sentences. Underline the 'end' word and discuss its meaning.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261872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Shape 10"/>
          <p:cNvSpPr/>
          <p:nvPr/>
        </p:nvSpPr>
        <p:spPr>
          <a:xfrm>
            <a:off x="365760" y="1261872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713232" y="1261872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365760" y="1261872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endParaRPr lang="en-US" sz="2000" dirty="0"/>
          </a:p>
        </p:txBody>
      </p:sp>
      <p:sp>
        <p:nvSpPr>
          <p:cNvPr id="15" name="Text 13"/>
          <p:cNvSpPr/>
          <p:nvPr/>
        </p:nvSpPr>
        <p:spPr>
          <a:xfrm>
            <a:off x="960120" y="1307592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teacher asked the students to extend their story by adding two more paragraphs.</a:t>
            </a:r>
            <a:endParaRPr lang="en-US" sz="1500" dirty="0"/>
          </a:p>
        </p:txBody>
      </p:sp>
      <p:sp>
        <p:nvSpPr>
          <p:cNvPr id="16" name="Shape 14"/>
          <p:cNvSpPr/>
          <p:nvPr/>
        </p:nvSpPr>
        <p:spPr>
          <a:xfrm>
            <a:off x="365760" y="2468880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365760" y="2468880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8" name="Shape 16"/>
          <p:cNvSpPr/>
          <p:nvPr/>
        </p:nvSpPr>
        <p:spPr>
          <a:xfrm>
            <a:off x="713232" y="2468880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2468880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endParaRPr lang="en-US" sz="2000" dirty="0"/>
          </a:p>
        </p:txBody>
      </p:sp>
      <p:sp>
        <p:nvSpPr>
          <p:cNvPr id="20" name="Text 18"/>
          <p:cNvSpPr/>
          <p:nvPr/>
        </p:nvSpPr>
        <p:spPr>
          <a:xfrm>
            <a:off x="960120" y="2514600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endless rain during the holidays made it impossible to play outside.</a:t>
            </a:r>
            <a:endParaRPr lang="en-US" sz="1500" dirty="0"/>
          </a:p>
        </p:txBody>
      </p:sp>
      <p:sp>
        <p:nvSpPr>
          <p:cNvPr id="21" name="Shape 19"/>
          <p:cNvSpPr/>
          <p:nvPr/>
        </p:nvSpPr>
        <p:spPr>
          <a:xfrm>
            <a:off x="365760" y="3675888"/>
            <a:ext cx="8412480" cy="1005840"/>
          </a:xfrm>
          <a:prstGeom prst="rect">
            <a:avLst>
              <a:gd name="adj" fmla="val 9091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65760" y="3675888"/>
            <a:ext cx="502920" cy="1005840"/>
          </a:xfrm>
          <a:prstGeom prst="rect">
            <a:avLst>
              <a:gd name="adj" fmla="val 18182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713232" y="3675888"/>
            <a:ext cx="91440" cy="1005840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3675888"/>
            <a:ext cx="50292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endParaRPr lang="en-US" sz="2000" dirty="0"/>
          </a:p>
        </p:txBody>
      </p:sp>
      <p:sp>
        <p:nvSpPr>
          <p:cNvPr id="25" name="Text 23"/>
          <p:cNvSpPr/>
          <p:nvPr/>
        </p:nvSpPr>
        <p:spPr>
          <a:xfrm>
            <a:off x="960120" y="3721608"/>
            <a:ext cx="763524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5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watched the exciting ending of the film together as a class.</a:t>
            </a:r>
            <a:endParaRPr lang="en-US" sz="15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Check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1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</a:t>
            </a:r>
            <a:endParaRPr lang="en-US" sz="2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scientist worked hard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extend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her research, and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her report was very impressive.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173736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173736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73736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173736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4572000" y="3456432"/>
            <a:ext cx="256032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4572000" y="3977640"/>
            <a:ext cx="256032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4572000" y="3456432"/>
            <a:ext cx="2560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4572000" y="4005072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out, beyond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x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t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2)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2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42773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42773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63931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63931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06247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6247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27405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727405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312E8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457200" y="1645920"/>
            <a:ext cx="1097280" cy="411480"/>
          </a:xfrm>
          <a:prstGeom prst="rect">
            <a:avLst>
              <a:gd name="adj" fmla="val 17778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457200" y="1645920"/>
            <a:ext cx="1097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148840"/>
            <a:ext cx="841248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&amp;</a:t>
            </a:r>
            <a:endParaRPr lang="en-US" sz="4400" dirty="0"/>
          </a:p>
          <a:p>
            <a:pPr algn="l" indent="0" marL="0">
              <a:buNone/>
            </a:pPr>
            <a:r>
              <a:rPr lang="en-US" sz="44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57200" y="347472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l" indent="0" marL="0">
              <a:buNone/>
            </a:pPr>
            <a:r>
              <a:rPr lang="en-US" sz="1600" dirty="0">
                <a:solidFill>
                  <a:srgbClr val="A5B4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Listen → Write → Reveal → Build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solidFill>
            <a:srgbClr val="0F172A"/>
          </a:solidFill>
          <a:ln w="12700">
            <a:solidFill>
              <a:srgbClr val="0F172A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0" y="4754880"/>
            <a:ext cx="9144000" cy="3886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</a:t>
            </a:r>
            <a:endParaRPr lang="en-US" sz="10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Listen &amp; Write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77240"/>
            <a:ext cx="8412480" cy="530352"/>
          </a:xfrm>
          <a:prstGeom prst="rect">
            <a:avLst>
              <a:gd name="adj" fmla="val 13793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77240"/>
            <a:ext cx="8229600" cy="53035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📢  Teacher reads aloud. Students write the sentence in their books.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365760" y="160020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365760" y="219456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365760" y="2788920"/>
            <a:ext cx="8412480" cy="0"/>
          </a:xfrm>
          <a:prstGeom prst="line">
            <a:avLst/>
          </a:prstGeom>
          <a:noFill/>
          <a:ln w="1905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3383280"/>
            <a:ext cx="841248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sentence here ↑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01168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01168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3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focus words</a:t>
            </a:r>
            <a:endParaRPr lang="en-US" sz="2800" dirty="0"/>
          </a:p>
        </p:txBody>
      </p:sp>
      <p:sp>
        <p:nvSpPr>
          <p:cNvPr id="18" name="Shape 16"/>
          <p:cNvSpPr/>
          <p:nvPr/>
        </p:nvSpPr>
        <p:spPr>
          <a:xfrm>
            <a:off x="4846320" y="3822192"/>
            <a:ext cx="2286000" cy="658368"/>
          </a:xfrm>
          <a:prstGeom prst="rect">
            <a:avLst>
              <a:gd name="adj" fmla="val 13889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4846320" y="3822192"/>
            <a:ext cx="228600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92400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2</a:t>
            </a:r>
            <a:pPr algn="ctr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  punctuation marks</a:t>
            </a:r>
            <a:endParaRPr lang="en-US" sz="28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Dictation — Reveal &amp; Underline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Check your sentence. Underline the focus words.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88720"/>
            <a:ext cx="8412480" cy="1554480"/>
          </a:xfrm>
          <a:prstGeom prst="rect">
            <a:avLst>
              <a:gd name="adj" fmla="val 7059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548640" y="1261872"/>
            <a:ext cx="8046720" cy="14081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had to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defend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our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endless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project work, but thankfully the </a:t>
            </a:r>
            <a:pPr algn="l" indent="0" marL="0">
              <a:buNone/>
            </a:pPr>
            <a:r>
              <a:rPr lang="en-US" sz="1800" b="1" dirty="0">
                <a:solidFill>
                  <a:srgbClr val="0D9488"/>
                </a:solidFill>
                <a:highlight>
                  <a:srgbClr val="CCFBF1"/>
                </a:highlight>
                <a:latin typeface="Calibri" pitchFamily="34" charset="0"/>
                <a:ea typeface="Calibri" pitchFamily="34" charset="-122"/>
                <a:cs typeface="Calibri" pitchFamily="34" charset="-120"/>
              </a:rPr>
              <a:t>blending</a:t>
            </a:r>
            <a:pPr algn="l" indent="0" marL="0">
              <a:buNone/>
            </a:pPr>
            <a:r>
              <a:rPr lang="en-US" sz="1800" dirty="0">
                <a:solidFill>
                  <a:srgbClr val="0F17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of our ideas impressed everyone!</a:t>
            </a:r>
            <a:endParaRPr lang="en-US" sz="1800" dirty="0"/>
          </a:p>
        </p:txBody>
      </p:sp>
      <p:sp>
        <p:nvSpPr>
          <p:cNvPr id="13" name="Shape 11"/>
          <p:cNvSpPr/>
          <p:nvPr/>
        </p:nvSpPr>
        <p:spPr>
          <a:xfrm>
            <a:off x="365760" y="285292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02920" y="285292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rewrite each focus word below with space between letters — leave room for your breakdown.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41148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>
            <a:off x="41148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41148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1400" dirty="0"/>
          </a:p>
        </p:txBody>
      </p:sp>
      <p:sp>
        <p:nvSpPr>
          <p:cNvPr id="18" name="Text 16"/>
          <p:cNvSpPr/>
          <p:nvPr/>
        </p:nvSpPr>
        <p:spPr>
          <a:xfrm>
            <a:off x="41148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19" name="Shape 17"/>
          <p:cNvSpPr/>
          <p:nvPr/>
        </p:nvSpPr>
        <p:spPr>
          <a:xfrm>
            <a:off x="318516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318516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318516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318516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5958840" y="3456432"/>
            <a:ext cx="2499360" cy="1005840"/>
          </a:xfrm>
          <a:prstGeom prst="rect">
            <a:avLst>
              <a:gd name="adj" fmla="val 727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5958840" y="3977640"/>
            <a:ext cx="249936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5958840" y="3456432"/>
            <a:ext cx="249936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blending</a:t>
            </a:r>
            <a:endParaRPr lang="en-US" sz="1400" dirty="0"/>
          </a:p>
        </p:txBody>
      </p:sp>
      <p:sp>
        <p:nvSpPr>
          <p:cNvPr id="26" name="Text 24"/>
          <p:cNvSpPr/>
          <p:nvPr/>
        </p:nvSpPr>
        <p:spPr>
          <a:xfrm>
            <a:off x="5958840" y="4005072"/>
            <a:ext cx="249936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i="1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your breakdown below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1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away from, down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fend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2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CCFBF1"/>
          </a:solidFill>
          <a:ln w="19050">
            <a:solidFill>
              <a:srgbClr val="0D9488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finish or limit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without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less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254649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254649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293146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293146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4331643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331643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5370141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5370141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6408638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6408638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7447135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7447135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ss</a:t>
            </a:r>
            <a:endParaRPr lang="en-US" sz="900" dirty="0"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Attempt (Word 3 of 3)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EF3C7"/>
          </a:solidFill>
          <a:ln w="12700">
            <a:solidFill>
              <a:srgbClr val="D97706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the morpheme breakdown, syllables, and phonemes for this word. Check your work on the next slides.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1874520" y="2240280"/>
            <a:ext cx="6903720" cy="841248"/>
          </a:xfrm>
          <a:prstGeom prst="rect">
            <a:avLst>
              <a:gd name="adj" fmla="val 6522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17" name="Text 15"/>
          <p:cNvSpPr/>
          <p:nvPr/>
        </p:nvSpPr>
        <p:spPr>
          <a:xfrm>
            <a:off x="1874520" y="2240280"/>
            <a:ext cx="6903720" cy="8412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18" name="Shape 16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2" name="Shape 20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Morphemes Revealed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DDD6FE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4C1D9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Check your morpheme breakdown. Morphemes are the meaningful parts.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mix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5" name="Text 23"/>
          <p:cNvSpPr/>
          <p:nvPr/>
        </p:nvSpPr>
        <p:spPr>
          <a:xfrm>
            <a:off x="1874520" y="3273552"/>
            <a:ext cx="6903720" cy="65836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  <p:sp>
        <p:nvSpPr>
          <p:cNvPr id="26" name="Shape 24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29" name="Text 27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Syllables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766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syllable split. Syllables are the beats in the word.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mix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804672"/>
          </a:xfrm>
          <a:prstGeom prst="rect">
            <a:avLst>
              <a:gd name="adj" fmla="val 6818"/>
            </a:avLst>
          </a:prstGeom>
          <a:solidFill>
            <a:srgbClr val="F8FAFC"/>
          </a:solidFill>
          <a:ln w="12700">
            <a:solidFill>
              <a:srgbClr val="E2E8F0"/>
            </a:solidFill>
            <a:prstDash val="dash"/>
          </a:ln>
        </p:spPr>
      </p:sp>
      <p:sp>
        <p:nvSpPr>
          <p:cNvPr id="33" name="Text 31"/>
          <p:cNvSpPr/>
          <p:nvPr/>
        </p:nvSpPr>
        <p:spPr>
          <a:xfrm>
            <a:off x="1874520" y="4096512"/>
            <a:ext cx="6903720" cy="8046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i="1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here...</a:t>
            </a:r>
            <a:endParaRPr lang="en-US" sz="1100" dirty="0"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Breakdown — + Phonemes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365760" y="749808"/>
            <a:ext cx="8412480" cy="475488"/>
          </a:xfrm>
          <a:prstGeom prst="rect">
            <a:avLst>
              <a:gd name="adj" fmla="val 15385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02920" y="749808"/>
            <a:ext cx="822960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9D174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Now check your phonemes. Phonemes are the individual sounds.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2743200" y="1325880"/>
            <a:ext cx="3657600" cy="731520"/>
          </a:xfrm>
          <a:prstGeom prst="rect">
            <a:avLst>
              <a:gd name="adj" fmla="val 12500"/>
            </a:avLst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3" name="Text 11"/>
          <p:cNvSpPr/>
          <p:nvPr/>
        </p:nvSpPr>
        <p:spPr>
          <a:xfrm>
            <a:off x="2743200" y="1325880"/>
            <a:ext cx="36576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blending</a:t>
            </a:r>
            <a:endParaRPr lang="en-US" sz="2800" dirty="0"/>
          </a:p>
        </p:txBody>
      </p:sp>
      <p:sp>
        <p:nvSpPr>
          <p:cNvPr id="14" name="Shape 12"/>
          <p:cNvSpPr/>
          <p:nvPr/>
        </p:nvSpPr>
        <p:spPr>
          <a:xfrm>
            <a:off x="365760" y="2240280"/>
            <a:ext cx="1371600" cy="841248"/>
          </a:xfrm>
          <a:prstGeom prst="rect">
            <a:avLst>
              <a:gd name="adj" fmla="val 6522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365760" y="2240280"/>
            <a:ext cx="137160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Morphemes</a:t>
            </a:r>
            <a:endParaRPr lang="en-US" sz="1100" dirty="0"/>
          </a:p>
        </p:txBody>
      </p:sp>
      <p:sp>
        <p:nvSpPr>
          <p:cNvPr id="16" name="Shape 14"/>
          <p:cNvSpPr/>
          <p:nvPr/>
        </p:nvSpPr>
        <p:spPr>
          <a:xfrm>
            <a:off x="293827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DDD6FE"/>
          </a:solidFill>
          <a:ln w="19050">
            <a:solidFill>
              <a:srgbClr val="7C3AED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17" name="Text 15"/>
          <p:cNvSpPr/>
          <p:nvPr/>
        </p:nvSpPr>
        <p:spPr>
          <a:xfrm>
            <a:off x="293827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293827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mix together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5803392" y="2258568"/>
            <a:ext cx="1828800" cy="292608"/>
          </a:xfrm>
          <a:prstGeom prst="rect">
            <a:avLst>
              <a:gd name="adj" fmla="val 25000"/>
            </a:avLst>
          </a:prstGeom>
          <a:solidFill>
            <a:srgbClr val="FCE7F3"/>
          </a:solidFill>
          <a:ln w="19050">
            <a:solidFill>
              <a:srgbClr val="DB2777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5803392" y="2258568"/>
            <a:ext cx="18288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803392" y="2569464"/>
            <a:ext cx="18288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action happening now</a:t>
            </a:r>
            <a:endParaRPr lang="en-US" sz="850" dirty="0"/>
          </a:p>
        </p:txBody>
      </p:sp>
      <p:sp>
        <p:nvSpPr>
          <p:cNvPr id="22" name="Shape 20"/>
          <p:cNvSpPr/>
          <p:nvPr/>
        </p:nvSpPr>
        <p:spPr>
          <a:xfrm>
            <a:off x="365760" y="3273552"/>
            <a:ext cx="1371600" cy="658368"/>
          </a:xfrm>
          <a:prstGeom prst="rect">
            <a:avLst>
              <a:gd name="adj" fmla="val 8333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365760" y="32735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Syllables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1874520" y="3273552"/>
            <a:ext cx="6903720" cy="658368"/>
          </a:xfrm>
          <a:prstGeom prst="rect">
            <a:avLst>
              <a:gd name="adj" fmla="val 8333"/>
            </a:avLst>
          </a:prstGeom>
          <a:solidFill>
            <a:srgbClr val="CCFBF1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992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29992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4645152" y="3364992"/>
            <a:ext cx="1097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·</a:t>
            </a:r>
            <a:endParaRPr lang="en-US" sz="1600" dirty="0"/>
          </a:p>
        </p:txBody>
      </p:sp>
      <p:sp>
        <p:nvSpPr>
          <p:cNvPr id="28" name="Shape 26"/>
          <p:cNvSpPr/>
          <p:nvPr/>
        </p:nvSpPr>
        <p:spPr>
          <a:xfrm>
            <a:off x="5742432" y="3364992"/>
            <a:ext cx="1645920" cy="475488"/>
          </a:xfrm>
          <a:prstGeom prst="rect">
            <a:avLst>
              <a:gd name="adj" fmla="val 9615"/>
            </a:avLst>
          </a:prstGeom>
          <a:solidFill>
            <a:srgbClr val="FFFFFF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5742432" y="3364992"/>
            <a:ext cx="164592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0D9488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ing</a:t>
            </a:r>
            <a:endParaRPr lang="en-US" sz="1400" dirty="0"/>
          </a:p>
        </p:txBody>
      </p:sp>
      <p:sp>
        <p:nvSpPr>
          <p:cNvPr id="30" name="Shape 28"/>
          <p:cNvSpPr/>
          <p:nvPr/>
        </p:nvSpPr>
        <p:spPr>
          <a:xfrm>
            <a:off x="365760" y="4096512"/>
            <a:ext cx="1371600" cy="804672"/>
          </a:xfrm>
          <a:prstGeom prst="rect">
            <a:avLst>
              <a:gd name="adj" fmla="val 6818"/>
            </a:avLst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365760" y="4096512"/>
            <a:ext cx="1371600" cy="8046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475569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Phonemes</a:t>
            </a:r>
            <a:endParaRPr lang="en-US" sz="1100" dirty="0"/>
          </a:p>
        </p:txBody>
      </p:sp>
      <p:sp>
        <p:nvSpPr>
          <p:cNvPr id="32" name="Shape 30"/>
          <p:cNvSpPr/>
          <p:nvPr/>
        </p:nvSpPr>
        <p:spPr>
          <a:xfrm>
            <a:off x="1874520" y="4096512"/>
            <a:ext cx="6903720" cy="658368"/>
          </a:xfrm>
          <a:prstGeom prst="rect">
            <a:avLst>
              <a:gd name="adj" fmla="val 8333"/>
            </a:avLst>
          </a:prstGeom>
          <a:solidFill>
            <a:srgbClr val="FCE7F3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3" name="Shape 31"/>
          <p:cNvSpPr/>
          <p:nvPr/>
        </p:nvSpPr>
        <p:spPr>
          <a:xfrm>
            <a:off x="212483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212483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303352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6" name="Text 34"/>
          <p:cNvSpPr/>
          <p:nvPr/>
        </p:nvSpPr>
        <p:spPr>
          <a:xfrm>
            <a:off x="303352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l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394220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394220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485089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485089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575957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75957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6668262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4" name="Text 42"/>
          <p:cNvSpPr/>
          <p:nvPr/>
        </p:nvSpPr>
        <p:spPr>
          <a:xfrm>
            <a:off x="6668262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i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7576947" y="4169664"/>
            <a:ext cx="685800" cy="475488"/>
          </a:xfrm>
          <a:prstGeom prst="rect">
            <a:avLst>
              <a:gd name="adj" fmla="val 7692"/>
            </a:avLst>
          </a:prstGeom>
          <a:solidFill>
            <a:srgbClr val="FFFFFF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7576947" y="4169664"/>
            <a:ext cx="68580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ng</a:t>
            </a:r>
            <a:endParaRPr lang="en-US" sz="900" dirty="0"/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Build Your Own Words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2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 the Word Labs Morpheme Builder to find words, then fill in the matrix below.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365760" y="1170432"/>
            <a:ext cx="73152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Name: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1143000" y="1371600"/>
            <a:ext cx="292608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663440" y="1170432"/>
            <a:ext cx="6400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1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Date:</a:t>
            </a:r>
            <a:endParaRPr lang="en-US" sz="1100" dirty="0"/>
          </a:p>
        </p:txBody>
      </p:sp>
      <p:sp>
        <p:nvSpPr>
          <p:cNvPr id="14" name="Shape 12"/>
          <p:cNvSpPr/>
          <p:nvPr/>
        </p:nvSpPr>
        <p:spPr>
          <a:xfrm>
            <a:off x="5349240" y="1371600"/>
            <a:ext cx="3246120" cy="0"/>
          </a:xfrm>
          <a:prstGeom prst="line">
            <a:avLst/>
          </a:prstGeom>
          <a:noFill/>
          <a:ln w="12700">
            <a:solidFill>
              <a:srgbClr val="475569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365760" y="1600200"/>
            <a:ext cx="2468880" cy="438912"/>
          </a:xfrm>
          <a:prstGeom prst="rect">
            <a:avLst>
              <a:gd name="adj" fmla="val 12500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365760" y="1600200"/>
            <a:ext cx="246888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29718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29718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0" y="1600200"/>
            <a:ext cx="2834640" cy="438912"/>
          </a:xfrm>
          <a:prstGeom prst="rect">
            <a:avLst>
              <a:gd name="adj" fmla="val 12500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943600" y="1600200"/>
            <a:ext cx="283464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365760" y="2066544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Shape 20"/>
          <p:cNvSpPr/>
          <p:nvPr/>
        </p:nvSpPr>
        <p:spPr>
          <a:xfrm>
            <a:off x="29718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3" name="Shape 21"/>
          <p:cNvSpPr/>
          <p:nvPr/>
        </p:nvSpPr>
        <p:spPr>
          <a:xfrm>
            <a:off x="5943600" y="2066544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365760" y="2404872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29718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2404872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Shape 25"/>
          <p:cNvSpPr/>
          <p:nvPr/>
        </p:nvSpPr>
        <p:spPr>
          <a:xfrm>
            <a:off x="365760" y="2743200"/>
            <a:ext cx="246888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8" name="Shape 26"/>
          <p:cNvSpPr/>
          <p:nvPr/>
        </p:nvSpPr>
        <p:spPr>
          <a:xfrm>
            <a:off x="29718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Shape 27"/>
          <p:cNvSpPr/>
          <p:nvPr/>
        </p:nvSpPr>
        <p:spPr>
          <a:xfrm>
            <a:off x="5943600" y="2743200"/>
            <a:ext cx="2834640" cy="32004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5760" y="3081528"/>
            <a:ext cx="246888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29718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Shape 30"/>
          <p:cNvSpPr/>
          <p:nvPr/>
        </p:nvSpPr>
        <p:spPr>
          <a:xfrm>
            <a:off x="5943600" y="3081528"/>
            <a:ext cx="2834640" cy="320040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365760" y="3474720"/>
            <a:ext cx="841248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Words I made:</a:t>
            </a:r>
            <a:endParaRPr lang="en-US" sz="1200" dirty="0"/>
          </a:p>
        </p:txBody>
      </p:sp>
      <p:sp>
        <p:nvSpPr>
          <p:cNvPr id="34" name="Shape 32"/>
          <p:cNvSpPr/>
          <p:nvPr/>
        </p:nvSpPr>
        <p:spPr>
          <a:xfrm>
            <a:off x="36576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20040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6035040" y="3803904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7" name="Shape 35"/>
          <p:cNvSpPr/>
          <p:nvPr/>
        </p:nvSpPr>
        <p:spPr>
          <a:xfrm>
            <a:off x="36576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8" name="Shape 36"/>
          <p:cNvSpPr/>
          <p:nvPr/>
        </p:nvSpPr>
        <p:spPr>
          <a:xfrm>
            <a:off x="320040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39" name="Shape 37"/>
          <p:cNvSpPr/>
          <p:nvPr/>
        </p:nvSpPr>
        <p:spPr>
          <a:xfrm>
            <a:off x="6035040" y="4151376"/>
            <a:ext cx="2606040" cy="0"/>
          </a:xfrm>
          <a:prstGeom prst="line">
            <a:avLst/>
          </a:prstGeom>
          <a:noFill/>
          <a:ln w="9525">
            <a:solidFill>
              <a:srgbClr val="475569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365760" y="4535424"/>
            <a:ext cx="8412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0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Choose 3 words and write a sentence for each:</a:t>
            </a:r>
            <a:endParaRPr lang="en-US" sz="10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4338CA"/>
          </a:solidFill>
          <a:ln w="12700">
            <a:solidFill>
              <a:srgbClr val="4338CA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274320" y="118872"/>
            <a:ext cx="1005840" cy="402336"/>
          </a:xfrm>
          <a:prstGeom prst="rect">
            <a:avLst>
              <a:gd name="adj" fmla="val 18182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274320" y="118872"/>
            <a:ext cx="1005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Day 3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1417320" y="0"/>
            <a:ext cx="74066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Word Matrix — Review Answers</a:t>
            </a:r>
            <a:endParaRPr lang="en-US" sz="1600" dirty="0"/>
          </a:p>
        </p:txBody>
      </p:sp>
      <p:sp>
        <p:nvSpPr>
          <p:cNvPr id="6" name="Shape 4"/>
          <p:cNvSpPr/>
          <p:nvPr/>
        </p:nvSpPr>
        <p:spPr>
          <a:xfrm>
            <a:off x="7863840" y="91440"/>
            <a:ext cx="1005840" cy="457200"/>
          </a:xfrm>
          <a:prstGeom prst="rect">
            <a:avLst>
              <a:gd name="adj" fmla="val 20000"/>
            </a:avLst>
          </a:prstGeom>
          <a:solidFill>
            <a:srgbClr val="312E81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863840" y="91440"/>
            <a:ext cx="10058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6366F1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solidFill>
            <a:srgbClr val="E2E8F0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0" y="4869180"/>
            <a:ext cx="91440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Labs  •  wordlabs.app  •  Root: 'end' = to finish, stop, or limit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365760" y="749808"/>
            <a:ext cx="841248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Here are some words you could have made. Check your list!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2468880" cy="420624"/>
          </a:xfrm>
          <a:prstGeom prst="rect">
            <a:avLst>
              <a:gd name="adj" fmla="val 13043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65760" y="1115568"/>
            <a:ext cx="246888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Prefixes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29718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0D9488"/>
          </a:solidFill>
          <a:ln w="12700">
            <a:solidFill>
              <a:srgbClr val="0D948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29718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'end'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5943600" y="1115568"/>
            <a:ext cx="2834640" cy="420624"/>
          </a:xfrm>
          <a:prstGeom prst="rect">
            <a:avLst>
              <a:gd name="adj" fmla="val 13043"/>
            </a:avLst>
          </a:prstGeom>
          <a:solidFill>
            <a:srgbClr val="DB2777"/>
          </a:solidFill>
          <a:ln w="12700">
            <a:solidFill>
              <a:srgbClr val="DB2777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5943600" y="1115568"/>
            <a:ext cx="28346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Suffixes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365760" y="1563624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ap-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solidFill>
            <a:srgbClr val="CCFBF1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29718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0F766E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</a:t>
            </a:r>
            <a:endParaRPr lang="en-US" sz="1300" dirty="0"/>
          </a:p>
        </p:txBody>
      </p:sp>
      <p:sp>
        <p:nvSpPr>
          <p:cNvPr id="21" name="Shape 19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5943600" y="1563624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-ed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4" name="Text 22"/>
          <p:cNvSpPr/>
          <p:nvPr/>
        </p:nvSpPr>
        <p:spPr>
          <a:xfrm>
            <a:off x="365760" y="1984248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bl-</a:t>
            </a:r>
            <a:endParaRPr lang="en-US" sz="1300" dirty="0"/>
          </a:p>
        </p:txBody>
      </p:sp>
      <p:sp>
        <p:nvSpPr>
          <p:cNvPr id="25" name="Shape 23"/>
          <p:cNvSpPr/>
          <p:nvPr/>
        </p:nvSpPr>
        <p:spPr>
          <a:xfrm>
            <a:off x="2971800" y="1984248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6" name="Shape 24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5943600" y="1984248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-ing</a:t>
            </a:r>
            <a:endParaRPr lang="en-US" sz="1300" dirty="0"/>
          </a:p>
        </p:txBody>
      </p:sp>
      <p:sp>
        <p:nvSpPr>
          <p:cNvPr id="28" name="Shape 26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365760" y="2404872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d-</a:t>
            </a:r>
            <a:endParaRPr lang="en-US" sz="1300" dirty="0"/>
          </a:p>
        </p:txBody>
      </p:sp>
      <p:sp>
        <p:nvSpPr>
          <p:cNvPr id="30" name="Shape 28"/>
          <p:cNvSpPr/>
          <p:nvPr/>
        </p:nvSpPr>
        <p:spPr>
          <a:xfrm>
            <a:off x="2971800" y="2404872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1" name="Shape 29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5943600" y="2404872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-er</a:t>
            </a:r>
            <a:endParaRPr lang="en-US" sz="1300" dirty="0"/>
          </a:p>
        </p:txBody>
      </p:sp>
      <p:sp>
        <p:nvSpPr>
          <p:cNvPr id="33" name="Shape 31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4" name="Text 32"/>
          <p:cNvSpPr/>
          <p:nvPr/>
        </p:nvSpPr>
        <p:spPr>
          <a:xfrm>
            <a:off x="365760" y="2825496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ext-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2971800" y="2825496"/>
            <a:ext cx="2834640" cy="402336"/>
          </a:xfrm>
          <a:prstGeom prst="rect">
            <a:avLst/>
          </a:prstGeom>
          <a:solidFill>
            <a:srgbClr val="F1F5F9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6" name="Shape 34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5943600" y="2825496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-less</a:t>
            </a:r>
            <a:endParaRPr lang="en-US" sz="1300" dirty="0"/>
          </a:p>
        </p:txBody>
      </p:sp>
      <p:sp>
        <p:nvSpPr>
          <p:cNvPr id="38" name="Shape 36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solidFill>
            <a:srgbClr val="DDD6FE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39" name="Text 37"/>
          <p:cNvSpPr/>
          <p:nvPr/>
        </p:nvSpPr>
        <p:spPr>
          <a:xfrm>
            <a:off x="365760" y="3246120"/>
            <a:ext cx="24688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4C1D95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sp-</a:t>
            </a:r>
            <a:endParaRPr lang="en-US" sz="1300" dirty="0"/>
          </a:p>
        </p:txBody>
      </p:sp>
      <p:sp>
        <p:nvSpPr>
          <p:cNvPr id="40" name="Shape 38"/>
          <p:cNvSpPr/>
          <p:nvPr/>
        </p:nvSpPr>
        <p:spPr>
          <a:xfrm>
            <a:off x="2971800" y="3246120"/>
            <a:ext cx="2834640" cy="402336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1" name="Shape 39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solidFill>
            <a:srgbClr val="FCE7F3"/>
          </a:solidFill>
          <a:ln w="12700">
            <a:solidFill>
              <a:srgbClr val="E2E8F0"/>
            </a:solidFill>
            <a:prstDash val="solid"/>
          </a:ln>
        </p:spPr>
      </p:sp>
      <p:sp>
        <p:nvSpPr>
          <p:cNvPr id="42" name="Text 40"/>
          <p:cNvSpPr/>
          <p:nvPr/>
        </p:nvSpPr>
        <p:spPr>
          <a:xfrm>
            <a:off x="5943600" y="3246120"/>
            <a:ext cx="28346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9D174D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-ure</a:t>
            </a:r>
            <a:endParaRPr lang="en-US" sz="1300" dirty="0"/>
          </a:p>
        </p:txBody>
      </p:sp>
      <p:sp>
        <p:nvSpPr>
          <p:cNvPr id="43" name="Text 41"/>
          <p:cNvSpPr/>
          <p:nvPr/>
        </p:nvSpPr>
        <p:spPr>
          <a:xfrm>
            <a:off x="365760" y="3611880"/>
            <a:ext cx="1828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1200" b="1" dirty="0">
                <a:solidFill>
                  <a:srgbClr val="0F172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Sample words:</a:t>
            </a:r>
            <a:endParaRPr lang="en-US" sz="1200" dirty="0"/>
          </a:p>
        </p:txBody>
      </p:sp>
      <p:sp>
        <p:nvSpPr>
          <p:cNvPr id="44" name="Shape 42"/>
          <p:cNvSpPr/>
          <p:nvPr/>
        </p:nvSpPr>
        <p:spPr>
          <a:xfrm>
            <a:off x="365760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5" name="Text 43"/>
          <p:cNvSpPr/>
          <p:nvPr/>
        </p:nvSpPr>
        <p:spPr>
          <a:xfrm>
            <a:off x="365760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ending</a:t>
            </a:r>
            <a:endParaRPr lang="en-US" sz="1200" dirty="0"/>
          </a:p>
        </p:txBody>
      </p:sp>
      <p:sp>
        <p:nvSpPr>
          <p:cNvPr id="46" name="Shape 44"/>
          <p:cNvSpPr/>
          <p:nvPr/>
        </p:nvSpPr>
        <p:spPr>
          <a:xfrm>
            <a:off x="2542032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7" name="Text 45"/>
          <p:cNvSpPr/>
          <p:nvPr/>
        </p:nvSpPr>
        <p:spPr>
          <a:xfrm>
            <a:off x="2542032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endless</a:t>
            </a:r>
            <a:endParaRPr lang="en-US" sz="1200" dirty="0"/>
          </a:p>
        </p:txBody>
      </p:sp>
      <p:sp>
        <p:nvSpPr>
          <p:cNvPr id="48" name="Shape 46"/>
          <p:cNvSpPr/>
          <p:nvPr/>
        </p:nvSpPr>
        <p:spPr>
          <a:xfrm>
            <a:off x="4718304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49" name="Text 47"/>
          <p:cNvSpPr/>
          <p:nvPr/>
        </p:nvSpPr>
        <p:spPr>
          <a:xfrm>
            <a:off x="4718304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defend</a:t>
            </a:r>
            <a:endParaRPr lang="en-US" sz="1200" dirty="0"/>
          </a:p>
        </p:txBody>
      </p:sp>
      <p:sp>
        <p:nvSpPr>
          <p:cNvPr id="50" name="Shape 48"/>
          <p:cNvSpPr/>
          <p:nvPr/>
        </p:nvSpPr>
        <p:spPr>
          <a:xfrm>
            <a:off x="6894576" y="4023360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1" name="Text 49"/>
          <p:cNvSpPr/>
          <p:nvPr/>
        </p:nvSpPr>
        <p:spPr>
          <a:xfrm>
            <a:off x="6894576" y="4023360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extend</a:t>
            </a:r>
            <a:endParaRPr lang="en-US" sz="1200" dirty="0"/>
          </a:p>
        </p:txBody>
      </p:sp>
      <p:sp>
        <p:nvSpPr>
          <p:cNvPr id="52" name="Shape 50"/>
          <p:cNvSpPr/>
          <p:nvPr/>
        </p:nvSpPr>
        <p:spPr>
          <a:xfrm>
            <a:off x="365760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3" name="Text 51"/>
          <p:cNvSpPr/>
          <p:nvPr/>
        </p:nvSpPr>
        <p:spPr>
          <a:xfrm>
            <a:off x="365760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blend</a:t>
            </a:r>
            <a:endParaRPr lang="en-US" sz="1200" dirty="0"/>
          </a:p>
        </p:txBody>
      </p:sp>
      <p:sp>
        <p:nvSpPr>
          <p:cNvPr id="54" name="Shape 52"/>
          <p:cNvSpPr/>
          <p:nvPr/>
        </p:nvSpPr>
        <p:spPr>
          <a:xfrm>
            <a:off x="2542032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5" name="Text 53"/>
          <p:cNvSpPr/>
          <p:nvPr/>
        </p:nvSpPr>
        <p:spPr>
          <a:xfrm>
            <a:off x="2542032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fender</a:t>
            </a:r>
            <a:endParaRPr lang="en-US" sz="1200" dirty="0"/>
          </a:p>
        </p:txBody>
      </p:sp>
      <p:sp>
        <p:nvSpPr>
          <p:cNvPr id="56" name="Shape 54"/>
          <p:cNvSpPr/>
          <p:nvPr/>
        </p:nvSpPr>
        <p:spPr>
          <a:xfrm>
            <a:off x="4718304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7" name="Text 55"/>
          <p:cNvSpPr/>
          <p:nvPr/>
        </p:nvSpPr>
        <p:spPr>
          <a:xfrm>
            <a:off x="4718304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spend</a:t>
            </a:r>
            <a:endParaRPr lang="en-US" sz="1200" dirty="0"/>
          </a:p>
        </p:txBody>
      </p:sp>
      <p:sp>
        <p:nvSpPr>
          <p:cNvPr id="58" name="Shape 56"/>
          <p:cNvSpPr/>
          <p:nvPr/>
        </p:nvSpPr>
        <p:spPr>
          <a:xfrm>
            <a:off x="6894576" y="4498848"/>
            <a:ext cx="2011680" cy="402336"/>
          </a:xfrm>
          <a:prstGeom prst="rect">
            <a:avLst>
              <a:gd name="adj" fmla="val 13636"/>
            </a:avLst>
          </a:prstGeom>
          <a:solidFill>
            <a:srgbClr val="EEF2FF"/>
          </a:solidFill>
          <a:ln w="12700">
            <a:solidFill>
              <a:srgbClr val="6366F1"/>
            </a:solidFill>
            <a:prstDash val="solid"/>
          </a:ln>
        </p:spPr>
      </p:sp>
      <p:sp>
        <p:nvSpPr>
          <p:cNvPr id="59" name="Text 57"/>
          <p:cNvSpPr/>
          <p:nvPr/>
        </p:nvSpPr>
        <p:spPr>
          <a:xfrm>
            <a:off x="6894576" y="4498848"/>
            <a:ext cx="201168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4338CA"/>
                </a:solidFill>
                <a:latin typeface="Trebuchet MS" pitchFamily="34" charset="0"/>
                <a:ea typeface="Trebuchet MS" pitchFamily="34" charset="-122"/>
                <a:cs typeface="Trebuchet MS" pitchFamily="34" charset="-120"/>
              </a:rPr>
              <a:t>surrender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37</Slides>
  <Notes>37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37</vt:i4>
      </vt:variant>
    </vt:vector>
  </HeadingPairs>
  <TitlesOfParts>
    <vt:vector size="40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Word Labs — Root 'end' — 3-Day Teaching Deck</dc:title>
  <dc:subject>PptxGenJS Presentation</dc:subject>
  <dc:creator>Word Labs</dc:creator>
  <cp:lastModifiedBy>Word Labs</cp:lastModifiedBy>
  <cp:revision>1</cp:revision>
  <dcterms:created xsi:type="dcterms:W3CDTF">2026-03-25T03:35:11Z</dcterms:created>
  <dcterms:modified xsi:type="dcterms:W3CDTF">2026-03-25T03:35:11Z</dcterms:modified>
</cp:coreProperties>
</file>