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</p:sldIdLst>
  <p:notesMasterIdLst>
    <p:notesMasterId r:id="rId3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notesMaster" Target="notesMasters/notesMaster1.xml"/><Relationship Id="rId40" Type="http://schemas.openxmlformats.org/officeDocument/2006/relationships/presProps" Target="presProps.xml"/><Relationship Id="rId41" Type="http://schemas.openxmlformats.org/officeDocument/2006/relationships/viewProps" Target="viewProps.xml"/><Relationship Id="rId42" Type="http://schemas.openxmlformats.org/officeDocument/2006/relationships/theme" Target="theme/theme1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3931920"/>
            <a:ext cx="9144000" cy="121158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800" kern="0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LABS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1005840"/>
            <a:ext cx="82296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6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Root: 'ply'</a:t>
            </a:r>
            <a:endParaRPr lang="en-US" sz="6400" dirty="0"/>
          </a:p>
        </p:txBody>
      </p:sp>
      <p:sp>
        <p:nvSpPr>
          <p:cNvPr id="6" name="Text 4"/>
          <p:cNvSpPr/>
          <p:nvPr/>
        </p:nvSpPr>
        <p:spPr>
          <a:xfrm>
            <a:off x="457200" y="2331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i="1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"fold; bend"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457200" y="29260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6366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3429000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342900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356616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57200" y="356616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03320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370332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3401568"/>
            <a:ext cx="4023360" cy="347472"/>
          </a:xfrm>
          <a:prstGeom prst="rect">
            <a:avLst>
              <a:gd name="adj" fmla="val 157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57200" y="3401568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1 — Morpheme Meaning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7200" y="3785616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7200" y="3785616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2 — Dictation &amp; Breakdown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7200" y="4169664"/>
            <a:ext cx="4023360" cy="347472"/>
          </a:xfrm>
          <a:prstGeom prst="rect">
            <a:avLst>
              <a:gd name="adj" fmla="val 15789"/>
            </a:avLst>
          </a:prstGeom>
          <a:solidFill>
            <a:srgbClr val="1E1B4B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4169664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3 — Dictation &amp; Word Matrix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457200" y="40233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 Meaning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Root 'ply' — fold; bend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Learning Intention &amp; Success Criteria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22960"/>
            <a:ext cx="8412480" cy="1234440"/>
          </a:xfrm>
          <a:prstGeom prst="rect">
            <a:avLst>
              <a:gd name="adj" fmla="val 7407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2920" y="868680"/>
            <a:ext cx="81381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 are learning that the root 'ply' means 'fold; bend'.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365760" y="2194560"/>
            <a:ext cx="8412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Success Criteria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65760" y="2633472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263347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41248" y="2633472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explain the meaning of the root 'ply'.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3291840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32918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841248" y="3291840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use prefixes and suffixes to build and decode 'ply' words.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365760" y="3950208"/>
            <a:ext cx="384048" cy="384048"/>
          </a:xfrm>
          <a:prstGeom prst="rect">
            <a:avLst>
              <a:gd name="adj" fmla="val 14286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5760" y="39502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✓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841248" y="3950208"/>
            <a:ext cx="7863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can read and spell 'ply' words effectively in sentences.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Vocabulary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804672"/>
            <a:ext cx="8412480" cy="1170432"/>
          </a:xfrm>
          <a:prstGeom prst="rect">
            <a:avLst>
              <a:gd name="adj" fmla="val 781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804672"/>
            <a:ext cx="1280160" cy="1170432"/>
          </a:xfrm>
          <a:prstGeom prst="rect">
            <a:avLst>
              <a:gd name="adj" fmla="val 781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481328" y="804672"/>
            <a:ext cx="91440" cy="1170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80467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691640" y="84124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part of a word carrying its basic meaning. For example, 'ply' means 'fold; bend'.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365760" y="2130552"/>
            <a:ext cx="8412480" cy="1170432"/>
          </a:xfrm>
          <a:prstGeom prst="rect">
            <a:avLst>
              <a:gd name="adj" fmla="val 7813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65760" y="2130552"/>
            <a:ext cx="1280160" cy="1170432"/>
          </a:xfrm>
          <a:prstGeom prst="rect">
            <a:avLst>
              <a:gd name="adj" fmla="val 781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481328" y="2130552"/>
            <a:ext cx="91440" cy="117043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213055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1691640" y="216712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beginning of a root to change its meaning. E.g. a prefix before 'ply' changes the word's meaning.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365760" y="3456432"/>
            <a:ext cx="8412480" cy="1170432"/>
          </a:xfrm>
          <a:prstGeom prst="rect">
            <a:avLst>
              <a:gd name="adj" fmla="val 781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3456432"/>
            <a:ext cx="1280160" cy="1170432"/>
          </a:xfrm>
          <a:prstGeom prst="rect">
            <a:avLst>
              <a:gd name="adj" fmla="val 781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481328" y="3456432"/>
            <a:ext cx="91440" cy="1170432"/>
          </a:xfrm>
          <a:prstGeom prst="rect">
            <a:avLst/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3456432"/>
            <a:ext cx="128016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691640" y="3493008"/>
            <a:ext cx="69494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50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meaningful word part added to the end of a word to change its meaning or form. E.g. a suffix after 'ply' can make a noun or adjective.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 or False?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3152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the following statements true or false?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65760" y="1207008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07008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'ply' means 'a bright colour used in painting'.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72400" y="1207008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72400" y="1207008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365760" y="1901952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48640" y="1901952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'ply' means 'a layer or thickness of material, such as wood or wool'.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772400" y="1901952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772400" y="1901952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65760" y="2596896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48640" y="2596896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'imply' means 'to suggest something without saying it directly'.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7772400" y="2596896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772400" y="2596896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65760" y="3291840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3291840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'imply' means 'to shout something in anger'.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7772400" y="3291840"/>
            <a:ext cx="1005840" cy="566928"/>
          </a:xfrm>
          <a:prstGeom prst="rect">
            <a:avLst>
              <a:gd name="adj" fmla="val 12903"/>
            </a:avLst>
          </a:prstGeom>
          <a:solidFill>
            <a:srgbClr val="FEE2E2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772400" y="3291840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C2626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FALSE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65760" y="3986784"/>
            <a:ext cx="7315200" cy="566928"/>
          </a:xfrm>
          <a:prstGeom prst="rect">
            <a:avLst>
              <a:gd name="adj" fmla="val 1290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48640" y="3986784"/>
            <a:ext cx="694944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 'ply' means 'fold; bend'.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7772400" y="3986784"/>
            <a:ext cx="1005840" cy="566928"/>
          </a:xfrm>
          <a:prstGeom prst="rect">
            <a:avLst>
              <a:gd name="adj" fmla="val 12903"/>
            </a:avLst>
          </a:prstGeom>
          <a:solidFill>
            <a:srgbClr val="DCFCE7"/>
          </a:solidFill>
          <a:ln w="12700">
            <a:solidFill>
              <a:srgbClr val="16A34A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3986784"/>
            <a:ext cx="1005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6A34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TRUE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Root 'ply' — Meaning &amp; Origin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1371600"/>
          </a:xfrm>
          <a:prstGeom prst="rect">
            <a:avLst>
              <a:gd name="adj" fmla="val 8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777240"/>
            <a:ext cx="29260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5200" dirty="0"/>
          </a:p>
        </p:txBody>
      </p:sp>
      <p:sp>
        <p:nvSpPr>
          <p:cNvPr id="12" name="Shape 10"/>
          <p:cNvSpPr/>
          <p:nvPr/>
        </p:nvSpPr>
        <p:spPr>
          <a:xfrm>
            <a:off x="3246120" y="777240"/>
            <a:ext cx="36576" cy="1371600"/>
          </a:xfrm>
          <a:prstGeom prst="rect">
            <a:avLst/>
          </a:prstGeom>
          <a:solidFill>
            <a:srgbClr val="312E81"/>
          </a:solidFill>
          <a:ln w="12700">
            <a:solidFill>
              <a:srgbClr val="312E8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29000" y="777240"/>
            <a:ext cx="3657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fold; bend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132320" y="777240"/>
            <a:ext cx="1600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99F6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Origin: Latin root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23317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using this root: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36576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251460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51460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66344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reply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6812280" y="2743200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4320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comply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251460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51460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implied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401568"/>
            <a:ext cx="2011680" cy="502920"/>
          </a:xfrm>
          <a:prstGeom prst="rect">
            <a:avLst>
              <a:gd name="adj" fmla="val 14545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663440" y="3401568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implies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with 'ply'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matrix below. Choose morpheme parts to build a word. Not all combinations work!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008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4008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234440"/>
            <a:ext cx="1645920" cy="457200"/>
          </a:xfrm>
          <a:prstGeom prst="rect">
            <a:avLst>
              <a:gd name="adj" fmla="val 120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2344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5943600" y="1234440"/>
            <a:ext cx="1463040" cy="457200"/>
          </a:xfrm>
          <a:prstGeom prst="rect">
            <a:avLst>
              <a:gd name="adj" fmla="val 120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234440"/>
            <a:ext cx="1463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008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solidFill>
            <a:srgbClr val="CCFBF1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91840" y="1755648"/>
            <a:ext cx="1645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755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008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3291840" y="22128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22128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3291840" y="26700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6700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3291840" y="31272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31272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solidFill>
            <a:srgbClr val="DDD6FE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4008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3291840" y="3584448"/>
            <a:ext cx="1645920" cy="420624"/>
          </a:xfrm>
          <a:prstGeom prst="rect">
            <a:avLst/>
          </a:prstGeom>
          <a:solidFill>
            <a:srgbClr val="F8FAFC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5844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40080" y="4041648"/>
            <a:ext cx="146304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3291840" y="4041648"/>
            <a:ext cx="164592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4041648"/>
            <a:ext cx="1463040" cy="420624"/>
          </a:xfrm>
          <a:prstGeom prst="rect">
            <a:avLst/>
          </a:prstGeom>
          <a:solidFill>
            <a:srgbClr val="FCE7F3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4041648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65760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Example: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1508760" y="4636008"/>
            <a:ext cx="950976" cy="420624"/>
          </a:xfrm>
          <a:prstGeom prst="rect">
            <a:avLst>
              <a:gd name="adj" fmla="val 17391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49" name="Text 47"/>
          <p:cNvSpPr/>
          <p:nvPr/>
        </p:nvSpPr>
        <p:spPr>
          <a:xfrm>
            <a:off x="1508760" y="4636008"/>
            <a:ext cx="95097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50" name="Text 48"/>
          <p:cNvSpPr/>
          <p:nvPr/>
        </p:nvSpPr>
        <p:spPr>
          <a:xfrm>
            <a:off x="2487168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2834640" y="4636008"/>
            <a:ext cx="1097280" cy="420624"/>
          </a:xfrm>
          <a:prstGeom prst="rect">
            <a:avLst>
              <a:gd name="adj" fmla="val 17391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2" name="Text 50"/>
          <p:cNvSpPr/>
          <p:nvPr/>
        </p:nvSpPr>
        <p:spPr>
          <a:xfrm>
            <a:off x="2834640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300" dirty="0"/>
          </a:p>
        </p:txBody>
      </p:sp>
      <p:sp>
        <p:nvSpPr>
          <p:cNvPr id="53" name="Text 51"/>
          <p:cNvSpPr/>
          <p:nvPr/>
        </p:nvSpPr>
        <p:spPr>
          <a:xfrm>
            <a:off x="3959352" y="4636008"/>
            <a:ext cx="320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+</a:t>
            </a:r>
            <a:endParaRPr lang="en-US" sz="1400" dirty="0"/>
          </a:p>
        </p:txBody>
      </p:sp>
      <p:sp>
        <p:nvSpPr>
          <p:cNvPr id="54" name="Shape 52"/>
          <p:cNvSpPr/>
          <p:nvPr/>
        </p:nvSpPr>
        <p:spPr>
          <a:xfrm>
            <a:off x="4306824" y="4636008"/>
            <a:ext cx="1097280" cy="420624"/>
          </a:xfrm>
          <a:prstGeom prst="rect">
            <a:avLst>
              <a:gd name="adj" fmla="val 17391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4306824" y="4636008"/>
            <a:ext cx="10972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56" name="Text 54"/>
          <p:cNvSpPr/>
          <p:nvPr/>
        </p:nvSpPr>
        <p:spPr>
          <a:xfrm>
            <a:off x="5477256" y="4636008"/>
            <a:ext cx="3657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=</a:t>
            </a:r>
            <a:endParaRPr lang="en-US" sz="1800" dirty="0"/>
          </a:p>
        </p:txBody>
      </p:sp>
      <p:sp>
        <p:nvSpPr>
          <p:cNvPr id="57" name="Shape 55"/>
          <p:cNvSpPr/>
          <p:nvPr/>
        </p:nvSpPr>
        <p:spPr>
          <a:xfrm>
            <a:off x="5888736" y="4636008"/>
            <a:ext cx="2194560" cy="420624"/>
          </a:xfrm>
          <a:prstGeom prst="rect">
            <a:avLst>
              <a:gd name="adj" fmla="val 17391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888736" y="4636008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 Word Definitions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 the word to its meaning: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118872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14600" y="118872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651760" y="118872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answer, or an answer given to someone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365760" y="171907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65760" y="171907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imply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514600" y="171907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71907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amount of something available for use, or to provide something that is needed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365760" y="2249424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760" y="2249424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reply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2514600" y="2249424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2651760" y="2249424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layer or thickness of material, such as wood or wool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365760" y="2779776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365760" y="2779776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comply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2514600" y="2779776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651760" y="2779776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suggested indirectly without stating something directly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65760" y="3310128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65760" y="3310128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514600" y="3310128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651760" y="3310128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suggests something indirectly, without saying it outright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3840480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365760" y="384048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implied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2514600" y="3840480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651760" y="3840480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obey a rule, law, or request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365760" y="4370832"/>
            <a:ext cx="2011680" cy="457200"/>
          </a:xfrm>
          <a:prstGeom prst="rect">
            <a:avLst>
              <a:gd name="adj" fmla="val 12000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36" name="Text 34"/>
          <p:cNvSpPr/>
          <p:nvPr/>
        </p:nvSpPr>
        <p:spPr>
          <a:xfrm>
            <a:off x="365760" y="4370832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implies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2514600" y="4370832"/>
            <a:ext cx="6263640" cy="457200"/>
          </a:xfrm>
          <a:prstGeom prst="rect">
            <a:avLst>
              <a:gd name="adj" fmla="val 12000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4370832"/>
            <a:ext cx="6035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suggest something without saying it directly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1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Using 'ply' Words in Sentences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these example sentences. Underline the 'ply' word and discuss its meaning.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261872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65760" y="1261872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13232" y="1261872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65760" y="1261872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1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60120" y="1307592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tissue is three-ply, so it's extra soft.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365760" y="2468880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2468880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13232" y="2468880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60120" y="2514600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Don't imply that I'm lying when I'm telling the truth.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365760" y="3675888"/>
            <a:ext cx="8412480" cy="1005840"/>
          </a:xfrm>
          <a:prstGeom prst="rect">
            <a:avLst>
              <a:gd name="adj" fmla="val 9091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65760" y="3675888"/>
            <a:ext cx="502920" cy="1005840"/>
          </a:xfrm>
          <a:prstGeom prst="rect">
            <a:avLst>
              <a:gd name="adj" fmla="val 18182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13232" y="3675888"/>
            <a:ext cx="91440" cy="1005840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3675888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960120" y="3721608"/>
            <a:ext cx="7635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5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Please reply to this message when you get a chance.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Check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factory was inspected to check its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compliance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with safety rules. She gave her friend a lovely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compliment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her new haircut.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173736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73736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73736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73736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4572000" y="3456432"/>
            <a:ext cx="256032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0" y="3977640"/>
            <a:ext cx="256032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4572000" y="3456432"/>
            <a:ext cx="25603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4572000" y="4005072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fold; 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fold; 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compliance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fold; 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state of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ance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ce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2)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fold; 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fold; 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2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fold; 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828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828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0520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0520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25858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25858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3911969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11969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56535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56535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218730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18730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587211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87211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652549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52549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178871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178871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832252" y="4169664"/>
            <a:ext cx="603504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832252" y="4169664"/>
            <a:ext cx="603504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312E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57200" y="1645920"/>
            <a:ext cx="1097280" cy="411480"/>
          </a:xfrm>
          <a:prstGeom prst="rect">
            <a:avLst>
              <a:gd name="adj" fmla="val 17778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1645920"/>
            <a:ext cx="1097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8412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&amp;</a:t>
            </a:r>
            <a:endParaRPr lang="en-US" sz="4400" dirty="0"/>
          </a:p>
          <a:p>
            <a:pPr algn="l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</a:t>
            </a:r>
            <a:endParaRPr lang="en-US" sz="4400" dirty="0"/>
          </a:p>
        </p:txBody>
      </p:sp>
      <p:sp>
        <p:nvSpPr>
          <p:cNvPr id="6" name="Text 4"/>
          <p:cNvSpPr/>
          <p:nvPr/>
        </p:nvSpPr>
        <p:spPr>
          <a:xfrm>
            <a:off x="457200" y="34747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A5B4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Listen → Write → Reveal → Build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0" y="4754880"/>
            <a:ext cx="9144000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</a:t>
            </a:r>
            <a:endParaRPr lang="en-US" sz="10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Listen &amp; Write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77240"/>
            <a:ext cx="8412480" cy="530352"/>
          </a:xfrm>
          <a:prstGeom prst="rect">
            <a:avLst>
              <a:gd name="adj" fmla="val 13793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77240"/>
            <a:ext cx="8229600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📢  Teacher reads aloud. Students write the sentence in their books.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365760" y="160020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19456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2788920"/>
            <a:ext cx="8412480" cy="0"/>
          </a:xfrm>
          <a:prstGeom prst="line">
            <a:avLst/>
          </a:prstGeom>
          <a:noFill/>
          <a:ln w="1905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3383280"/>
            <a:ext cx="8412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sentence here ↑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01168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01168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3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focus words</a:t>
            </a:r>
            <a:endParaRPr lang="en-US" sz="2800" dirty="0"/>
          </a:p>
        </p:txBody>
      </p:sp>
      <p:sp>
        <p:nvSpPr>
          <p:cNvPr id="18" name="Shape 16"/>
          <p:cNvSpPr/>
          <p:nvPr/>
        </p:nvSpPr>
        <p:spPr>
          <a:xfrm>
            <a:off x="4846320" y="3822192"/>
            <a:ext cx="2286000" cy="658368"/>
          </a:xfrm>
          <a:prstGeom prst="rect">
            <a:avLst>
              <a:gd name="adj" fmla="val 13889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4846320" y="3822192"/>
            <a:ext cx="228600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9240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</a:t>
            </a:r>
            <a:pPr algn="ctr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  punctuation mark</a:t>
            </a:r>
            <a:endParaRPr lang="en-US" sz="28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Dictation — Reveal &amp; Underline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 your sentence. Underline the focus words.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88720"/>
            <a:ext cx="8412480" cy="1554480"/>
          </a:xfrm>
          <a:prstGeom prst="rect">
            <a:avLst>
              <a:gd name="adj" fmla="val 7059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48640" y="1261872"/>
            <a:ext cx="8046720" cy="140817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rabbits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multiplied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quickly until there were dozens of them. The teacher passed on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compliments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about the class's hard work. Guests at the hotel received a </a:t>
            </a:r>
            <a:pPr algn="l" indent="0" marL="0">
              <a:buNone/>
            </a:pPr>
            <a:r>
              <a:rPr lang="en-US" sz="1800" b="1" dirty="0">
                <a:solidFill>
                  <a:srgbClr val="0D9488"/>
                </a:solidFill>
                <a:highlight>
                  <a:srgbClr val="CCFBF1"/>
                </a:highlight>
                <a:latin typeface="Calibri" pitchFamily="34" charset="0"/>
                <a:ea typeface="Calibri" pitchFamily="34" charset="-122"/>
                <a:cs typeface="Calibri" pitchFamily="34" charset="-120"/>
              </a:rPr>
              <a:t>complimentary</a:t>
            </a:r>
            <a:pPr algn="l" indent="0" marL="0">
              <a:buNone/>
            </a:pPr>
            <a:r>
              <a:rPr lang="en-US" sz="18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breakfast each morning.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365760" y="285292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285292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 rewrite each focus word below with space between letters — leave room for your breakdown.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1148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41148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multiplied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1148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18516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18516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318516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compliments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318516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958840" y="3456432"/>
            <a:ext cx="2499360" cy="1005840"/>
          </a:xfrm>
          <a:prstGeom prst="rect">
            <a:avLst>
              <a:gd name="adj" fmla="val 727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58840" y="3977640"/>
            <a:ext cx="249936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5958840" y="3456432"/>
            <a:ext cx="2499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complimentary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5958840" y="4005072"/>
            <a:ext cx="2499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your breakdown below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1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multiplied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multiplied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fold; 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8" name="Text 26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2" name="Text 3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multiplied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fold; 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plied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9" name="Text 37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multiplied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22199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22199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22199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437083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37083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37083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fold; 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6519672" y="2258568"/>
            <a:ext cx="1828800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19672" y="2258568"/>
            <a:ext cx="1828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ed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19672" y="2569464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past tense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1" name="Shape 29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plied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9513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19513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2677363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2677363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u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3403397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3403397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4129430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129430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4855464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55464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49" name="Shape 47"/>
          <p:cNvSpPr/>
          <p:nvPr/>
        </p:nvSpPr>
        <p:spPr>
          <a:xfrm>
            <a:off x="55814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5814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6307531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7531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7033565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33565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ie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759598" y="4169664"/>
            <a:ext cx="676656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7759598" y="4169664"/>
            <a:ext cx="67665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2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fold; 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fold; 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2" name="Text 40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compliments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fold; 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plural or present tense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3134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23134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9593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43708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708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6016752" y="3364992"/>
            <a:ext cx="4114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28232" y="3364992"/>
            <a:ext cx="1645920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428232" y="3364992"/>
            <a:ext cx="1645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ments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1" name="Shape 39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1952244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952244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25461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25461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314013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14013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734077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734077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328021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328021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4921966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921966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5515910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515910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6109855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109855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6703799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703799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7297743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297743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7891688" y="4169664"/>
            <a:ext cx="543652" cy="475488"/>
          </a:xfrm>
          <a:prstGeom prst="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7891688" y="4169664"/>
            <a:ext cx="543652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Attempt (Word 3 of 3)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EF3C7"/>
          </a:solidFill>
          <a:ln w="12700">
            <a:solidFill>
              <a:srgbClr val="D9770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92400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the morpheme breakdown, syllables, and phonemes for this word. Check your work on the next slides.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74520" y="2240280"/>
            <a:ext cx="6903720" cy="841248"/>
          </a:xfrm>
          <a:prstGeom prst="rect">
            <a:avLst>
              <a:gd name="adj" fmla="val 6522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17" name="Text 15"/>
          <p:cNvSpPr/>
          <p:nvPr/>
        </p:nvSpPr>
        <p:spPr>
          <a:xfrm>
            <a:off x="1874520" y="2240280"/>
            <a:ext cx="6903720" cy="8412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1" name="Text 1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25" name="Text 2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Morphemes Revealed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DDD6FE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4C1D9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Check your morpheme breakdown. Morphemes are the meaningful parts.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fold; 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1" name="Text 29"/>
          <p:cNvSpPr/>
          <p:nvPr/>
        </p:nvSpPr>
        <p:spPr>
          <a:xfrm>
            <a:off x="1874520" y="3273552"/>
            <a:ext cx="69037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35" name="Text 33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Syllables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syllable split. Syllables are the beats in the word.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fold; 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804672"/>
          </a:xfrm>
          <a:prstGeom prst="rect">
            <a:avLst>
              <a:gd name="adj" fmla="val 681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dash"/>
          </a:ln>
        </p:spPr>
      </p:sp>
      <p:sp>
        <p:nvSpPr>
          <p:cNvPr id="48" name="Text 46"/>
          <p:cNvSpPr/>
          <p:nvPr/>
        </p:nvSpPr>
        <p:spPr>
          <a:xfrm>
            <a:off x="1874520" y="4096512"/>
            <a:ext cx="6903720" cy="8046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here...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Breakdown — + Phonemes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365760" y="749808"/>
            <a:ext cx="8412480" cy="475488"/>
          </a:xfrm>
          <a:prstGeom prst="rect">
            <a:avLst>
              <a:gd name="adj" fmla="val 15385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749808"/>
            <a:ext cx="82296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9D174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Now check your phonemes. Phonemes are the individual sounds.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0" y="1325880"/>
            <a:ext cx="3657600" cy="731520"/>
          </a:xfrm>
          <a:prstGeom prst="rect">
            <a:avLst>
              <a:gd name="adj" fmla="val 12500"/>
            </a:avLst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743200" y="13258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complimentary</a:t>
            </a:r>
            <a:endParaRPr lang="en-US" sz="2800" dirty="0"/>
          </a:p>
        </p:txBody>
      </p:sp>
      <p:sp>
        <p:nvSpPr>
          <p:cNvPr id="14" name="Shape 12"/>
          <p:cNvSpPr/>
          <p:nvPr/>
        </p:nvSpPr>
        <p:spPr>
          <a:xfrm>
            <a:off x="365760" y="2240280"/>
            <a:ext cx="1371600" cy="841248"/>
          </a:xfrm>
          <a:prstGeom prst="rect">
            <a:avLst>
              <a:gd name="adj" fmla="val 6522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2240280"/>
            <a:ext cx="13716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Morphemes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9734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1989734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989734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or together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659429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CCFBF1"/>
          </a:solidFill>
          <a:ln w="1905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3659429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659429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fold; bend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5329123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FCE7F3"/>
          </a:solidFill>
          <a:ln w="19050">
            <a:solidFill>
              <a:srgbClr val="DB2777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329123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ment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329123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 of action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998818" y="2258568"/>
            <a:ext cx="1581912" cy="292608"/>
          </a:xfrm>
          <a:prstGeom prst="rect">
            <a:avLst>
              <a:gd name="adj" fmla="val 25000"/>
            </a:avLst>
          </a:prstGeom>
          <a:solidFill>
            <a:srgbClr val="DDD6FE"/>
          </a:solidFill>
          <a:ln w="19050">
            <a:solidFill>
              <a:srgbClr val="7C3AED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2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998818" y="2258568"/>
            <a:ext cx="158191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ary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998818" y="2569464"/>
            <a:ext cx="15819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relating to; place associated with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65760" y="3273552"/>
            <a:ext cx="1371600" cy="658368"/>
          </a:xfrm>
          <a:prstGeom prst="rect">
            <a:avLst>
              <a:gd name="adj" fmla="val 8333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3273552"/>
            <a:ext cx="1371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Syllables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1874520" y="3273552"/>
            <a:ext cx="6903720" cy="658368"/>
          </a:xfrm>
          <a:prstGeom prst="rect">
            <a:avLst>
              <a:gd name="adj" fmla="val 8333"/>
            </a:avLst>
          </a:prstGeom>
          <a:solidFill>
            <a:srgbClr val="CCFBF1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978152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1978152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</a:t>
            </a:r>
            <a:endParaRPr lang="en-US" sz="1400" dirty="0"/>
          </a:p>
        </p:txBody>
      </p:sp>
      <p:sp>
        <p:nvSpPr>
          <p:cNvPr id="33" name="Text 31"/>
          <p:cNvSpPr/>
          <p:nvPr/>
        </p:nvSpPr>
        <p:spPr>
          <a:xfrm>
            <a:off x="3203448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4" name="Shape 32"/>
          <p:cNvSpPr/>
          <p:nvPr/>
        </p:nvSpPr>
        <p:spPr>
          <a:xfrm>
            <a:off x="3279648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3279648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pli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4504944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4581144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581144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men</a:t>
            </a:r>
            <a:endParaRPr lang="en-US" sz="1400" dirty="0"/>
          </a:p>
        </p:txBody>
      </p:sp>
      <p:sp>
        <p:nvSpPr>
          <p:cNvPr id="39" name="Text 37"/>
          <p:cNvSpPr/>
          <p:nvPr/>
        </p:nvSpPr>
        <p:spPr>
          <a:xfrm>
            <a:off x="5806440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0" name="Shape 38"/>
          <p:cNvSpPr/>
          <p:nvPr/>
        </p:nvSpPr>
        <p:spPr>
          <a:xfrm>
            <a:off x="5882640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82640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7107936" y="3364992"/>
            <a:ext cx="76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·</a:t>
            </a:r>
            <a:endParaRPr lang="en-US" sz="1600" dirty="0"/>
          </a:p>
        </p:txBody>
      </p:sp>
      <p:sp>
        <p:nvSpPr>
          <p:cNvPr id="43" name="Shape 41"/>
          <p:cNvSpPr/>
          <p:nvPr/>
        </p:nvSpPr>
        <p:spPr>
          <a:xfrm>
            <a:off x="7184136" y="3364992"/>
            <a:ext cx="1225296" cy="475488"/>
          </a:xfrm>
          <a:prstGeom prst="rect">
            <a:avLst>
              <a:gd name="adj" fmla="val 9615"/>
            </a:avLst>
          </a:prstGeom>
          <a:solidFill>
            <a:srgbClr val="FFFFFF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184136" y="3364992"/>
            <a:ext cx="1225296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D9488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ry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365760" y="4096512"/>
            <a:ext cx="1371600" cy="804672"/>
          </a:xfrm>
          <a:prstGeom prst="rect">
            <a:avLst>
              <a:gd name="adj" fmla="val 6818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4096512"/>
            <a:ext cx="137160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475569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Phonemes</a:t>
            </a:r>
            <a:endParaRPr lang="en-US" sz="1100" dirty="0"/>
          </a:p>
        </p:txBody>
      </p:sp>
      <p:sp>
        <p:nvSpPr>
          <p:cNvPr id="47" name="Shape 45"/>
          <p:cNvSpPr/>
          <p:nvPr/>
        </p:nvSpPr>
        <p:spPr>
          <a:xfrm>
            <a:off x="1874520" y="4096512"/>
            <a:ext cx="6903720" cy="658368"/>
          </a:xfrm>
          <a:prstGeom prst="rect">
            <a:avLst>
              <a:gd name="adj" fmla="val 8333"/>
            </a:avLst>
          </a:prstGeom>
          <a:solidFill>
            <a:srgbClr val="FCE7F3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952897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1952897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2455415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455415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2957933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2957933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3460451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3460451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3962969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962969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4465487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465487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968006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968006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5470524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470524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5973042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5973042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6475560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6475560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6978078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6978078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7480596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480596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7983114" y="4169664"/>
            <a:ext cx="451573" cy="475488"/>
          </a:xfrm>
          <a:prstGeom prst="rect">
            <a:avLst>
              <a:gd name="adj" fmla="val 8100"/>
            </a:avLst>
          </a:prstGeom>
          <a:solidFill>
            <a:srgbClr val="FFFFFF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7983114" y="4169664"/>
            <a:ext cx="451573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Build Your Own Words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Word Labs Morpheme Builder to find words, then fill in the matrix below.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65760" y="1170432"/>
            <a:ext cx="7315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Name: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143000" y="1371600"/>
            <a:ext cx="292608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63440" y="1170432"/>
            <a:ext cx="640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Date: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349240" y="1371600"/>
            <a:ext cx="3246120" cy="0"/>
          </a:xfrm>
          <a:prstGeom prst="line">
            <a:avLst/>
          </a:prstGeom>
          <a:noFill/>
          <a:ln w="12700">
            <a:solidFill>
              <a:srgbClr val="47556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1600200"/>
            <a:ext cx="2468880" cy="438912"/>
          </a:xfrm>
          <a:prstGeom prst="rect">
            <a:avLst>
              <a:gd name="adj" fmla="val 12500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600200"/>
            <a:ext cx="2468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9718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9718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5943600" y="1600200"/>
            <a:ext cx="2834640" cy="438912"/>
          </a:xfrm>
          <a:prstGeom prst="rect">
            <a:avLst>
              <a:gd name="adj" fmla="val 12500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43600" y="1600200"/>
            <a:ext cx="283464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2066544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9718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943600" y="2066544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365760" y="2404872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9718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2404872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365760" y="2743200"/>
            <a:ext cx="24688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29718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5943600" y="2743200"/>
            <a:ext cx="283464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65760" y="3081528"/>
            <a:ext cx="246888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29718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943600" y="3081528"/>
            <a:ext cx="2834640" cy="32004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65760" y="3474720"/>
            <a:ext cx="8412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Words I made: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36576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20040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035040" y="3803904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6576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20040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6035040" y="4151376"/>
            <a:ext cx="2606040" cy="0"/>
          </a:xfrm>
          <a:prstGeom prst="line">
            <a:avLst/>
          </a:prstGeom>
          <a:noFill/>
          <a:ln w="9525">
            <a:solidFill>
              <a:srgbClr val="475569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65760" y="4535424"/>
            <a:ext cx="8412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Choose 3 words and write a sentence for each:</a:t>
            </a:r>
            <a:endParaRPr lang="en-US" sz="10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4338CA"/>
          </a:solidFill>
          <a:ln w="12700">
            <a:solidFill>
              <a:srgbClr val="4338C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" y="118872"/>
            <a:ext cx="1005840" cy="402336"/>
          </a:xfrm>
          <a:prstGeom prst="rect">
            <a:avLst>
              <a:gd name="adj" fmla="val 18182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18872"/>
            <a:ext cx="10058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Day 3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1417320" y="0"/>
            <a:ext cx="7406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Word Matrix — Review Answers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863840" y="91440"/>
            <a:ext cx="1005840" cy="457200"/>
          </a:xfrm>
          <a:prstGeom prst="rect">
            <a:avLst>
              <a:gd name="adj" fmla="val 20000"/>
            </a:avLst>
          </a:prstGeom>
          <a:solidFill>
            <a:srgbClr val="312E81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63840" y="91440"/>
            <a:ext cx="1005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6366F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0" y="48691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Word Labs  •  wordlabs.app  •  Root: 'ply' = fold; bend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365760" y="749808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Here are some words you could have made. Check your list!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65760" y="1115568"/>
            <a:ext cx="2468880" cy="420624"/>
          </a:xfrm>
          <a:prstGeom prst="rect">
            <a:avLst>
              <a:gd name="adj" fmla="val 13043"/>
            </a:avLst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1115568"/>
            <a:ext cx="24688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Prefixes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9718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9718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'ply'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943600" y="1115568"/>
            <a:ext cx="2834640" cy="420624"/>
          </a:xfrm>
          <a:prstGeom prst="rect">
            <a:avLst>
              <a:gd name="adj" fmla="val 13043"/>
            </a:avLst>
          </a:prstGeom>
          <a:solidFill>
            <a:srgbClr val="DB2777"/>
          </a:solidFill>
          <a:ln w="12700">
            <a:solidFill>
              <a:srgbClr val="DB277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943600" y="1115568"/>
            <a:ext cx="28346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Suffixes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65760" y="1563624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con-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solidFill>
            <a:srgbClr val="CCFBF1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29718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766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43600" y="156362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-ance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5760" y="1984248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in-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971800" y="1984248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943600" y="198424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-ant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5760" y="2404872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multi-</a:t>
            </a:r>
            <a:endParaRPr lang="en-US" sz="1300" dirty="0"/>
          </a:p>
        </p:txBody>
      </p:sp>
      <p:sp>
        <p:nvSpPr>
          <p:cNvPr id="30" name="Shape 28"/>
          <p:cNvSpPr/>
          <p:nvPr/>
        </p:nvSpPr>
        <p:spPr>
          <a:xfrm>
            <a:off x="2971800" y="2404872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943600" y="24048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-ed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5760" y="2825496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re-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971800" y="2825496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943600" y="282549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solidFill>
            <a:srgbClr val="DDD6FE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65760" y="3246120"/>
            <a:ext cx="24688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4C1D9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sub-</a:t>
            </a:r>
            <a:endParaRPr lang="en-US" sz="1300" dirty="0"/>
          </a:p>
        </p:txBody>
      </p:sp>
      <p:sp>
        <p:nvSpPr>
          <p:cNvPr id="40" name="Shape 38"/>
          <p:cNvSpPr/>
          <p:nvPr/>
        </p:nvSpPr>
        <p:spPr>
          <a:xfrm>
            <a:off x="2971800" y="3246120"/>
            <a:ext cx="2834640" cy="402336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943600" y="324612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-ment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365760" y="3666744"/>
            <a:ext cx="246888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971800" y="3666744"/>
            <a:ext cx="2834640" cy="402336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5943600" y="3666744"/>
            <a:ext cx="2834640" cy="402336"/>
          </a:xfrm>
          <a:prstGeom prst="rect">
            <a:avLst/>
          </a:prstGeom>
          <a:solidFill>
            <a:srgbClr val="FCE7F3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0" y="366674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9D174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-ing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65760" y="361188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Sample words: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65760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365760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ply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2542032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542032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imply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4718304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718304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reply</a:t>
            </a:r>
            <a:endParaRPr lang="en-US" sz="1200" dirty="0"/>
          </a:p>
        </p:txBody>
      </p:sp>
      <p:sp>
        <p:nvSpPr>
          <p:cNvPr id="54" name="Shape 52"/>
          <p:cNvSpPr/>
          <p:nvPr/>
        </p:nvSpPr>
        <p:spPr>
          <a:xfrm>
            <a:off x="6894576" y="4023360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894576" y="4023360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comply</a:t>
            </a:r>
            <a:endParaRPr lang="en-US" sz="1200" dirty="0"/>
          </a:p>
        </p:txBody>
      </p:sp>
      <p:sp>
        <p:nvSpPr>
          <p:cNvPr id="56" name="Shape 54"/>
          <p:cNvSpPr/>
          <p:nvPr/>
        </p:nvSpPr>
        <p:spPr>
          <a:xfrm>
            <a:off x="365760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365760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supply</a:t>
            </a:r>
            <a:endParaRPr lang="en-US" sz="1200" dirty="0"/>
          </a:p>
        </p:txBody>
      </p:sp>
      <p:sp>
        <p:nvSpPr>
          <p:cNvPr id="58" name="Shape 56"/>
          <p:cNvSpPr/>
          <p:nvPr/>
        </p:nvSpPr>
        <p:spPr>
          <a:xfrm>
            <a:off x="2542032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2542032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implied</a:t>
            </a:r>
            <a:endParaRPr lang="en-US" sz="1200" dirty="0"/>
          </a:p>
        </p:txBody>
      </p:sp>
      <p:sp>
        <p:nvSpPr>
          <p:cNvPr id="60" name="Shape 58"/>
          <p:cNvSpPr/>
          <p:nvPr/>
        </p:nvSpPr>
        <p:spPr>
          <a:xfrm>
            <a:off x="4718304" y="4498848"/>
            <a:ext cx="2011680" cy="402336"/>
          </a:xfrm>
          <a:prstGeom prst="rect">
            <a:avLst>
              <a:gd name="adj" fmla="val 13636"/>
            </a:avLst>
          </a:prstGeom>
          <a:solidFill>
            <a:srgbClr val="EEF2FF"/>
          </a:solidFill>
          <a:ln w="12700">
            <a:solidFill>
              <a:srgbClr val="6366F1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718304" y="4498848"/>
            <a:ext cx="201168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4338C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implies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Word Labs — Root 'ply' — 3-Day Teaching Deck</dc:title>
  <dc:subject>PptxGenJS Presentation</dc:subject>
  <dc:creator>Word Labs</dc:creator>
  <cp:lastModifiedBy>Word Labs</cp:lastModifiedBy>
  <cp:revision>1</cp:revision>
  <dcterms:created xsi:type="dcterms:W3CDTF">2026-07-07T10:22:39Z</dcterms:created>
  <dcterms:modified xsi:type="dcterms:W3CDTF">2026-07-07T10:22:39Z</dcterms:modified>
</cp:coreProperties>
</file>