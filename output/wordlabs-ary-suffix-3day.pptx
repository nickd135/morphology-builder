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</p:sldIdLst>
  <p:notesMasterIdLst>
    <p:notesMasterId r:id="rId4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notesMaster" Target="notesMasters/notesMaster1.xml"/><Relationship Id="rId42" Type="http://schemas.openxmlformats.org/officeDocument/2006/relationships/presProps" Target="presProps.xml"/><Relationship Id="rId43" Type="http://schemas.openxmlformats.org/officeDocument/2006/relationships/viewProps" Target="viewProps.xml"/><Relationship Id="rId44" Type="http://schemas.openxmlformats.org/officeDocument/2006/relationships/theme" Target="theme/theme1.xml"/><Relationship Id="rId4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False statements, corrected:
'secondary' really means 'coming second or after the first stage, like secondary school'.
'contrary' really means 'completely opposite to something'.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aloud:
Our primary school watched a documentary about turtles on the Great Barrier Reef.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aloud:
The literary festival was held in a temporary tent at the park. Every visitor got a complimentary bookmark.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931920"/>
            <a:ext cx="9144000" cy="12115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800" kern="0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LABS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Suffix: '-ary'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457200" y="2331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200" i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"relating to; place associated with"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457200" y="3401568"/>
            <a:ext cx="4023360" cy="329184"/>
          </a:xfrm>
          <a:prstGeom prst="rect">
            <a:avLst>
              <a:gd name="adj" fmla="val 16667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340156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— Morpheme Meaning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3858768"/>
            <a:ext cx="4023360" cy="329184"/>
          </a:xfrm>
          <a:prstGeom prst="rect">
            <a:avLst>
              <a:gd name="adj" fmla="val 16667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385876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— Dictation &amp; Breakdown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4242816"/>
            <a:ext cx="4023360" cy="329184"/>
          </a:xfrm>
          <a:prstGeom prst="rect">
            <a:avLst>
              <a:gd name="adj" fmla="val 16667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4242816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— Dictation &amp; Word Matrix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45262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 Meaning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Suffix '-ary' — relating to; place associated with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Learning Intention &amp; Success Criteria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'-ary'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'-ary' = relating to; place associated with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22960"/>
            <a:ext cx="8412480" cy="1234440"/>
          </a:xfrm>
          <a:prstGeom prst="rect">
            <a:avLst>
              <a:gd name="adj" fmla="val 7407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02920" y="868680"/>
            <a:ext cx="813816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 are learning that the suffix '-ary' means 'relating to; place associated with' and how it changes a word.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365760" y="219456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Success Criteria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65760" y="2633472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6334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41248" y="2633472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explain what the suffix '-ary' means.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65760" y="3291840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3291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41248" y="3291840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add '-ary' to a base and spell the new word correctly.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65760" y="3950208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9502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41248" y="3950208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read and spell '-ary' words in sentences.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Vocabulary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'-ary'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'-ary' = relating to; place associated with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04672"/>
            <a:ext cx="8412480" cy="1170432"/>
          </a:xfrm>
          <a:prstGeom prst="rect">
            <a:avLst>
              <a:gd name="adj" fmla="val 781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804672"/>
            <a:ext cx="1280160" cy="1170432"/>
          </a:xfrm>
          <a:prstGeom prst="rect">
            <a:avLst>
              <a:gd name="adj" fmla="val 7813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81328" y="804672"/>
            <a:ext cx="91440" cy="1170432"/>
          </a:xfrm>
          <a:prstGeom prst="rect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80467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691640" y="84124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suffix is a word part added to the end of a word to change its meaning or job. The suffix '-ary' means 'relating to; place associated with'. In 'boundary', it is added to 'bound'.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365760" y="2130552"/>
            <a:ext cx="8412480" cy="1170432"/>
          </a:xfrm>
          <a:prstGeom prst="rect">
            <a:avLst>
              <a:gd name="adj" fmla="val 781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2130552"/>
            <a:ext cx="1280160" cy="1170432"/>
          </a:xfrm>
          <a:prstGeom prst="rect">
            <a:avLst>
              <a:gd name="adj" fmla="val 7813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81328" y="2130552"/>
            <a:ext cx="91440" cy="1170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213055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691640" y="216712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base is the main part of a word that carries its meaning. In 'boundary', the base is 'bound' (a limit or edge).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365760" y="3456432"/>
            <a:ext cx="8412480" cy="1170432"/>
          </a:xfrm>
          <a:prstGeom prst="rect">
            <a:avLst>
              <a:gd name="adj" fmla="val 7813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3456432"/>
            <a:ext cx="1280160" cy="1170432"/>
          </a:xfrm>
          <a:prstGeom prst="rect">
            <a:avLst>
              <a:gd name="adj" fmla="val 7813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81328" y="3456432"/>
            <a:ext cx="91440" cy="117043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45643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691640" y="349300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prefix is a word part added to the start of a word to change its meaning. In 'contrary', 'contr-' means 'against; opposite'.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 or False?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'-ary'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'-ary' = relating to; place associated with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these statements true or false? Decide with a partner.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07008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07008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The suffix '-ary' means 'relating to; place associated with'.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0" y="1207008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4" name="Text 12"/>
          <p:cNvSpPr/>
          <p:nvPr/>
        </p:nvSpPr>
        <p:spPr>
          <a:xfrm>
            <a:off x="7772400" y="120700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901952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1901952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'imaginary' means 'not real; only in your mind'.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0" y="1901952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8" name="Text 16"/>
          <p:cNvSpPr/>
          <p:nvPr/>
        </p:nvSpPr>
        <p:spPr>
          <a:xfrm>
            <a:off x="7772400" y="190195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596896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2596896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'secondary' means 'a place where books are kept for people to read or borrow'.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0" y="2596896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2" name="Text 20"/>
          <p:cNvSpPr/>
          <p:nvPr/>
        </p:nvSpPr>
        <p:spPr>
          <a:xfrm>
            <a:off x="7772400" y="259689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291840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3291840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'dictionary' means 'a book that lists words in alphabetical order with their meanings'.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772400" y="3291840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6" name="Text 24"/>
          <p:cNvSpPr/>
          <p:nvPr/>
        </p:nvSpPr>
        <p:spPr>
          <a:xfrm>
            <a:off x="7772400" y="329184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65760" y="3986784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48640" y="3986784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'contrary' means 'a line that marks the edge of an area'.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7772400" y="3986784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0" name="Text 28"/>
          <p:cNvSpPr/>
          <p:nvPr/>
        </p:nvSpPr>
        <p:spPr>
          <a:xfrm>
            <a:off x="7772400" y="3986784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 or False? —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'-ary'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'-ary' = relating to; place associated with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answers.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07008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07008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The suffix '-ary' means 'relating to; place associated with'.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0" y="1207008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0" y="120700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901952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1901952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'imaginary' means 'not real; only in your mind'.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0" y="1901952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0" y="190195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596896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2596896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'secondary' means 'a place where books are kept for people to read or borrow'.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0" y="2596896"/>
            <a:ext cx="1005840" cy="566928"/>
          </a:xfrm>
          <a:prstGeom prst="rect">
            <a:avLst>
              <a:gd name="adj" fmla="val 12903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0" y="259689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FALSE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291840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3291840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'dictionary' means 'a book that lists words in alphabetical order with their meanings'.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772400" y="3291840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72400" y="329184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65760" y="3986784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48640" y="3986784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'contrary' means 'a line that marks the edge of an area'.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7772400" y="3986784"/>
            <a:ext cx="1005840" cy="566928"/>
          </a:xfrm>
          <a:prstGeom prst="rect">
            <a:avLst>
              <a:gd name="adj" fmla="val 12903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772400" y="3986784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FALSE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 '-ary' — Meaning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'-ary'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'-ary' = relating to; place associated with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1371600"/>
          </a:xfrm>
          <a:prstGeom prst="rect">
            <a:avLst>
              <a:gd name="adj" fmla="val 8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65760" y="77724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'-ary'</a:t>
            </a:r>
            <a:endParaRPr lang="en-US" sz="4800" dirty="0"/>
          </a:p>
        </p:txBody>
      </p:sp>
      <p:sp>
        <p:nvSpPr>
          <p:cNvPr id="12" name="Shape 10"/>
          <p:cNvSpPr/>
          <p:nvPr/>
        </p:nvSpPr>
        <p:spPr>
          <a:xfrm>
            <a:off x="3520440" y="777240"/>
            <a:ext cx="36576" cy="1371600"/>
          </a:xfrm>
          <a:prstGeom prst="rect">
            <a:avLst/>
          </a:prstGeom>
          <a:solidFill>
            <a:srgbClr val="312E81"/>
          </a:solidFill>
          <a:ln w="12700">
            <a:solidFill>
              <a:srgbClr val="312E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03320" y="777240"/>
            <a:ext cx="4937760" cy="1371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relating to; place associated with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365760" y="233172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using this suffix: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6576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library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51460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51460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boundary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66344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6344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secondary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81228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1228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dictionary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65760" y="3401568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340156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imaginary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2514600" y="3401568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514600" y="340156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contrary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with '-ary'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'-ary'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'-ary' = relating to; place associated with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one part from each column, left to right (you can skip a column). Not every combination makes a real word!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1931670" cy="402336"/>
          </a:xfrm>
          <a:prstGeom prst="rect">
            <a:avLst>
              <a:gd name="adj" fmla="val 1363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188720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5760" y="1627632"/>
            <a:ext cx="1931670" cy="365760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1627632"/>
            <a:ext cx="19316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contr-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65760" y="2029968"/>
            <a:ext cx="193167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65760" y="2432304"/>
            <a:ext cx="1931670" cy="365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65760" y="2834640"/>
            <a:ext cx="193167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65760" y="3236976"/>
            <a:ext cx="1931670" cy="365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526030" y="1188720"/>
            <a:ext cx="193167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526030" y="1188720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526030" y="1627632"/>
            <a:ext cx="1931670" cy="365760"/>
          </a:xfrm>
          <a:prstGeom prst="rect">
            <a:avLst/>
          </a:prstGeom>
          <a:solidFill>
            <a:srgbClr val="CCFBF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526030" y="1627632"/>
            <a:ext cx="19316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2526030" y="2029968"/>
            <a:ext cx="1931670" cy="365760"/>
          </a:xfrm>
          <a:prstGeom prst="rect">
            <a:avLst/>
          </a:prstGeom>
          <a:solidFill>
            <a:srgbClr val="CCFBF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526030" y="2029968"/>
            <a:ext cx="19316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libr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2526030" y="2432304"/>
            <a:ext cx="1931670" cy="365760"/>
          </a:xfrm>
          <a:prstGeom prst="rect">
            <a:avLst/>
          </a:prstGeom>
          <a:solidFill>
            <a:srgbClr val="CCFBF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526030" y="2432304"/>
            <a:ext cx="19316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bound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2526030" y="2834640"/>
            <a:ext cx="1931670" cy="365760"/>
          </a:xfrm>
          <a:prstGeom prst="rect">
            <a:avLst/>
          </a:prstGeom>
          <a:solidFill>
            <a:srgbClr val="CCFBF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526030" y="2834640"/>
            <a:ext cx="19316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second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2526030" y="3236976"/>
            <a:ext cx="1931670" cy="365760"/>
          </a:xfrm>
          <a:prstGeom prst="rect">
            <a:avLst/>
          </a:prstGeom>
          <a:solidFill>
            <a:srgbClr val="CCFBF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526030" y="3236976"/>
            <a:ext cx="19316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imagine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4686300" y="1188720"/>
            <a:ext cx="193167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686300" y="1188720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4686300" y="1627632"/>
            <a:ext cx="193167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686300" y="1627632"/>
            <a:ext cx="19316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-tion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4686300" y="2029968"/>
            <a:ext cx="1931670" cy="365760"/>
          </a:xfrm>
          <a:prstGeom prst="rect">
            <a:avLst/>
          </a:prstGeom>
          <a:solidFill>
            <a:srgbClr val="FCE7F3"/>
          </a:solidFill>
          <a:ln w="25400">
            <a:solidFill>
              <a:srgbClr val="DB277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686300" y="2029968"/>
            <a:ext cx="19316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-ary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4686300" y="2432304"/>
            <a:ext cx="1931670" cy="365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686300" y="2834640"/>
            <a:ext cx="193167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686300" y="3236976"/>
            <a:ext cx="1931670" cy="365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846570" y="1188720"/>
            <a:ext cx="193167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846570" y="1188720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More suffixes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6846570" y="1627632"/>
            <a:ext cx="1931670" cy="365760"/>
          </a:xfrm>
          <a:prstGeom prst="rect">
            <a:avLst/>
          </a:prstGeom>
          <a:solidFill>
            <a:srgbClr val="FCE7F3"/>
          </a:solidFill>
          <a:ln w="25400">
            <a:solidFill>
              <a:srgbClr val="DB277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846570" y="1627632"/>
            <a:ext cx="19316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-ary</a:t>
            </a:r>
            <a:endParaRPr lang="en-US" sz="1300" dirty="0"/>
          </a:p>
        </p:txBody>
      </p:sp>
      <p:sp>
        <p:nvSpPr>
          <p:cNvPr id="44" name="Shape 42"/>
          <p:cNvSpPr/>
          <p:nvPr/>
        </p:nvSpPr>
        <p:spPr>
          <a:xfrm>
            <a:off x="6846570" y="2029968"/>
            <a:ext cx="193167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846570" y="2432304"/>
            <a:ext cx="1931670" cy="365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6846570" y="2834640"/>
            <a:ext cx="193167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846570" y="3236976"/>
            <a:ext cx="1931670" cy="365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65760" y="3776472"/>
            <a:ext cx="1051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</a:t>
            </a:r>
            <a:endParaRPr lang="en-US" sz="1200" dirty="0"/>
          </a:p>
        </p:txBody>
      </p:sp>
      <p:sp>
        <p:nvSpPr>
          <p:cNvPr id="49" name="Shape 47"/>
          <p:cNvSpPr/>
          <p:nvPr/>
        </p:nvSpPr>
        <p:spPr>
          <a:xfrm>
            <a:off x="1463040" y="3776472"/>
            <a:ext cx="731520" cy="420624"/>
          </a:xfrm>
          <a:prstGeom prst="rect">
            <a:avLst>
              <a:gd name="adj" fmla="val 17391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0" name="Text 48"/>
          <p:cNvSpPr/>
          <p:nvPr/>
        </p:nvSpPr>
        <p:spPr>
          <a:xfrm>
            <a:off x="1463040" y="3776472"/>
            <a:ext cx="731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</a:t>
            </a:r>
            <a:endParaRPr lang="en-US" sz="1300" dirty="0"/>
          </a:p>
        </p:txBody>
      </p:sp>
      <p:sp>
        <p:nvSpPr>
          <p:cNvPr id="51" name="Text 49"/>
          <p:cNvSpPr/>
          <p:nvPr/>
        </p:nvSpPr>
        <p:spPr>
          <a:xfrm>
            <a:off x="2231136" y="3776472"/>
            <a:ext cx="274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</a:t>
            </a:r>
            <a:endParaRPr lang="en-US" sz="1400" dirty="0"/>
          </a:p>
        </p:txBody>
      </p:sp>
      <p:sp>
        <p:nvSpPr>
          <p:cNvPr id="52" name="Shape 50"/>
          <p:cNvSpPr/>
          <p:nvPr/>
        </p:nvSpPr>
        <p:spPr>
          <a:xfrm>
            <a:off x="2523744" y="3776472"/>
            <a:ext cx="1005840" cy="420624"/>
          </a:xfrm>
          <a:prstGeom prst="rect">
            <a:avLst>
              <a:gd name="adj" fmla="val 17391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3" name="Text 51"/>
          <p:cNvSpPr/>
          <p:nvPr/>
        </p:nvSpPr>
        <p:spPr>
          <a:xfrm>
            <a:off x="2523744" y="3776472"/>
            <a:ext cx="1005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-tion</a:t>
            </a:r>
            <a:endParaRPr lang="en-US" sz="1300" dirty="0"/>
          </a:p>
        </p:txBody>
      </p:sp>
      <p:sp>
        <p:nvSpPr>
          <p:cNvPr id="54" name="Text 52"/>
          <p:cNvSpPr/>
          <p:nvPr/>
        </p:nvSpPr>
        <p:spPr>
          <a:xfrm>
            <a:off x="3566160" y="3776472"/>
            <a:ext cx="274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</a:t>
            </a:r>
            <a:endParaRPr lang="en-US" sz="1400" dirty="0"/>
          </a:p>
        </p:txBody>
      </p:sp>
      <p:sp>
        <p:nvSpPr>
          <p:cNvPr id="55" name="Shape 53"/>
          <p:cNvSpPr/>
          <p:nvPr/>
        </p:nvSpPr>
        <p:spPr>
          <a:xfrm>
            <a:off x="3858768" y="3776472"/>
            <a:ext cx="868680" cy="420624"/>
          </a:xfrm>
          <a:prstGeom prst="rect">
            <a:avLst>
              <a:gd name="adj" fmla="val 17391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6" name="Text 54"/>
          <p:cNvSpPr/>
          <p:nvPr/>
        </p:nvSpPr>
        <p:spPr>
          <a:xfrm>
            <a:off x="3858768" y="3776472"/>
            <a:ext cx="868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-ary</a:t>
            </a:r>
            <a:endParaRPr lang="en-US" sz="1300" dirty="0"/>
          </a:p>
        </p:txBody>
      </p:sp>
      <p:sp>
        <p:nvSpPr>
          <p:cNvPr id="57" name="Text 55"/>
          <p:cNvSpPr/>
          <p:nvPr/>
        </p:nvSpPr>
        <p:spPr>
          <a:xfrm>
            <a:off x="4809744" y="3776472"/>
            <a:ext cx="365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=</a:t>
            </a:r>
            <a:endParaRPr lang="en-US" sz="1800" dirty="0"/>
          </a:p>
        </p:txBody>
      </p:sp>
      <p:sp>
        <p:nvSpPr>
          <p:cNvPr id="58" name="Shape 56"/>
          <p:cNvSpPr/>
          <p:nvPr/>
        </p:nvSpPr>
        <p:spPr>
          <a:xfrm>
            <a:off x="5221224" y="3776472"/>
            <a:ext cx="2011680" cy="420624"/>
          </a:xfrm>
          <a:prstGeom prst="rect">
            <a:avLst>
              <a:gd name="adj" fmla="val 17391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5221224" y="3776472"/>
            <a:ext cx="2011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dictionary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'-ary' Word Definitions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'-ary'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'-ary' = relating to; place associated with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each word to its meaning. The meanings are mixed up!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" y="118872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library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14600" y="1188720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51760" y="1188720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completely opposite to something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1700784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5760" y="170078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boundary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514600" y="1700784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51760" y="1700784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not real; only in your mind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2212848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760" y="221284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secondary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514600" y="2212848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51760" y="2212848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a place where books are kept for people to read or borrow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65760" y="2724912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65760" y="2724912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dictionary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514600" y="2724912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651760" y="2724912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 a line that marks the edge of an area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65760" y="3236976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365760" y="3236976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imaginary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2514600" y="3236976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651760" y="3236976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  coming second or after the first stage, like secondary school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365760" y="3749040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65760" y="374904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contrary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2514600" y="3749040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651760" y="3749040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F.  a book that lists words in alphabetical order with their meanings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'-ary' Word Definitions —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'-ary'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'-ary' = relating to; place associated with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matches.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" y="118872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library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14600" y="1188720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51760" y="1188720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a place where books are kept for people to read or borrow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1700784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5760" y="170078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boundary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514600" y="1700784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51760" y="1700784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a line that marks the edge of an area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2212848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760" y="221284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secondary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514600" y="2212848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51760" y="2212848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coming second or after the first stage, like secondary school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65760" y="2724912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65760" y="2724912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dictionary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514600" y="2724912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651760" y="2724912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 a book that lists words in alphabetical order with their meanings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65760" y="3236976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365760" y="3236976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imaginary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2514600" y="3236976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651760" y="3236976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  not real; only in your mind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365760" y="3749040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65760" y="374904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contrary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2514600" y="3749040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651760" y="3749040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F.  completely opposite to something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Using '-ary' Words in Sentences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'-ary'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'-ary' = relating to; place associated with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these sentences. Underline the '-ary' word and talk about what it means.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61872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1261872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13232" y="1261872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1261872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960120" y="1307592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borrow books from the school library every Friday.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365760" y="2468880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2468880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13232" y="2468880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2468880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960120" y="2514600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 hit the cricket ball over the boundary.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365760" y="3675888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65760" y="3675888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13232" y="3675888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3675888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960120" y="3721608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brother started secondary school this year.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&amp;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→ Write → Reveal → Check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Listen &amp; Write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'-ary'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'-ary' = relating to; place associated with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530352"/>
          </a:xfrm>
          <a:prstGeom prst="rect">
            <a:avLst>
              <a:gd name="adj" fmla="val 13793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7724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📢  Teacher reads the passage aloud. Students write it in their books.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160020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19456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78892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38328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passage here ↑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2880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82880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focus words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475488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75488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punctuation mark</a:t>
            </a:r>
            <a:endParaRPr lang="en-US" sz="2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Reveal &amp; Underline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'-ary'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'-ary' = relating to; place associated with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writing. Underline the focus words.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8412480" cy="1554480"/>
          </a:xfrm>
          <a:prstGeom prst="rect">
            <a:avLst>
              <a:gd name="adj" fmla="val 705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61872"/>
            <a:ext cx="8046720" cy="140817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primary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school watched a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documentary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about turtles on the Great Barrier Reef.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65760" y="285292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85292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write each focus word below — leave room for your breakdown.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874520" y="3456432"/>
            <a:ext cx="256032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874520" y="3977640"/>
            <a:ext cx="2560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345643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documentary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874520" y="40050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709160" y="3456432"/>
            <a:ext cx="256032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709160" y="3977640"/>
            <a:ext cx="2560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4709160" y="345643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primary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709160" y="40050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1 of 2)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'-ary'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'-ary' = relating to; place associated with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documentary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'-ary'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'-ary' = relating to; place associated with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documentary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document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record of facts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317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ary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relating to; place associated with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'-ary'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'-ary' = relating to; place associated with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documentary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document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record of facts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317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ary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relating to; place associated with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978152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978152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doc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203448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3279648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279648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4504944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4581144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81144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men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806440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5882640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882640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7107936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7184136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184136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ry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42" name="Text 40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'-ary'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'-ary' = relating to; place associated with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documentary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document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record of facts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317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ary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relating to; place associated with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978152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978152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doc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203448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3279648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279648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4504944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4581144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81144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men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806440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5882640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882640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7107936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7184136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184136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ry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952244" y="4187952"/>
            <a:ext cx="543652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952244" y="4187952"/>
            <a:ext cx="5436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2546188" y="4187952"/>
            <a:ext cx="543652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546188" y="4187952"/>
            <a:ext cx="5436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3140133" y="4187952"/>
            <a:ext cx="543652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140133" y="4187952"/>
            <a:ext cx="5436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3734077" y="4187952"/>
            <a:ext cx="543652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734077" y="4187952"/>
            <a:ext cx="5436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4328021" y="4187952"/>
            <a:ext cx="543652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328021" y="4187952"/>
            <a:ext cx="5436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4921966" y="4187952"/>
            <a:ext cx="543652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921966" y="4187952"/>
            <a:ext cx="5436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5515910" y="4187952"/>
            <a:ext cx="543652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5515910" y="4187952"/>
            <a:ext cx="5436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6109855" y="4187952"/>
            <a:ext cx="543652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109855" y="4187952"/>
            <a:ext cx="5436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6703799" y="4187952"/>
            <a:ext cx="543652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703799" y="4187952"/>
            <a:ext cx="5436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7297743" y="4187952"/>
            <a:ext cx="543652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7297743" y="4187952"/>
            <a:ext cx="5436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7891688" y="4187952"/>
            <a:ext cx="543652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7891688" y="4187952"/>
            <a:ext cx="5436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2 of 2)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'-ary'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'-ary' = relating to; place associated with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primary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'-ary'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'-ary' = relating to; place associated with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primary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prim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317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ary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relating to; place associated with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'-ary'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'-ary' = relating to; place associated with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primary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prim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317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ary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relating to; place associated with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pri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ry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6" name="Text 34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'-ary'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'-ary' = relating to; place associated with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primary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prim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317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ary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relating to; place associated with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pri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ry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124837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124837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303352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03352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3942207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942207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485089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85089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5759577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759577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666826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66826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7576947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576947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</a:t>
            </a:r>
            <a:endParaRPr lang="en-US" sz="11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&amp;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→ Write → Reveal → Build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Listen &amp; Write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'-ary'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'-ary' = relating to; place associated with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530352"/>
          </a:xfrm>
          <a:prstGeom prst="rect">
            <a:avLst>
              <a:gd name="adj" fmla="val 13793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7724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📢  Teacher reads the passage aloud. Students write it in their books.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160020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19456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78892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38328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passage here ↑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2880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82880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focus words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475488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75488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punctuation marks</a:t>
            </a:r>
            <a:endParaRPr lang="en-US" sz="28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Reveal &amp; Underline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'-ary'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'-ary' = relating to; place associated with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writing. Underline the focus words.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8412480" cy="1554480"/>
          </a:xfrm>
          <a:prstGeom prst="rect">
            <a:avLst>
              <a:gd name="adj" fmla="val 705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61872"/>
            <a:ext cx="8046720" cy="140817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literary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festival was held in a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temporary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tent at the park. Every visitor got a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complimentary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bookmark.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65760" y="285292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85292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write each focus word below — leave room for your breakdown.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3456432"/>
            <a:ext cx="249936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" y="3977640"/>
            <a:ext cx="24993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548640" y="3456432"/>
            <a:ext cx="249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literary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48640" y="4005072"/>
            <a:ext cx="249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322320" y="3456432"/>
            <a:ext cx="249936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322320" y="3977640"/>
            <a:ext cx="24993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3322320" y="3456432"/>
            <a:ext cx="249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temporary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322320" y="4005072"/>
            <a:ext cx="249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096000" y="3456432"/>
            <a:ext cx="249936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096000" y="3977640"/>
            <a:ext cx="24993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6096000" y="3456432"/>
            <a:ext cx="249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complimentary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096000" y="4005072"/>
            <a:ext cx="249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1 of 3)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'-ary'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'-ary' = relating to; place associated with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literary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'-ary'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'-ary' = relating to; place associated with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literary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liter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letter; writing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317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ary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relating to; place associated with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'-ary'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'-ary' = relating to; place associated with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literary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liter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letter; writing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317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ary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relating to; place associated with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975104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975104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lit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529584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3602736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02736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5157216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5230368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230368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784848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858000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858000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9" name="Text 37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'-ary'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'-ary' = relating to; place associated with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literary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liter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letter; writing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317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ary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relating to; place associated with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975104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975104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lit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529584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3602736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02736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5157216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5230368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230368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784848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858000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858000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124837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124837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303352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03352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3942207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942207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485089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85089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5759577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759577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666826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66826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7576947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7576947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</a:t>
            </a:r>
            <a:endParaRPr lang="en-US" sz="11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2 of 3)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'-ary'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'-ary' = relating to; place associated with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temporary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'-ary'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'-ary' = relating to; place associated with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temporary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tempor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317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ary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relating to; place associated with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'-ary'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'-ary' = relating to; place associated with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temporary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tempor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317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ary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relating to; place associated with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975104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975104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tem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529584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3602736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02736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5157216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5230368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230368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rar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784848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858000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858000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9" name="Text 37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'-ary'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'-ary' = relating to; place associated with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temporary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tempor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317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ary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relating to; place associated with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975104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975104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tem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529584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3602736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02736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5157216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5230368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230368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rar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784848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858000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858000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951330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951330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2677363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677363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3403397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403397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4129430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129430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4855464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855464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5581498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581498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6307531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307531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7033565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033565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7759598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7759598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</a:t>
            </a:r>
            <a:endParaRPr lang="en-US" sz="10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3 of 3)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'-ary'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'-ary' = relating to; place associated with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complimentary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'-ary'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'-ary' = relating to; place associated with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complimentary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compliment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kind remark; praise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317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ary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relating to; place associated with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'-ary'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'-ary' = relating to; place associated with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complimentary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compliment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kind remark; praise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317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ary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relating to; place associated with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978152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978152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203448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3279648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279648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pli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4504944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4581144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81144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men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806440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5882640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882640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7107936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7184136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184136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ry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42" name="Text 40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'-ary'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'-ary' = relating to; place associated with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complimentary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compliment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kind remark; praise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317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ary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relating to; place associated with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978152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978152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203448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3279648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279648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pli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4504944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4581144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81144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men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806440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5882640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882640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7107936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7184136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184136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ry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952897" y="4187952"/>
            <a:ext cx="451573" cy="475488"/>
          </a:xfrm>
          <a:prstGeom prst="rect">
            <a:avLst>
              <a:gd name="adj" fmla="val 8100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952897" y="4187952"/>
            <a:ext cx="451573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2455415" y="4187952"/>
            <a:ext cx="451573" cy="475488"/>
          </a:xfrm>
          <a:prstGeom prst="rect">
            <a:avLst>
              <a:gd name="adj" fmla="val 8100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455415" y="4187952"/>
            <a:ext cx="451573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2957933" y="4187952"/>
            <a:ext cx="451573" cy="475488"/>
          </a:xfrm>
          <a:prstGeom prst="rect">
            <a:avLst>
              <a:gd name="adj" fmla="val 8100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957933" y="4187952"/>
            <a:ext cx="451573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3460451" y="4187952"/>
            <a:ext cx="451573" cy="475488"/>
          </a:xfrm>
          <a:prstGeom prst="rect">
            <a:avLst>
              <a:gd name="adj" fmla="val 8100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460451" y="4187952"/>
            <a:ext cx="451573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3962969" y="4187952"/>
            <a:ext cx="451573" cy="475488"/>
          </a:xfrm>
          <a:prstGeom prst="rect">
            <a:avLst>
              <a:gd name="adj" fmla="val 8100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962969" y="4187952"/>
            <a:ext cx="451573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4465487" y="4187952"/>
            <a:ext cx="451573" cy="475488"/>
          </a:xfrm>
          <a:prstGeom prst="rect">
            <a:avLst>
              <a:gd name="adj" fmla="val 8100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465487" y="4187952"/>
            <a:ext cx="451573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4968006" y="4187952"/>
            <a:ext cx="451573" cy="475488"/>
          </a:xfrm>
          <a:prstGeom prst="rect">
            <a:avLst>
              <a:gd name="adj" fmla="val 8100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968006" y="4187952"/>
            <a:ext cx="451573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5470524" y="4187952"/>
            <a:ext cx="451573" cy="475488"/>
          </a:xfrm>
          <a:prstGeom prst="rect">
            <a:avLst>
              <a:gd name="adj" fmla="val 8100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5470524" y="4187952"/>
            <a:ext cx="451573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5973042" y="4187952"/>
            <a:ext cx="451573" cy="475488"/>
          </a:xfrm>
          <a:prstGeom prst="rect">
            <a:avLst>
              <a:gd name="adj" fmla="val 8100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5973042" y="4187952"/>
            <a:ext cx="451573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6475560" y="4187952"/>
            <a:ext cx="451573" cy="475488"/>
          </a:xfrm>
          <a:prstGeom prst="rect">
            <a:avLst>
              <a:gd name="adj" fmla="val 8100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6475560" y="4187952"/>
            <a:ext cx="451573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6978078" y="4187952"/>
            <a:ext cx="451573" cy="475488"/>
          </a:xfrm>
          <a:prstGeom prst="rect">
            <a:avLst>
              <a:gd name="adj" fmla="val 8100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6978078" y="4187952"/>
            <a:ext cx="451573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7480596" y="4187952"/>
            <a:ext cx="451573" cy="475488"/>
          </a:xfrm>
          <a:prstGeom prst="rect">
            <a:avLst>
              <a:gd name="adj" fmla="val 8100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7480596" y="4187952"/>
            <a:ext cx="451573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</a:t>
            </a:r>
            <a:endParaRPr lang="en-US" sz="900" dirty="0"/>
          </a:p>
        </p:txBody>
      </p:sp>
      <p:sp>
        <p:nvSpPr>
          <p:cNvPr id="66" name="Shape 64"/>
          <p:cNvSpPr/>
          <p:nvPr/>
        </p:nvSpPr>
        <p:spPr>
          <a:xfrm>
            <a:off x="7983114" y="4187952"/>
            <a:ext cx="451573" cy="475488"/>
          </a:xfrm>
          <a:prstGeom prst="rect">
            <a:avLst>
              <a:gd name="adj" fmla="val 8100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7983114" y="4187952"/>
            <a:ext cx="451573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</a:t>
            </a:r>
            <a:endParaRPr lang="en-US" sz="9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Your Own Words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'-ary'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'-ary' = relating to; place associated with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Word Labs Morpheme Builder to find words, then fill in the matrix below.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65760" y="1143000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Name: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143000" y="1371600"/>
            <a:ext cx="292608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1143000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Date: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349240" y="1371600"/>
            <a:ext cx="324612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5760" y="1536192"/>
            <a:ext cx="1931670" cy="402336"/>
          </a:xfrm>
          <a:prstGeom prst="rect">
            <a:avLst>
              <a:gd name="adj" fmla="val 1363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1536192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65760" y="1975104"/>
            <a:ext cx="193167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65760" y="2313432"/>
            <a:ext cx="193167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65760" y="2651760"/>
            <a:ext cx="193167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65760" y="2990088"/>
            <a:ext cx="193167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526030" y="1536192"/>
            <a:ext cx="193167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526030" y="1536192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2526030" y="1975104"/>
            <a:ext cx="193167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526030" y="2313432"/>
            <a:ext cx="193167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526030" y="2651760"/>
            <a:ext cx="193167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526030" y="2990088"/>
            <a:ext cx="193167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686300" y="1536192"/>
            <a:ext cx="193167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686300" y="1536192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686300" y="1975104"/>
            <a:ext cx="193167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686300" y="2313432"/>
            <a:ext cx="193167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686300" y="2651760"/>
            <a:ext cx="193167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686300" y="2990088"/>
            <a:ext cx="193167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846570" y="1536192"/>
            <a:ext cx="193167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846570" y="1536192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More suffixes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6846570" y="1975104"/>
            <a:ext cx="193167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846570" y="2313432"/>
            <a:ext cx="193167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846570" y="2651760"/>
            <a:ext cx="193167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846570" y="2990088"/>
            <a:ext cx="193167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65760" y="347472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I made: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36576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20040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03504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36576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320040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03504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65760" y="4535424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Choose 3 words and write a sentence for each.</a:t>
            </a:r>
            <a:endParaRPr lang="en-US" sz="10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Review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'-ary'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'-ary' = relating to; place associated with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 is the matrix. Which words did you build?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43000"/>
            <a:ext cx="1931670" cy="402336"/>
          </a:xfrm>
          <a:prstGeom prst="rect">
            <a:avLst>
              <a:gd name="adj" fmla="val 1363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143000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5760" y="1581912"/>
            <a:ext cx="1931670" cy="292608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1581912"/>
            <a:ext cx="193167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contr-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65760" y="1911096"/>
            <a:ext cx="1931670" cy="292608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65760" y="2240280"/>
            <a:ext cx="1931670" cy="292608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65760" y="2569464"/>
            <a:ext cx="1931670" cy="292608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65760" y="2898648"/>
            <a:ext cx="1931670" cy="292608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526030" y="1143000"/>
            <a:ext cx="193167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526030" y="1143000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526030" y="1581912"/>
            <a:ext cx="1931670" cy="292608"/>
          </a:xfrm>
          <a:prstGeom prst="rect">
            <a:avLst/>
          </a:prstGeom>
          <a:solidFill>
            <a:srgbClr val="CCFBF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526030" y="1581912"/>
            <a:ext cx="193167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2526030" y="1911096"/>
            <a:ext cx="1931670" cy="292608"/>
          </a:xfrm>
          <a:prstGeom prst="rect">
            <a:avLst/>
          </a:prstGeom>
          <a:solidFill>
            <a:srgbClr val="CCFBF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526030" y="1911096"/>
            <a:ext cx="193167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libr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2526030" y="2240280"/>
            <a:ext cx="1931670" cy="292608"/>
          </a:xfrm>
          <a:prstGeom prst="rect">
            <a:avLst/>
          </a:prstGeom>
          <a:solidFill>
            <a:srgbClr val="CCFBF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526030" y="2240280"/>
            <a:ext cx="193167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bound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2526030" y="2569464"/>
            <a:ext cx="1931670" cy="292608"/>
          </a:xfrm>
          <a:prstGeom prst="rect">
            <a:avLst/>
          </a:prstGeom>
          <a:solidFill>
            <a:srgbClr val="CCFBF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526030" y="2569464"/>
            <a:ext cx="193167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second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2526030" y="2898648"/>
            <a:ext cx="1931670" cy="292608"/>
          </a:xfrm>
          <a:prstGeom prst="rect">
            <a:avLst/>
          </a:prstGeom>
          <a:solidFill>
            <a:srgbClr val="CCFBF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526030" y="2898648"/>
            <a:ext cx="193167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imagine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4686300" y="1143000"/>
            <a:ext cx="193167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686300" y="1143000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4686300" y="1581912"/>
            <a:ext cx="1931670" cy="292608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686300" y="1581912"/>
            <a:ext cx="193167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-tion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4686300" y="1911096"/>
            <a:ext cx="1931670" cy="292608"/>
          </a:xfrm>
          <a:prstGeom prst="rect">
            <a:avLst/>
          </a:prstGeom>
          <a:solidFill>
            <a:srgbClr val="FCE7F3"/>
          </a:solidFill>
          <a:ln w="25400">
            <a:solidFill>
              <a:srgbClr val="DB277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686300" y="1911096"/>
            <a:ext cx="193167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-ary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4686300" y="2240280"/>
            <a:ext cx="1931670" cy="292608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686300" y="2569464"/>
            <a:ext cx="1931670" cy="292608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686300" y="2898648"/>
            <a:ext cx="1931670" cy="292608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846570" y="1143000"/>
            <a:ext cx="193167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846570" y="1143000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More suffixes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6846570" y="1581912"/>
            <a:ext cx="1931670" cy="292608"/>
          </a:xfrm>
          <a:prstGeom prst="rect">
            <a:avLst/>
          </a:prstGeom>
          <a:solidFill>
            <a:srgbClr val="FCE7F3"/>
          </a:solidFill>
          <a:ln w="25400">
            <a:solidFill>
              <a:srgbClr val="DB277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846570" y="1581912"/>
            <a:ext cx="193167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-ary</a:t>
            </a:r>
            <a:endParaRPr lang="en-US" sz="1300" dirty="0"/>
          </a:p>
        </p:txBody>
      </p:sp>
      <p:sp>
        <p:nvSpPr>
          <p:cNvPr id="44" name="Shape 42"/>
          <p:cNvSpPr/>
          <p:nvPr/>
        </p:nvSpPr>
        <p:spPr>
          <a:xfrm>
            <a:off x="6846570" y="1911096"/>
            <a:ext cx="1931670" cy="292608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846570" y="2240280"/>
            <a:ext cx="1931670" cy="292608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6846570" y="2569464"/>
            <a:ext cx="1931670" cy="292608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846570" y="2898648"/>
            <a:ext cx="1931670" cy="292608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39</Slides>
  <Notes>39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Word Labs — Suffix '-ary' — Teaching Deck</dc:title>
  <dc:subject>PptxGenJS Presentation</dc:subject>
  <dc:creator>Word Labs</dc:creator>
  <cp:lastModifiedBy>Word Labs</cp:lastModifiedBy>
  <cp:revision>1</cp:revision>
  <dcterms:created xsi:type="dcterms:W3CDTF">2026-10-22T10:14:37Z</dcterms:created>
  <dcterms:modified xsi:type="dcterms:W3CDTF">2026-10-22T10:14:37Z</dcterms:modified>
</cp:coreProperties>
</file>