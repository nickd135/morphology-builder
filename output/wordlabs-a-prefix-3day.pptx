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</p:sldIdLst>
  <p:notesMasterIdLst>
    <p:notesMasterId r:id="rId39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notesMaster" Target="notesMasters/notesMaster1.xml"/><Relationship Id="rId40" Type="http://schemas.openxmlformats.org/officeDocument/2006/relationships/presProps" Target="presProps.xml"/><Relationship Id="rId41" Type="http://schemas.openxmlformats.org/officeDocument/2006/relationships/viewProps" Target="viewProps.xml"/><Relationship Id="rId42" Type="http://schemas.openxmlformats.org/officeDocument/2006/relationships/theme" Target="theme/theme1.xml"/><Relationship Id="rId4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01168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3931920"/>
            <a:ext cx="9144000" cy="121158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5029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800" kern="0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LABS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Prefix: 'a-'</a:t>
            </a:r>
            <a:endParaRPr lang="en-US" sz="6400" dirty="0"/>
          </a:p>
        </p:txBody>
      </p:sp>
      <p:sp>
        <p:nvSpPr>
          <p:cNvPr id="6" name="Text 4"/>
          <p:cNvSpPr/>
          <p:nvPr/>
        </p:nvSpPr>
        <p:spPr>
          <a:xfrm>
            <a:off x="457200" y="2331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i="1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"not; without"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457200" y="292608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6366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Origin: Prefix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57200" y="3429000"/>
            <a:ext cx="4023360" cy="347472"/>
          </a:xfrm>
          <a:prstGeom prst="rect">
            <a:avLst>
              <a:gd name="adj" fmla="val 15789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57200" y="342900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— Morpheme Meaning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57200" y="3566160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57200" y="356616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— Dictation &amp; Breakdown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457200" y="3703320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57200" y="370332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— Dictation &amp; Word Matrix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457200" y="3401568"/>
            <a:ext cx="4023360" cy="347472"/>
          </a:xfrm>
          <a:prstGeom prst="rect">
            <a:avLst>
              <a:gd name="adj" fmla="val 15789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57200" y="3401568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— Morpheme Meaning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457200" y="3785616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57200" y="3785616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— Dictation &amp; Breakdown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457200" y="4169664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57200" y="4169664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— Dictation &amp; Word Matrix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457200" y="402336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 Meaning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Prefix 'a-' — not; without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Learning Intention &amp; Success Criteria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'a-' = not; without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822960"/>
            <a:ext cx="8412480" cy="1234440"/>
          </a:xfrm>
          <a:prstGeom prst="rect">
            <a:avLst>
              <a:gd name="adj" fmla="val 7407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502920" y="868680"/>
            <a:ext cx="81381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We are learning that the prefix 'a-' means 'not; without'.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365760" y="219456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Success Criteria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365760" y="2633472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760" y="263347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841248" y="2633472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explain the meaning of the prefix 'a-'.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365760" y="3291840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5760" y="32918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841248" y="3291840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use base words and other morphemes to build and decode 'a-' words.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365760" y="3950208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65760" y="395020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841248" y="3950208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read and spell 'a-' words effectively in sentences.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Key Vocabulary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'a-' = not; without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804672"/>
            <a:ext cx="8412480" cy="1170432"/>
          </a:xfrm>
          <a:prstGeom prst="rect">
            <a:avLst>
              <a:gd name="adj" fmla="val 7813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365760" y="804672"/>
            <a:ext cx="1280160" cy="1170432"/>
          </a:xfrm>
          <a:prstGeom prst="rect">
            <a:avLst>
              <a:gd name="adj" fmla="val 7813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481328" y="804672"/>
            <a:ext cx="91440" cy="1170432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65760" y="80467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1691640" y="84124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meaningful word part added to the beginning of a root to change its meaning. The prefix 'a-' means 'not; without'.</a:t>
            </a:r>
            <a:endParaRPr lang="en-US" sz="1350" dirty="0"/>
          </a:p>
        </p:txBody>
      </p:sp>
      <p:sp>
        <p:nvSpPr>
          <p:cNvPr id="15" name="Shape 13"/>
          <p:cNvSpPr/>
          <p:nvPr/>
        </p:nvSpPr>
        <p:spPr>
          <a:xfrm>
            <a:off x="365760" y="2130552"/>
            <a:ext cx="8412480" cy="1170432"/>
          </a:xfrm>
          <a:prstGeom prst="rect">
            <a:avLst>
              <a:gd name="adj" fmla="val 781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365760" y="2130552"/>
            <a:ext cx="1280160" cy="1170432"/>
          </a:xfrm>
          <a:prstGeom prst="rect">
            <a:avLst>
              <a:gd name="adj" fmla="val 7813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481328" y="2130552"/>
            <a:ext cx="91440" cy="1170432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65760" y="213055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1691640" y="216712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core part of a word carrying its basic meaning. In 'avid', the root is the part after the prefix 'a-'.</a:t>
            </a:r>
            <a:endParaRPr lang="en-US" sz="1350" dirty="0"/>
          </a:p>
        </p:txBody>
      </p:sp>
      <p:sp>
        <p:nvSpPr>
          <p:cNvPr id="20" name="Shape 18"/>
          <p:cNvSpPr/>
          <p:nvPr/>
        </p:nvSpPr>
        <p:spPr>
          <a:xfrm>
            <a:off x="365760" y="3456432"/>
            <a:ext cx="8412480" cy="1170432"/>
          </a:xfrm>
          <a:prstGeom prst="rect">
            <a:avLst>
              <a:gd name="adj" fmla="val 781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365760" y="3456432"/>
            <a:ext cx="1280160" cy="1170432"/>
          </a:xfrm>
          <a:prstGeom prst="rect">
            <a:avLst>
              <a:gd name="adj" fmla="val 7813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481328" y="3456432"/>
            <a:ext cx="91440" cy="1170432"/>
          </a:xfrm>
          <a:prstGeom prst="rect">
            <a:avLst/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45643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</a:t>
            </a:r>
            <a:endParaRPr lang="en-US" sz="1600" dirty="0"/>
          </a:p>
        </p:txBody>
      </p:sp>
      <p:sp>
        <p:nvSpPr>
          <p:cNvPr id="24" name="Text 22"/>
          <p:cNvSpPr/>
          <p:nvPr/>
        </p:nvSpPr>
        <p:spPr>
          <a:xfrm>
            <a:off x="1691640" y="349300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meaningful word part added to the end of a word to change its meaning or form. E.g. '-ed' changes a verb to past tense.</a:t>
            </a:r>
            <a:endParaRPr lang="en-US" sz="13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 or False?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'a-' = not; without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31520"/>
            <a:ext cx="8412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Are the following statements true or false?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365760" y="1207008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07008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 'away' means 'not in a particular place; at a distance'.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7772400" y="1207008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772400" y="1207008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365760" y="1901952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548640" y="1901952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 'avid' means 'extremely tired and sleepy'.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7772400" y="1901952"/>
            <a:ext cx="1005840" cy="566928"/>
          </a:xfrm>
          <a:prstGeom prst="rect">
            <a:avLst>
              <a:gd name="adj" fmla="val 12903"/>
            </a:avLst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772400" y="1901952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C262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FALSE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365760" y="2596896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48640" y="2596896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 'a' means 'not; without'.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7772400" y="2596896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7772400" y="2596896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365760" y="3291840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548640" y="3291840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 'away' means 'very loud'.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7772400" y="3291840"/>
            <a:ext cx="1005840" cy="566928"/>
          </a:xfrm>
          <a:prstGeom prst="rect">
            <a:avLst>
              <a:gd name="adj" fmla="val 12903"/>
            </a:avLst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772400" y="3291840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C262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FALSE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365760" y="3986784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548640" y="3986784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  'avid' means 'very keen and enthusiastic about something'.</a:t>
            </a:r>
            <a:endParaRPr lang="en-US" sz="1300" dirty="0"/>
          </a:p>
        </p:txBody>
      </p:sp>
      <p:sp>
        <p:nvSpPr>
          <p:cNvPr id="29" name="Shape 27"/>
          <p:cNvSpPr/>
          <p:nvPr/>
        </p:nvSpPr>
        <p:spPr>
          <a:xfrm>
            <a:off x="7772400" y="3986784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7772400" y="3986784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 'a-' — Meaning &amp; Origin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'a-' = not; without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1371600"/>
          </a:xfrm>
          <a:prstGeom prst="rect">
            <a:avLst>
              <a:gd name="adj" fmla="val 80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365760" y="777240"/>
            <a:ext cx="29260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'a'</a:t>
            </a:r>
            <a:endParaRPr lang="en-US" sz="5200" dirty="0"/>
          </a:p>
        </p:txBody>
      </p:sp>
      <p:sp>
        <p:nvSpPr>
          <p:cNvPr id="12" name="Shape 10"/>
          <p:cNvSpPr/>
          <p:nvPr/>
        </p:nvSpPr>
        <p:spPr>
          <a:xfrm>
            <a:off x="3246120" y="777240"/>
            <a:ext cx="36576" cy="1371600"/>
          </a:xfrm>
          <a:prstGeom prst="rect">
            <a:avLst/>
          </a:prstGeom>
          <a:solidFill>
            <a:srgbClr val="312E81"/>
          </a:solidFill>
          <a:ln w="12700">
            <a:solidFill>
              <a:srgbClr val="312E81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29000" y="777240"/>
            <a:ext cx="36576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not; without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7132320" y="777240"/>
            <a:ext cx="16002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99F6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Origin: Prefix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365760" y="2331720"/>
            <a:ext cx="8412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Words using this prefix: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36576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576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avid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251460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251460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away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466344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66344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alike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681228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81228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alive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36576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36576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apart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251460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251460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awake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466344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66344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amoral</a:t>
            </a:r>
            <a:endParaRPr lang="en-US" sz="13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Build with 'a-'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'a-' = not; without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matrix below. Choose morpheme parts to build a word. Not all combinations work!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" y="1234440"/>
            <a:ext cx="1463040" cy="457200"/>
          </a:xfrm>
          <a:prstGeom prst="rect">
            <a:avLst>
              <a:gd name="adj" fmla="val 12000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40080" y="123444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Prefix: 'a-'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3291840" y="1234440"/>
            <a:ext cx="1645920" cy="457200"/>
          </a:xfrm>
          <a:prstGeom prst="rect">
            <a:avLst>
              <a:gd name="adj" fmla="val 120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291840" y="1234440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Base Words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5943600" y="1234440"/>
            <a:ext cx="1463040" cy="457200"/>
          </a:xfrm>
          <a:prstGeom prst="rect">
            <a:avLst>
              <a:gd name="adj" fmla="val 12000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43600" y="123444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40080" y="17556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40080" y="17556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a-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3291840" y="1755648"/>
            <a:ext cx="1645920" cy="420624"/>
          </a:xfrm>
          <a:prstGeom prst="rect">
            <a:avLst/>
          </a:prstGeom>
          <a:solidFill>
            <a:srgbClr val="CCFBF1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291840" y="1755648"/>
            <a:ext cx="1645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like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5943600" y="17556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943600" y="17556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-al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640080" y="2212848"/>
            <a:ext cx="146304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291840" y="2212848"/>
            <a:ext cx="1645920" cy="420624"/>
          </a:xfrm>
          <a:prstGeom prst="rect">
            <a:avLst/>
          </a:prstGeom>
          <a:solidFill>
            <a:srgbClr val="CCFBF1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3291840" y="2212848"/>
            <a:ext cx="1645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live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5943600" y="22128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943600" y="22128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-ment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640080" y="2670048"/>
            <a:ext cx="146304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3291840" y="2670048"/>
            <a:ext cx="1645920" cy="420624"/>
          </a:xfrm>
          <a:prstGeom prst="rect">
            <a:avLst/>
          </a:prstGeom>
          <a:solidFill>
            <a:srgbClr val="CCFBF1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291840" y="2670048"/>
            <a:ext cx="1645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moral</a:t>
            </a:r>
            <a:endParaRPr lang="en-US" sz="1300" dirty="0"/>
          </a:p>
        </p:txBody>
      </p:sp>
      <p:sp>
        <p:nvSpPr>
          <p:cNvPr id="31" name="Shape 29"/>
          <p:cNvSpPr/>
          <p:nvPr/>
        </p:nvSpPr>
        <p:spPr>
          <a:xfrm>
            <a:off x="5943600" y="26700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943600" y="26700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-y</a:t>
            </a:r>
            <a:endParaRPr lang="en-US" sz="1300" dirty="0"/>
          </a:p>
        </p:txBody>
      </p:sp>
      <p:sp>
        <p:nvSpPr>
          <p:cNvPr id="33" name="Shape 31"/>
          <p:cNvSpPr/>
          <p:nvPr/>
        </p:nvSpPr>
        <p:spPr>
          <a:xfrm>
            <a:off x="640080" y="3127248"/>
            <a:ext cx="146304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3291840" y="3127248"/>
            <a:ext cx="1645920" cy="420624"/>
          </a:xfrm>
          <a:prstGeom prst="rect">
            <a:avLst/>
          </a:prstGeom>
          <a:solidFill>
            <a:srgbClr val="CCFBF1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3291840" y="3127248"/>
            <a:ext cx="1645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nom</a:t>
            </a:r>
            <a:endParaRPr lang="en-US" sz="1300" dirty="0"/>
          </a:p>
        </p:txBody>
      </p:sp>
      <p:sp>
        <p:nvSpPr>
          <p:cNvPr id="36" name="Shape 34"/>
          <p:cNvSpPr/>
          <p:nvPr/>
        </p:nvSpPr>
        <p:spPr>
          <a:xfrm>
            <a:off x="5943600" y="31272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5943600" y="31272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-ing</a:t>
            </a:r>
            <a:endParaRPr lang="en-US" sz="1300" dirty="0"/>
          </a:p>
        </p:txBody>
      </p:sp>
      <p:sp>
        <p:nvSpPr>
          <p:cNvPr id="38" name="Shape 36"/>
          <p:cNvSpPr/>
          <p:nvPr/>
        </p:nvSpPr>
        <p:spPr>
          <a:xfrm>
            <a:off x="640080" y="3584448"/>
            <a:ext cx="146304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3291840" y="3584448"/>
            <a:ext cx="1645920" cy="420624"/>
          </a:xfrm>
          <a:prstGeom prst="rect">
            <a:avLst/>
          </a:prstGeom>
          <a:solidFill>
            <a:srgbClr val="CCFBF1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291840" y="3584448"/>
            <a:ext cx="1645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part</a:t>
            </a:r>
            <a:endParaRPr lang="en-US" sz="1300" dirty="0"/>
          </a:p>
        </p:txBody>
      </p:sp>
      <p:sp>
        <p:nvSpPr>
          <p:cNvPr id="41" name="Shape 39"/>
          <p:cNvSpPr/>
          <p:nvPr/>
        </p:nvSpPr>
        <p:spPr>
          <a:xfrm>
            <a:off x="5943600" y="35844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5943600" y="35844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-s</a:t>
            </a:r>
            <a:endParaRPr lang="en-US" sz="1300" dirty="0"/>
          </a:p>
        </p:txBody>
      </p:sp>
      <p:sp>
        <p:nvSpPr>
          <p:cNvPr id="43" name="Shape 41"/>
          <p:cNvSpPr/>
          <p:nvPr/>
        </p:nvSpPr>
        <p:spPr>
          <a:xfrm>
            <a:off x="640080" y="4041648"/>
            <a:ext cx="146304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3291840" y="4041648"/>
            <a:ext cx="1645920" cy="420624"/>
          </a:xfrm>
          <a:prstGeom prst="rect">
            <a:avLst/>
          </a:prstGeom>
          <a:solidFill>
            <a:srgbClr val="CCFBF1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3291840" y="4041648"/>
            <a:ext cx="1645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path</a:t>
            </a:r>
            <a:endParaRPr lang="en-US" sz="1300" dirty="0"/>
          </a:p>
        </p:txBody>
      </p:sp>
      <p:sp>
        <p:nvSpPr>
          <p:cNvPr id="46" name="Shape 44"/>
          <p:cNvSpPr/>
          <p:nvPr/>
        </p:nvSpPr>
        <p:spPr>
          <a:xfrm>
            <a:off x="5943600" y="40416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5943600" y="40416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-ation</a:t>
            </a:r>
            <a:endParaRPr lang="en-US" sz="1300" dirty="0"/>
          </a:p>
        </p:txBody>
      </p:sp>
      <p:sp>
        <p:nvSpPr>
          <p:cNvPr id="48" name="Text 46"/>
          <p:cNvSpPr/>
          <p:nvPr/>
        </p:nvSpPr>
        <p:spPr>
          <a:xfrm>
            <a:off x="365760" y="4636008"/>
            <a:ext cx="1097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Example:</a:t>
            </a:r>
            <a:endParaRPr lang="en-US" sz="1200" dirty="0"/>
          </a:p>
        </p:txBody>
      </p:sp>
      <p:sp>
        <p:nvSpPr>
          <p:cNvPr id="49" name="Shape 47"/>
          <p:cNvSpPr/>
          <p:nvPr/>
        </p:nvSpPr>
        <p:spPr>
          <a:xfrm>
            <a:off x="1508760" y="4636008"/>
            <a:ext cx="822960" cy="420624"/>
          </a:xfrm>
          <a:prstGeom prst="rect">
            <a:avLst>
              <a:gd name="adj" fmla="val 17391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50" name="Text 48"/>
          <p:cNvSpPr/>
          <p:nvPr/>
        </p:nvSpPr>
        <p:spPr>
          <a:xfrm>
            <a:off x="1508760" y="4636008"/>
            <a:ext cx="8229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a-</a:t>
            </a:r>
            <a:endParaRPr lang="en-US" sz="1300" dirty="0"/>
          </a:p>
        </p:txBody>
      </p:sp>
      <p:sp>
        <p:nvSpPr>
          <p:cNvPr id="51" name="Text 49"/>
          <p:cNvSpPr/>
          <p:nvPr/>
        </p:nvSpPr>
        <p:spPr>
          <a:xfrm>
            <a:off x="2359152" y="4636008"/>
            <a:ext cx="320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+</a:t>
            </a:r>
            <a:endParaRPr lang="en-US" sz="1400" dirty="0"/>
          </a:p>
        </p:txBody>
      </p:sp>
      <p:sp>
        <p:nvSpPr>
          <p:cNvPr id="52" name="Shape 50"/>
          <p:cNvSpPr/>
          <p:nvPr/>
        </p:nvSpPr>
        <p:spPr>
          <a:xfrm>
            <a:off x="2706624" y="4636008"/>
            <a:ext cx="950976" cy="420624"/>
          </a:xfrm>
          <a:prstGeom prst="rect">
            <a:avLst>
              <a:gd name="adj" fmla="val 17391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53" name="Text 51"/>
          <p:cNvSpPr/>
          <p:nvPr/>
        </p:nvSpPr>
        <p:spPr>
          <a:xfrm>
            <a:off x="2706624" y="4636008"/>
            <a:ext cx="95097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like</a:t>
            </a:r>
            <a:endParaRPr lang="en-US" sz="1300" dirty="0"/>
          </a:p>
        </p:txBody>
      </p:sp>
      <p:sp>
        <p:nvSpPr>
          <p:cNvPr id="54" name="Text 52"/>
          <p:cNvSpPr/>
          <p:nvPr/>
        </p:nvSpPr>
        <p:spPr>
          <a:xfrm>
            <a:off x="3685032" y="4636008"/>
            <a:ext cx="320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+</a:t>
            </a:r>
            <a:endParaRPr lang="en-US" sz="1400" dirty="0"/>
          </a:p>
        </p:txBody>
      </p:sp>
      <p:sp>
        <p:nvSpPr>
          <p:cNvPr id="55" name="Shape 53"/>
          <p:cNvSpPr/>
          <p:nvPr/>
        </p:nvSpPr>
        <p:spPr>
          <a:xfrm>
            <a:off x="4032504" y="4636008"/>
            <a:ext cx="822960" cy="420624"/>
          </a:xfrm>
          <a:prstGeom prst="rect">
            <a:avLst>
              <a:gd name="adj" fmla="val 17391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56" name="Text 54"/>
          <p:cNvSpPr/>
          <p:nvPr/>
        </p:nvSpPr>
        <p:spPr>
          <a:xfrm>
            <a:off x="4032504" y="4636008"/>
            <a:ext cx="8229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-al</a:t>
            </a:r>
            <a:endParaRPr lang="en-US" sz="1300" dirty="0"/>
          </a:p>
        </p:txBody>
      </p:sp>
      <p:sp>
        <p:nvSpPr>
          <p:cNvPr id="57" name="Text 55"/>
          <p:cNvSpPr/>
          <p:nvPr/>
        </p:nvSpPr>
        <p:spPr>
          <a:xfrm>
            <a:off x="4928616" y="4636008"/>
            <a:ext cx="3657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=</a:t>
            </a:r>
            <a:endParaRPr lang="en-US" sz="1800" dirty="0"/>
          </a:p>
        </p:txBody>
      </p:sp>
      <p:sp>
        <p:nvSpPr>
          <p:cNvPr id="58" name="Shape 56"/>
          <p:cNvSpPr/>
          <p:nvPr/>
        </p:nvSpPr>
        <p:spPr>
          <a:xfrm>
            <a:off x="5340096" y="4636008"/>
            <a:ext cx="2194560" cy="420624"/>
          </a:xfrm>
          <a:prstGeom prst="rect">
            <a:avLst>
              <a:gd name="adj" fmla="val 17391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5340096" y="4636008"/>
            <a:ext cx="21945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avid</a:t>
            </a:r>
            <a:endParaRPr lang="en-US" sz="14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'a' Word Definitions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'a-' = not; without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Match the word to its meaning: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365760" y="118872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avid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2514600" y="1188720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651760" y="1188720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separated by a distance; not together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365760" y="1719072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365760" y="1719072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away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2514600" y="1719072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651760" y="1719072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living; not dead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365760" y="2249424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365760" y="2249424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alike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2514600" y="2249424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2651760" y="2249424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asleep; conscious and alert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365760" y="2779776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365760" y="2779776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alive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2514600" y="2779776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651760" y="2779776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similar to one another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365760" y="3310128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365760" y="3310128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apart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2514600" y="3310128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2651760" y="3310128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concerned with whether something is right or wrong</a:t>
            </a:r>
            <a:endParaRPr lang="en-US" sz="1200" dirty="0"/>
          </a:p>
        </p:txBody>
      </p:sp>
      <p:sp>
        <p:nvSpPr>
          <p:cNvPr id="31" name="Shape 29"/>
          <p:cNvSpPr/>
          <p:nvPr/>
        </p:nvSpPr>
        <p:spPr>
          <a:xfrm>
            <a:off x="365760" y="3840480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32" name="Text 30"/>
          <p:cNvSpPr/>
          <p:nvPr/>
        </p:nvSpPr>
        <p:spPr>
          <a:xfrm>
            <a:off x="365760" y="384048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awake</a:t>
            </a:r>
            <a:endParaRPr lang="en-US" sz="1200" dirty="0"/>
          </a:p>
        </p:txBody>
      </p:sp>
      <p:sp>
        <p:nvSpPr>
          <p:cNvPr id="33" name="Shape 31"/>
          <p:cNvSpPr/>
          <p:nvPr/>
        </p:nvSpPr>
        <p:spPr>
          <a:xfrm>
            <a:off x="2514600" y="3840480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651760" y="3840480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very keen and enthusiastic about something</a:t>
            </a:r>
            <a:endParaRPr lang="en-US" sz="1200" dirty="0"/>
          </a:p>
        </p:txBody>
      </p:sp>
      <p:sp>
        <p:nvSpPr>
          <p:cNvPr id="35" name="Shape 33"/>
          <p:cNvSpPr/>
          <p:nvPr/>
        </p:nvSpPr>
        <p:spPr>
          <a:xfrm>
            <a:off x="365760" y="4370832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36" name="Text 34"/>
          <p:cNvSpPr/>
          <p:nvPr/>
        </p:nvSpPr>
        <p:spPr>
          <a:xfrm>
            <a:off x="365760" y="4370832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amoral</a:t>
            </a:r>
            <a:endParaRPr lang="en-US" sz="1200" dirty="0"/>
          </a:p>
        </p:txBody>
      </p:sp>
      <p:sp>
        <p:nvSpPr>
          <p:cNvPr id="37" name="Shape 35"/>
          <p:cNvSpPr/>
          <p:nvPr/>
        </p:nvSpPr>
        <p:spPr>
          <a:xfrm>
            <a:off x="2514600" y="4370832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2651760" y="4370832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in a particular place; at a distance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Using 'a-' Words in Sentences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'a-' = not; without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these example sentences. Underline the 'a-' word and discuss its meaning.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261872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365760" y="1261872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713232" y="1261872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760" y="1261872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960120" y="1307592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 is an avid reader who finishes a new book every week.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365760" y="2468880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365760" y="2468880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713232" y="2468880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2468880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960120" y="2514600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nearest beach is two kilometres away from our house.</a:t>
            </a:r>
            <a:endParaRPr lang="en-US" sz="1500" dirty="0"/>
          </a:p>
        </p:txBody>
      </p:sp>
      <p:sp>
        <p:nvSpPr>
          <p:cNvPr id="21" name="Shape 19"/>
          <p:cNvSpPr/>
          <p:nvPr/>
        </p:nvSpPr>
        <p:spPr>
          <a:xfrm>
            <a:off x="365760" y="3675888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365760" y="3675888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713232" y="3675888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3675888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endParaRPr lang="en-US" sz="2000" dirty="0"/>
          </a:p>
        </p:txBody>
      </p:sp>
      <p:sp>
        <p:nvSpPr>
          <p:cNvPr id="25" name="Text 23"/>
          <p:cNvSpPr/>
          <p:nvPr/>
        </p:nvSpPr>
        <p:spPr>
          <a:xfrm>
            <a:off x="960120" y="3721608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two houses look alike from the outside.</a:t>
            </a:r>
            <a:endParaRPr lang="en-US" sz="15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&amp;</a:t>
            </a:r>
            <a:endParaRPr lang="en-US" sz="4400" dirty="0"/>
          </a:p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Listen → Write → Reveal → Check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Listen &amp; Write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'a-' = not; without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530352"/>
          </a:xfrm>
          <a:prstGeom prst="rect">
            <a:avLst>
              <a:gd name="adj" fmla="val 13793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77240"/>
            <a:ext cx="8229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📢  Teacher reads aloud. Students write the sentence in their books.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65760" y="160020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65760" y="219456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5760" y="278892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3383280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sentence here ↑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01168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01168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focus words</a:t>
            </a:r>
            <a:endParaRPr lang="en-US" sz="2800" dirty="0"/>
          </a:p>
        </p:txBody>
      </p:sp>
      <p:sp>
        <p:nvSpPr>
          <p:cNvPr id="18" name="Shape 16"/>
          <p:cNvSpPr/>
          <p:nvPr/>
        </p:nvSpPr>
        <p:spPr>
          <a:xfrm>
            <a:off x="484632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484632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92400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punctuation mark</a:t>
            </a:r>
            <a:endParaRPr lang="en-US" sz="28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Reveal &amp; Underline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'a-' = not; without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your sentence. Underline the focus words.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8412480" cy="1554480"/>
          </a:xfrm>
          <a:prstGeom prst="rect">
            <a:avLst>
              <a:gd name="adj" fmla="val 7059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61872"/>
            <a:ext cx="8046720" cy="14081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numbers were listed in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ascending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order, from smallest to largest. She spent the maths lesson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averaging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the class's test results.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365760" y="285292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2920" y="285292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rewrite each focus word below with space between letters — leave room for your breakdown.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1737360" y="3456432"/>
            <a:ext cx="256032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737360" y="3977640"/>
            <a:ext cx="25603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737360" y="3456432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ascending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1737360" y="4005072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4572000" y="3456432"/>
            <a:ext cx="256032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572000" y="3977640"/>
            <a:ext cx="25603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4572000" y="3456432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averaging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4572000" y="4005072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1 of 2)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'a-' = not; without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ascending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'a-' = not; without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ascending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not; without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scend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climb; go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happening now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8" name="Text 26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2" name="Text 30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'a-' = not; without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ascending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not; without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scend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climb; go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happening now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as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cend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9" name="Text 3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'a-' = not; without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ascending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not; without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scend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climb; go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happening now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as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cend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202387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202387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283159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283159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363931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363931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</a:t>
            </a:r>
            <a:endParaRPr lang="en-US" sz="900" dirty="0"/>
          </a:p>
        </p:txBody>
      </p:sp>
      <p:sp>
        <p:nvSpPr>
          <p:cNvPr id="45" name="Shape 43"/>
          <p:cNvSpPr/>
          <p:nvPr/>
        </p:nvSpPr>
        <p:spPr>
          <a:xfrm>
            <a:off x="444703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444703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>
            <a:off x="525475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525475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  <p:sp>
        <p:nvSpPr>
          <p:cNvPr id="49" name="Shape 47"/>
          <p:cNvSpPr/>
          <p:nvPr/>
        </p:nvSpPr>
        <p:spPr>
          <a:xfrm>
            <a:off x="606247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606247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</a:t>
            </a:r>
            <a:endParaRPr lang="en-US" sz="900" dirty="0"/>
          </a:p>
        </p:txBody>
      </p:sp>
      <p:sp>
        <p:nvSpPr>
          <p:cNvPr id="51" name="Shape 49"/>
          <p:cNvSpPr/>
          <p:nvPr/>
        </p:nvSpPr>
        <p:spPr>
          <a:xfrm>
            <a:off x="687019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687019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53" name="Shape 51"/>
          <p:cNvSpPr/>
          <p:nvPr/>
        </p:nvSpPr>
        <p:spPr>
          <a:xfrm>
            <a:off x="767791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767791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ng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2 of 2)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'a-' = not; without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averaging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'a-' = not; without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averaging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989734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1989734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1989734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not; without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3659429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3659429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ver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3659429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truth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5329123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5329123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age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5329123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 of; state of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6998818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6" name="Text 24"/>
          <p:cNvSpPr/>
          <p:nvPr/>
        </p:nvSpPr>
        <p:spPr>
          <a:xfrm>
            <a:off x="6998818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6998818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happening now</a:t>
            </a:r>
            <a:endParaRPr lang="en-US" sz="850" dirty="0"/>
          </a:p>
        </p:txBody>
      </p:sp>
      <p:sp>
        <p:nvSpPr>
          <p:cNvPr id="28" name="Shape 2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1" name="Text 2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4" name="Shape 3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5" name="Text 3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'a-' = not; without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averaging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989734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1989734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1989734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not; without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3659429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3659429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ver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3659429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truth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5329123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5329123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age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5329123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 of; state of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6998818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6" name="Text 24"/>
          <p:cNvSpPr/>
          <p:nvPr/>
        </p:nvSpPr>
        <p:spPr>
          <a:xfrm>
            <a:off x="6998818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6998818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happening now</a:t>
            </a:r>
            <a:endParaRPr lang="en-US" sz="850" dirty="0"/>
          </a:p>
        </p:txBody>
      </p:sp>
      <p:sp>
        <p:nvSpPr>
          <p:cNvPr id="28" name="Shape 2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1975104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1975104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av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3529584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3602736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3602736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5157216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7" name="Shape 35"/>
          <p:cNvSpPr/>
          <p:nvPr/>
        </p:nvSpPr>
        <p:spPr>
          <a:xfrm>
            <a:off x="5230368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5230368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ag</a:t>
            </a:r>
            <a:endParaRPr lang="en-US" sz="1400" dirty="0"/>
          </a:p>
        </p:txBody>
      </p:sp>
      <p:sp>
        <p:nvSpPr>
          <p:cNvPr id="39" name="Text 37"/>
          <p:cNvSpPr/>
          <p:nvPr/>
        </p:nvSpPr>
        <p:spPr>
          <a:xfrm>
            <a:off x="6784848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40" name="Shape 38"/>
          <p:cNvSpPr/>
          <p:nvPr/>
        </p:nvSpPr>
        <p:spPr>
          <a:xfrm>
            <a:off x="6858000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6858000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400" dirty="0"/>
          </a:p>
        </p:txBody>
      </p:sp>
      <p:sp>
        <p:nvSpPr>
          <p:cNvPr id="42" name="Shape 4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4" name="Shape 4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45" name="Text 4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'a-' = not; without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averaging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989734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1989734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1989734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not; without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3659429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3659429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ver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3659429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truth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5329123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5329123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age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5329123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 of; state of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6998818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6" name="Text 24"/>
          <p:cNvSpPr/>
          <p:nvPr/>
        </p:nvSpPr>
        <p:spPr>
          <a:xfrm>
            <a:off x="6998818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6998818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happening now</a:t>
            </a:r>
            <a:endParaRPr lang="en-US" sz="850" dirty="0"/>
          </a:p>
        </p:txBody>
      </p:sp>
      <p:sp>
        <p:nvSpPr>
          <p:cNvPr id="28" name="Shape 2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1975104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1975104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av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3529584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3602736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3602736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5157216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7" name="Shape 35"/>
          <p:cNvSpPr/>
          <p:nvPr/>
        </p:nvSpPr>
        <p:spPr>
          <a:xfrm>
            <a:off x="5230368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5230368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ag</a:t>
            </a:r>
            <a:endParaRPr lang="en-US" sz="1400" dirty="0"/>
          </a:p>
        </p:txBody>
      </p:sp>
      <p:sp>
        <p:nvSpPr>
          <p:cNvPr id="39" name="Text 37"/>
          <p:cNvSpPr/>
          <p:nvPr/>
        </p:nvSpPr>
        <p:spPr>
          <a:xfrm>
            <a:off x="6784848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40" name="Shape 38"/>
          <p:cNvSpPr/>
          <p:nvPr/>
        </p:nvSpPr>
        <p:spPr>
          <a:xfrm>
            <a:off x="6858000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6858000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400" dirty="0"/>
          </a:p>
        </p:txBody>
      </p:sp>
      <p:sp>
        <p:nvSpPr>
          <p:cNvPr id="42" name="Shape 4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4" name="Shape 42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212483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212483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>
            <a:off x="303352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303352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</a:t>
            </a:r>
            <a:endParaRPr lang="en-US" sz="900" dirty="0"/>
          </a:p>
        </p:txBody>
      </p:sp>
      <p:sp>
        <p:nvSpPr>
          <p:cNvPr id="49" name="Shape 47"/>
          <p:cNvSpPr/>
          <p:nvPr/>
        </p:nvSpPr>
        <p:spPr>
          <a:xfrm>
            <a:off x="394220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394220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900" dirty="0"/>
          </a:p>
        </p:txBody>
      </p:sp>
      <p:sp>
        <p:nvSpPr>
          <p:cNvPr id="51" name="Shape 49"/>
          <p:cNvSpPr/>
          <p:nvPr/>
        </p:nvSpPr>
        <p:spPr>
          <a:xfrm>
            <a:off x="485089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485089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900" dirty="0"/>
          </a:p>
        </p:txBody>
      </p:sp>
      <p:sp>
        <p:nvSpPr>
          <p:cNvPr id="53" name="Shape 51"/>
          <p:cNvSpPr/>
          <p:nvPr/>
        </p:nvSpPr>
        <p:spPr>
          <a:xfrm>
            <a:off x="575957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575957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</a:t>
            </a:r>
            <a:endParaRPr lang="en-US" sz="900" dirty="0"/>
          </a:p>
        </p:txBody>
      </p:sp>
      <p:sp>
        <p:nvSpPr>
          <p:cNvPr id="55" name="Shape 53"/>
          <p:cNvSpPr/>
          <p:nvPr/>
        </p:nvSpPr>
        <p:spPr>
          <a:xfrm>
            <a:off x="666826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666826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57" name="Shape 55"/>
          <p:cNvSpPr/>
          <p:nvPr/>
        </p:nvSpPr>
        <p:spPr>
          <a:xfrm>
            <a:off x="757694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757694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ng</a:t>
            </a:r>
            <a:endParaRPr lang="en-US" sz="9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&amp;</a:t>
            </a:r>
            <a:endParaRPr lang="en-US" sz="4400" dirty="0"/>
          </a:p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Listen → Write → Reveal → Build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Listen &amp; Write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'a-' = not; without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530352"/>
          </a:xfrm>
          <a:prstGeom prst="rect">
            <a:avLst>
              <a:gd name="adj" fmla="val 13793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77240"/>
            <a:ext cx="8229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📢  Teacher reads aloud. Students write the sentence in their books.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65760" y="160020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65760" y="219456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5760" y="278892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3383280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sentence here ↑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01168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01168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focus words</a:t>
            </a:r>
            <a:endParaRPr lang="en-US" sz="2800" dirty="0"/>
          </a:p>
        </p:txBody>
      </p:sp>
      <p:sp>
        <p:nvSpPr>
          <p:cNvPr id="18" name="Shape 16"/>
          <p:cNvSpPr/>
          <p:nvPr/>
        </p:nvSpPr>
        <p:spPr>
          <a:xfrm>
            <a:off x="484632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484632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92400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punctuation mark</a:t>
            </a:r>
            <a:endParaRPr lang="en-US" sz="28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Reveal &amp; Underline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'a-' = not; without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your sentence. Underline the focus words.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8412480" cy="1554480"/>
          </a:xfrm>
          <a:prstGeom prst="rect">
            <a:avLst>
              <a:gd name="adj" fmla="val 7059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61872"/>
            <a:ext cx="8046720" cy="14081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Losing the match was a real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awakening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for the team, showing them how much they needed to train. The new building has forty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apartments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for rent. Her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aspirations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are to become a doctor and help people.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365760" y="285292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2920" y="285292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rewrite each focus word below with space between letters — leave room for your breakdown.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41148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1148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41148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awakening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41148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318516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318516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318516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apartments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318516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595884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595884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595884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aspirations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595884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1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'a-' = not; without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awakening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'a-' = not; without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awakening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989734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1989734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1989734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not; without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3659429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3659429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wake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3659429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stop sleeping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5329123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5329123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en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5329123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made of; to make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6998818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6" name="Text 24"/>
          <p:cNvSpPr/>
          <p:nvPr/>
        </p:nvSpPr>
        <p:spPr>
          <a:xfrm>
            <a:off x="6998818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6998818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happening now</a:t>
            </a:r>
            <a:endParaRPr lang="en-US" sz="850" dirty="0"/>
          </a:p>
        </p:txBody>
      </p:sp>
      <p:sp>
        <p:nvSpPr>
          <p:cNvPr id="28" name="Shape 2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1" name="Text 2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4" name="Shape 3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5" name="Text 3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'a-' = not; without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awakening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989734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1989734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1989734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not; without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3659429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3659429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wake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3659429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stop sleeping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5329123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5329123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en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5329123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made of; to make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6998818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6" name="Text 24"/>
          <p:cNvSpPr/>
          <p:nvPr/>
        </p:nvSpPr>
        <p:spPr>
          <a:xfrm>
            <a:off x="6998818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6998818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happening now</a:t>
            </a:r>
            <a:endParaRPr lang="en-US" sz="850" dirty="0"/>
          </a:p>
        </p:txBody>
      </p:sp>
      <p:sp>
        <p:nvSpPr>
          <p:cNvPr id="28" name="Shape 2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1975104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1975104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3529584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3602736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3602736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wak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5157216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7" name="Shape 35"/>
          <p:cNvSpPr/>
          <p:nvPr/>
        </p:nvSpPr>
        <p:spPr>
          <a:xfrm>
            <a:off x="5230368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5230368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en</a:t>
            </a:r>
            <a:endParaRPr lang="en-US" sz="1400" dirty="0"/>
          </a:p>
        </p:txBody>
      </p:sp>
      <p:sp>
        <p:nvSpPr>
          <p:cNvPr id="39" name="Text 37"/>
          <p:cNvSpPr/>
          <p:nvPr/>
        </p:nvSpPr>
        <p:spPr>
          <a:xfrm>
            <a:off x="6784848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40" name="Shape 38"/>
          <p:cNvSpPr/>
          <p:nvPr/>
        </p:nvSpPr>
        <p:spPr>
          <a:xfrm>
            <a:off x="6858000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6858000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400" dirty="0"/>
          </a:p>
        </p:txBody>
      </p:sp>
      <p:sp>
        <p:nvSpPr>
          <p:cNvPr id="42" name="Shape 4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4" name="Shape 4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45" name="Text 4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'a-' = not; without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awakening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989734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1989734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1989734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not; without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3659429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3659429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wake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3659429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stop sleeping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5329123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5329123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en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5329123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made of; to make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6998818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6" name="Text 24"/>
          <p:cNvSpPr/>
          <p:nvPr/>
        </p:nvSpPr>
        <p:spPr>
          <a:xfrm>
            <a:off x="6998818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6998818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happening now</a:t>
            </a:r>
            <a:endParaRPr lang="en-US" sz="850" dirty="0"/>
          </a:p>
        </p:txBody>
      </p:sp>
      <p:sp>
        <p:nvSpPr>
          <p:cNvPr id="28" name="Shape 2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1975104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1975104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3529584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3602736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3602736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wak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5157216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7" name="Shape 35"/>
          <p:cNvSpPr/>
          <p:nvPr/>
        </p:nvSpPr>
        <p:spPr>
          <a:xfrm>
            <a:off x="5230368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5230368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en</a:t>
            </a:r>
            <a:endParaRPr lang="en-US" sz="1400" dirty="0"/>
          </a:p>
        </p:txBody>
      </p:sp>
      <p:sp>
        <p:nvSpPr>
          <p:cNvPr id="39" name="Text 37"/>
          <p:cNvSpPr/>
          <p:nvPr/>
        </p:nvSpPr>
        <p:spPr>
          <a:xfrm>
            <a:off x="6784848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40" name="Shape 38"/>
          <p:cNvSpPr/>
          <p:nvPr/>
        </p:nvSpPr>
        <p:spPr>
          <a:xfrm>
            <a:off x="6858000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6858000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400" dirty="0"/>
          </a:p>
        </p:txBody>
      </p:sp>
      <p:sp>
        <p:nvSpPr>
          <p:cNvPr id="42" name="Shape 4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4" name="Shape 42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212483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212483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>
            <a:off x="303352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303352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</a:t>
            </a:r>
            <a:endParaRPr lang="en-US" sz="900" dirty="0"/>
          </a:p>
        </p:txBody>
      </p:sp>
      <p:sp>
        <p:nvSpPr>
          <p:cNvPr id="49" name="Shape 47"/>
          <p:cNvSpPr/>
          <p:nvPr/>
        </p:nvSpPr>
        <p:spPr>
          <a:xfrm>
            <a:off x="394220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394220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a_e</a:t>
            </a:r>
            <a:endParaRPr lang="en-US" sz="900" dirty="0"/>
          </a:p>
        </p:txBody>
      </p:sp>
      <p:sp>
        <p:nvSpPr>
          <p:cNvPr id="51" name="Shape 49"/>
          <p:cNvSpPr/>
          <p:nvPr/>
        </p:nvSpPr>
        <p:spPr>
          <a:xfrm>
            <a:off x="485089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485089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</a:t>
            </a:r>
            <a:endParaRPr lang="en-US" sz="900" dirty="0"/>
          </a:p>
        </p:txBody>
      </p:sp>
      <p:sp>
        <p:nvSpPr>
          <p:cNvPr id="53" name="Shape 51"/>
          <p:cNvSpPr/>
          <p:nvPr/>
        </p:nvSpPr>
        <p:spPr>
          <a:xfrm>
            <a:off x="575957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575957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  <p:sp>
        <p:nvSpPr>
          <p:cNvPr id="55" name="Shape 53"/>
          <p:cNvSpPr/>
          <p:nvPr/>
        </p:nvSpPr>
        <p:spPr>
          <a:xfrm>
            <a:off x="666826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666826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57" name="Shape 55"/>
          <p:cNvSpPr/>
          <p:nvPr/>
        </p:nvSpPr>
        <p:spPr>
          <a:xfrm>
            <a:off x="757694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757694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ng</a:t>
            </a:r>
            <a:endParaRPr lang="en-US" sz="9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2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'a-' = not; without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apartments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'a-' = not; without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apartments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989734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1989734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1989734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not; without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3659429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3659429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part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3659429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piece of something; a section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5329123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5329123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ment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5329123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 of action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6998818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6" name="Text 24"/>
          <p:cNvSpPr/>
          <p:nvPr/>
        </p:nvSpPr>
        <p:spPr>
          <a:xfrm>
            <a:off x="6998818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6998818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plural or present tense</a:t>
            </a:r>
            <a:endParaRPr lang="en-US" sz="850" dirty="0"/>
          </a:p>
        </p:txBody>
      </p:sp>
      <p:sp>
        <p:nvSpPr>
          <p:cNvPr id="28" name="Shape 2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1" name="Text 2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4" name="Shape 3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5" name="Text 3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'a-' = not; without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apartments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989734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1989734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1989734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not; without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3659429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3659429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part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3659429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piece of something; a section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5329123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5329123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ment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5329123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 of action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6998818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6" name="Text 24"/>
          <p:cNvSpPr/>
          <p:nvPr/>
        </p:nvSpPr>
        <p:spPr>
          <a:xfrm>
            <a:off x="6998818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6998818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plural or present tense</a:t>
            </a:r>
            <a:endParaRPr lang="en-US" sz="850" dirty="0"/>
          </a:p>
        </p:txBody>
      </p:sp>
      <p:sp>
        <p:nvSpPr>
          <p:cNvPr id="28" name="Shape 2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part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7" name="Shape 35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ments</a:t>
            </a:r>
            <a:endParaRPr lang="en-US" sz="1400" dirty="0"/>
          </a:p>
        </p:txBody>
      </p:sp>
      <p:sp>
        <p:nvSpPr>
          <p:cNvPr id="39" name="Shape 3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1" name="Shape 39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42" name="Text 40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'a-' = not; without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apartments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989734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1989734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1989734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not; without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3659429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3659429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part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3659429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piece of something; a section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5329123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5329123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ment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5329123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 of action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6998818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6" name="Text 24"/>
          <p:cNvSpPr/>
          <p:nvPr/>
        </p:nvSpPr>
        <p:spPr>
          <a:xfrm>
            <a:off x="6998818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6998818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plural or present tense</a:t>
            </a:r>
            <a:endParaRPr lang="en-US" sz="850" dirty="0"/>
          </a:p>
        </p:txBody>
      </p:sp>
      <p:sp>
        <p:nvSpPr>
          <p:cNvPr id="28" name="Shape 2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part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7" name="Shape 35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ments</a:t>
            </a:r>
            <a:endParaRPr lang="en-US" sz="1400" dirty="0"/>
          </a:p>
        </p:txBody>
      </p:sp>
      <p:sp>
        <p:nvSpPr>
          <p:cNvPr id="39" name="Shape 3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1" name="Shape 39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1951330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1951330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>
            <a:off x="2677363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2677363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</a:t>
            </a:r>
            <a:endParaRPr lang="en-US" sz="900" dirty="0"/>
          </a:p>
        </p:txBody>
      </p:sp>
      <p:sp>
        <p:nvSpPr>
          <p:cNvPr id="46" name="Shape 44"/>
          <p:cNvSpPr/>
          <p:nvPr/>
        </p:nvSpPr>
        <p:spPr>
          <a:xfrm>
            <a:off x="3403397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3403397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ar</a:t>
            </a:r>
            <a:endParaRPr lang="en-US" sz="900" dirty="0"/>
          </a:p>
        </p:txBody>
      </p:sp>
      <p:sp>
        <p:nvSpPr>
          <p:cNvPr id="48" name="Shape 46"/>
          <p:cNvSpPr/>
          <p:nvPr/>
        </p:nvSpPr>
        <p:spPr>
          <a:xfrm>
            <a:off x="4129430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4129430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  <p:sp>
        <p:nvSpPr>
          <p:cNvPr id="50" name="Shape 48"/>
          <p:cNvSpPr/>
          <p:nvPr/>
        </p:nvSpPr>
        <p:spPr>
          <a:xfrm>
            <a:off x="4855464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4855464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</a:t>
            </a:r>
            <a:endParaRPr lang="en-US" sz="900" dirty="0"/>
          </a:p>
        </p:txBody>
      </p:sp>
      <p:sp>
        <p:nvSpPr>
          <p:cNvPr id="52" name="Shape 50"/>
          <p:cNvSpPr/>
          <p:nvPr/>
        </p:nvSpPr>
        <p:spPr>
          <a:xfrm>
            <a:off x="5581498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5581498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54" name="Shape 52"/>
          <p:cNvSpPr/>
          <p:nvPr/>
        </p:nvSpPr>
        <p:spPr>
          <a:xfrm>
            <a:off x="6307531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6307531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  <p:sp>
        <p:nvSpPr>
          <p:cNvPr id="56" name="Shape 54"/>
          <p:cNvSpPr/>
          <p:nvPr/>
        </p:nvSpPr>
        <p:spPr>
          <a:xfrm>
            <a:off x="7033565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7033565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  <p:sp>
        <p:nvSpPr>
          <p:cNvPr id="58" name="Shape 56"/>
          <p:cNvSpPr/>
          <p:nvPr/>
        </p:nvSpPr>
        <p:spPr>
          <a:xfrm>
            <a:off x="7759598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7759598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9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3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'a-' = not; without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aspirations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'a-' = not; without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aspirations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989734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1989734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1989734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not; without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3659429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3659429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spire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3659429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breathe; live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5329123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5329123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ation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5329123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 or process of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6998818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6" name="Text 24"/>
          <p:cNvSpPr/>
          <p:nvPr/>
        </p:nvSpPr>
        <p:spPr>
          <a:xfrm>
            <a:off x="6998818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6998818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plural or present tense</a:t>
            </a:r>
            <a:endParaRPr lang="en-US" sz="850" dirty="0"/>
          </a:p>
        </p:txBody>
      </p:sp>
      <p:sp>
        <p:nvSpPr>
          <p:cNvPr id="28" name="Shape 2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1" name="Text 2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4" name="Shape 3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5" name="Text 3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'a-' = not; without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aspirations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989734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1989734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1989734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not; without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3659429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3659429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spire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3659429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breathe; live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5329123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5329123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ation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5329123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 or process of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6998818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6" name="Text 24"/>
          <p:cNvSpPr/>
          <p:nvPr/>
        </p:nvSpPr>
        <p:spPr>
          <a:xfrm>
            <a:off x="6998818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6998818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plural or present tense</a:t>
            </a:r>
            <a:endParaRPr lang="en-US" sz="850" dirty="0"/>
          </a:p>
        </p:txBody>
      </p:sp>
      <p:sp>
        <p:nvSpPr>
          <p:cNvPr id="28" name="Shape 2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1975104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1975104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as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3529584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3602736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3602736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pi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5157216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7" name="Shape 35"/>
          <p:cNvSpPr/>
          <p:nvPr/>
        </p:nvSpPr>
        <p:spPr>
          <a:xfrm>
            <a:off x="5230368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5230368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ra</a:t>
            </a:r>
            <a:endParaRPr lang="en-US" sz="1400" dirty="0"/>
          </a:p>
        </p:txBody>
      </p:sp>
      <p:sp>
        <p:nvSpPr>
          <p:cNvPr id="39" name="Text 37"/>
          <p:cNvSpPr/>
          <p:nvPr/>
        </p:nvSpPr>
        <p:spPr>
          <a:xfrm>
            <a:off x="6784848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40" name="Shape 38"/>
          <p:cNvSpPr/>
          <p:nvPr/>
        </p:nvSpPr>
        <p:spPr>
          <a:xfrm>
            <a:off x="6858000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6858000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tions</a:t>
            </a:r>
            <a:endParaRPr lang="en-US" sz="1400" dirty="0"/>
          </a:p>
        </p:txBody>
      </p:sp>
      <p:sp>
        <p:nvSpPr>
          <p:cNvPr id="42" name="Shape 4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4" name="Shape 4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45" name="Text 4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'a-' = not; without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aspirations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989734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1989734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1989734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not; without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3659429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3659429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spire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3659429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breathe; live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5329123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5329123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ation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5329123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 or process of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6998818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6" name="Text 24"/>
          <p:cNvSpPr/>
          <p:nvPr/>
        </p:nvSpPr>
        <p:spPr>
          <a:xfrm>
            <a:off x="6998818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6998818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plural or present tense</a:t>
            </a:r>
            <a:endParaRPr lang="en-US" sz="850" dirty="0"/>
          </a:p>
        </p:txBody>
      </p:sp>
      <p:sp>
        <p:nvSpPr>
          <p:cNvPr id="28" name="Shape 2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1975104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1975104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as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3529584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3602736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3602736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pi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5157216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7" name="Shape 35"/>
          <p:cNvSpPr/>
          <p:nvPr/>
        </p:nvSpPr>
        <p:spPr>
          <a:xfrm>
            <a:off x="5230368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5230368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ra</a:t>
            </a:r>
            <a:endParaRPr lang="en-US" sz="1400" dirty="0"/>
          </a:p>
        </p:txBody>
      </p:sp>
      <p:sp>
        <p:nvSpPr>
          <p:cNvPr id="39" name="Text 37"/>
          <p:cNvSpPr/>
          <p:nvPr/>
        </p:nvSpPr>
        <p:spPr>
          <a:xfrm>
            <a:off x="6784848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40" name="Shape 38"/>
          <p:cNvSpPr/>
          <p:nvPr/>
        </p:nvSpPr>
        <p:spPr>
          <a:xfrm>
            <a:off x="6858000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6858000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tions</a:t>
            </a:r>
            <a:endParaRPr lang="en-US" sz="1400" dirty="0"/>
          </a:p>
        </p:txBody>
      </p:sp>
      <p:sp>
        <p:nvSpPr>
          <p:cNvPr id="42" name="Shape 4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4" name="Shape 42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1951828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1951828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>
            <a:off x="2605209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2605209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900" dirty="0"/>
          </a:p>
        </p:txBody>
      </p:sp>
      <p:sp>
        <p:nvSpPr>
          <p:cNvPr id="49" name="Shape 47"/>
          <p:cNvSpPr/>
          <p:nvPr/>
        </p:nvSpPr>
        <p:spPr>
          <a:xfrm>
            <a:off x="3258589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3258589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</a:t>
            </a:r>
            <a:endParaRPr lang="en-US" sz="900" dirty="0"/>
          </a:p>
        </p:txBody>
      </p:sp>
      <p:sp>
        <p:nvSpPr>
          <p:cNvPr id="51" name="Shape 49"/>
          <p:cNvSpPr/>
          <p:nvPr/>
        </p:nvSpPr>
        <p:spPr>
          <a:xfrm>
            <a:off x="3911969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3911969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53" name="Shape 51"/>
          <p:cNvSpPr/>
          <p:nvPr/>
        </p:nvSpPr>
        <p:spPr>
          <a:xfrm>
            <a:off x="4565350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4565350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</a:t>
            </a:r>
            <a:endParaRPr lang="en-US" sz="900" dirty="0"/>
          </a:p>
        </p:txBody>
      </p:sp>
      <p:sp>
        <p:nvSpPr>
          <p:cNvPr id="55" name="Shape 53"/>
          <p:cNvSpPr/>
          <p:nvPr/>
        </p:nvSpPr>
        <p:spPr>
          <a:xfrm>
            <a:off x="5218730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5218730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900" dirty="0"/>
          </a:p>
        </p:txBody>
      </p:sp>
      <p:sp>
        <p:nvSpPr>
          <p:cNvPr id="57" name="Shape 55"/>
          <p:cNvSpPr/>
          <p:nvPr/>
        </p:nvSpPr>
        <p:spPr>
          <a:xfrm>
            <a:off x="5872111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5872111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ti</a:t>
            </a:r>
            <a:endParaRPr lang="en-US" sz="900" dirty="0"/>
          </a:p>
        </p:txBody>
      </p:sp>
      <p:sp>
        <p:nvSpPr>
          <p:cNvPr id="59" name="Shape 57"/>
          <p:cNvSpPr/>
          <p:nvPr/>
        </p:nvSpPr>
        <p:spPr>
          <a:xfrm>
            <a:off x="6525491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0" name="Text 58"/>
          <p:cNvSpPr/>
          <p:nvPr/>
        </p:nvSpPr>
        <p:spPr>
          <a:xfrm>
            <a:off x="6525491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900" dirty="0"/>
          </a:p>
        </p:txBody>
      </p:sp>
      <p:sp>
        <p:nvSpPr>
          <p:cNvPr id="61" name="Shape 59"/>
          <p:cNvSpPr/>
          <p:nvPr/>
        </p:nvSpPr>
        <p:spPr>
          <a:xfrm>
            <a:off x="7178871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2" name="Text 60"/>
          <p:cNvSpPr/>
          <p:nvPr/>
        </p:nvSpPr>
        <p:spPr>
          <a:xfrm>
            <a:off x="7178871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  <p:sp>
        <p:nvSpPr>
          <p:cNvPr id="63" name="Shape 61"/>
          <p:cNvSpPr/>
          <p:nvPr/>
        </p:nvSpPr>
        <p:spPr>
          <a:xfrm>
            <a:off x="7832252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4" name="Text 62"/>
          <p:cNvSpPr/>
          <p:nvPr/>
        </p:nvSpPr>
        <p:spPr>
          <a:xfrm>
            <a:off x="7832252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90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Build Your Own Words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'a-' = not; without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Word Labs Morpheme Builder to find words, then fill in the matrix below.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365760" y="1170432"/>
            <a:ext cx="731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Name: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1143000" y="1371600"/>
            <a:ext cx="2926080" cy="0"/>
          </a:xfrm>
          <a:prstGeom prst="line">
            <a:avLst/>
          </a:prstGeom>
          <a:noFill/>
          <a:ln w="12700">
            <a:solidFill>
              <a:srgbClr val="475569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663440" y="1170432"/>
            <a:ext cx="640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Date: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5349240" y="1371600"/>
            <a:ext cx="3246120" cy="0"/>
          </a:xfrm>
          <a:prstGeom prst="line">
            <a:avLst/>
          </a:prstGeom>
          <a:noFill/>
          <a:ln w="12700">
            <a:solidFill>
              <a:srgbClr val="475569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65760" y="1600200"/>
            <a:ext cx="2468880" cy="438912"/>
          </a:xfrm>
          <a:prstGeom prst="rect">
            <a:avLst>
              <a:gd name="adj" fmla="val 12500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65760" y="1600200"/>
            <a:ext cx="24688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Prefix: 'a-'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2971800" y="1600200"/>
            <a:ext cx="2834640" cy="438912"/>
          </a:xfrm>
          <a:prstGeom prst="rect">
            <a:avLst>
              <a:gd name="adj" fmla="val 125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971800" y="1600200"/>
            <a:ext cx="2834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Base Words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5943600" y="1600200"/>
            <a:ext cx="2834640" cy="438912"/>
          </a:xfrm>
          <a:prstGeom prst="rect">
            <a:avLst>
              <a:gd name="adj" fmla="val 12500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943600" y="1600200"/>
            <a:ext cx="2834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365760" y="2066544"/>
            <a:ext cx="246888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2971800" y="2066544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943600" y="2066544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65760" y="2404872"/>
            <a:ext cx="246888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71800" y="2404872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2404872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365760" y="2743200"/>
            <a:ext cx="246888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971800" y="2743200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5943600" y="2743200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365760" y="3081528"/>
            <a:ext cx="246888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2971800" y="3081528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5943600" y="3081528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365760" y="3474720"/>
            <a:ext cx="8412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Words I made:</a:t>
            </a:r>
            <a:endParaRPr lang="en-US" sz="1200" dirty="0"/>
          </a:p>
        </p:txBody>
      </p:sp>
      <p:sp>
        <p:nvSpPr>
          <p:cNvPr id="34" name="Shape 32"/>
          <p:cNvSpPr/>
          <p:nvPr/>
        </p:nvSpPr>
        <p:spPr>
          <a:xfrm>
            <a:off x="36576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320040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603504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36576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320040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603504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65760" y="4535424"/>
            <a:ext cx="8412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Choose 3 words and write a sentence for each:</a:t>
            </a:r>
            <a:endParaRPr lang="en-US" sz="10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Review Answers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'a-' = not; without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Here are some words you could have made. Check your list!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15568"/>
            <a:ext cx="2468880" cy="420624"/>
          </a:xfrm>
          <a:prstGeom prst="rect">
            <a:avLst>
              <a:gd name="adj" fmla="val 13043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65760" y="1115568"/>
            <a:ext cx="2468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Prefix: 'a-'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2971800" y="1115568"/>
            <a:ext cx="2834640" cy="420624"/>
          </a:xfrm>
          <a:prstGeom prst="rect">
            <a:avLst>
              <a:gd name="adj" fmla="val 13043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971800" y="1115568"/>
            <a:ext cx="2834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Base Words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5943600" y="1115568"/>
            <a:ext cx="2834640" cy="420624"/>
          </a:xfrm>
          <a:prstGeom prst="rect">
            <a:avLst>
              <a:gd name="adj" fmla="val 13043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43600" y="1115568"/>
            <a:ext cx="2834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365760" y="1563624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65760" y="1563624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a-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2971800" y="1563624"/>
            <a:ext cx="2834640" cy="402336"/>
          </a:xfrm>
          <a:prstGeom prst="rect">
            <a:avLst/>
          </a:prstGeom>
          <a:solidFill>
            <a:srgbClr val="CCFBF1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2971800" y="1563624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like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5943600" y="1563624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943600" y="1563624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-al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365760" y="1984248"/>
            <a:ext cx="246888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2971800" y="1984248"/>
            <a:ext cx="2834640" cy="402336"/>
          </a:xfrm>
          <a:prstGeom prst="rect">
            <a:avLst/>
          </a:prstGeom>
          <a:solidFill>
            <a:srgbClr val="CCFBF1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2971800" y="1984248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live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5943600" y="1984248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943600" y="1984248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-ment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365760" y="2404872"/>
            <a:ext cx="246888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2971800" y="2404872"/>
            <a:ext cx="2834640" cy="402336"/>
          </a:xfrm>
          <a:prstGeom prst="rect">
            <a:avLst/>
          </a:prstGeom>
          <a:solidFill>
            <a:srgbClr val="CCFBF1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2971800" y="2404872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moral</a:t>
            </a:r>
            <a:endParaRPr lang="en-US" sz="1300" dirty="0"/>
          </a:p>
        </p:txBody>
      </p:sp>
      <p:sp>
        <p:nvSpPr>
          <p:cNvPr id="31" name="Shape 29"/>
          <p:cNvSpPr/>
          <p:nvPr/>
        </p:nvSpPr>
        <p:spPr>
          <a:xfrm>
            <a:off x="5943600" y="2404872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943600" y="2404872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-y</a:t>
            </a:r>
            <a:endParaRPr lang="en-US" sz="1300" dirty="0"/>
          </a:p>
        </p:txBody>
      </p:sp>
      <p:sp>
        <p:nvSpPr>
          <p:cNvPr id="33" name="Shape 31"/>
          <p:cNvSpPr/>
          <p:nvPr/>
        </p:nvSpPr>
        <p:spPr>
          <a:xfrm>
            <a:off x="365760" y="2825496"/>
            <a:ext cx="246888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2971800" y="2825496"/>
            <a:ext cx="2834640" cy="402336"/>
          </a:xfrm>
          <a:prstGeom prst="rect">
            <a:avLst/>
          </a:prstGeom>
          <a:solidFill>
            <a:srgbClr val="CCFBF1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2971800" y="2825496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nom</a:t>
            </a:r>
            <a:endParaRPr lang="en-US" sz="1300" dirty="0"/>
          </a:p>
        </p:txBody>
      </p:sp>
      <p:sp>
        <p:nvSpPr>
          <p:cNvPr id="36" name="Shape 34"/>
          <p:cNvSpPr/>
          <p:nvPr/>
        </p:nvSpPr>
        <p:spPr>
          <a:xfrm>
            <a:off x="5943600" y="2825496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5943600" y="2825496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-ing</a:t>
            </a:r>
            <a:endParaRPr lang="en-US" sz="1300" dirty="0"/>
          </a:p>
        </p:txBody>
      </p:sp>
      <p:sp>
        <p:nvSpPr>
          <p:cNvPr id="38" name="Shape 36"/>
          <p:cNvSpPr/>
          <p:nvPr/>
        </p:nvSpPr>
        <p:spPr>
          <a:xfrm>
            <a:off x="365760" y="3246120"/>
            <a:ext cx="246888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2971800" y="3246120"/>
            <a:ext cx="2834640" cy="402336"/>
          </a:xfrm>
          <a:prstGeom prst="rect">
            <a:avLst/>
          </a:prstGeom>
          <a:solidFill>
            <a:srgbClr val="CCFBF1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2971800" y="3246120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part</a:t>
            </a:r>
            <a:endParaRPr lang="en-US" sz="1300" dirty="0"/>
          </a:p>
        </p:txBody>
      </p:sp>
      <p:sp>
        <p:nvSpPr>
          <p:cNvPr id="41" name="Shape 39"/>
          <p:cNvSpPr/>
          <p:nvPr/>
        </p:nvSpPr>
        <p:spPr>
          <a:xfrm>
            <a:off x="5943600" y="3246120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5943600" y="3246120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-s</a:t>
            </a:r>
            <a:endParaRPr lang="en-US" sz="1300" dirty="0"/>
          </a:p>
        </p:txBody>
      </p:sp>
      <p:sp>
        <p:nvSpPr>
          <p:cNvPr id="43" name="Shape 41"/>
          <p:cNvSpPr/>
          <p:nvPr/>
        </p:nvSpPr>
        <p:spPr>
          <a:xfrm>
            <a:off x="365760" y="3666744"/>
            <a:ext cx="246888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2971800" y="3666744"/>
            <a:ext cx="2834640" cy="402336"/>
          </a:xfrm>
          <a:prstGeom prst="rect">
            <a:avLst/>
          </a:prstGeom>
          <a:solidFill>
            <a:srgbClr val="CCFBF1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2971800" y="3666744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path</a:t>
            </a:r>
            <a:endParaRPr lang="en-US" sz="1300" dirty="0"/>
          </a:p>
        </p:txBody>
      </p:sp>
      <p:sp>
        <p:nvSpPr>
          <p:cNvPr id="46" name="Shape 44"/>
          <p:cNvSpPr/>
          <p:nvPr/>
        </p:nvSpPr>
        <p:spPr>
          <a:xfrm>
            <a:off x="5943600" y="3666744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5943600" y="3666744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-ation</a:t>
            </a:r>
            <a:endParaRPr lang="en-US" sz="1300" dirty="0"/>
          </a:p>
        </p:txBody>
      </p:sp>
      <p:sp>
        <p:nvSpPr>
          <p:cNvPr id="48" name="Text 46"/>
          <p:cNvSpPr/>
          <p:nvPr/>
        </p:nvSpPr>
        <p:spPr>
          <a:xfrm>
            <a:off x="365760" y="3611880"/>
            <a:ext cx="1828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Sample words:</a:t>
            </a:r>
            <a:endParaRPr lang="en-US" sz="1200" dirty="0"/>
          </a:p>
        </p:txBody>
      </p:sp>
      <p:sp>
        <p:nvSpPr>
          <p:cNvPr id="49" name="Shape 47"/>
          <p:cNvSpPr/>
          <p:nvPr/>
        </p:nvSpPr>
        <p:spPr>
          <a:xfrm>
            <a:off x="365760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365760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avid</a:t>
            </a:r>
            <a:endParaRPr lang="en-US" sz="1200" dirty="0"/>
          </a:p>
        </p:txBody>
      </p:sp>
      <p:sp>
        <p:nvSpPr>
          <p:cNvPr id="51" name="Shape 49"/>
          <p:cNvSpPr/>
          <p:nvPr/>
        </p:nvSpPr>
        <p:spPr>
          <a:xfrm>
            <a:off x="2542032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2542032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away</a:t>
            </a:r>
            <a:endParaRPr lang="en-US" sz="1200" dirty="0"/>
          </a:p>
        </p:txBody>
      </p:sp>
      <p:sp>
        <p:nvSpPr>
          <p:cNvPr id="53" name="Shape 51"/>
          <p:cNvSpPr/>
          <p:nvPr/>
        </p:nvSpPr>
        <p:spPr>
          <a:xfrm>
            <a:off x="4718304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4718304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alike</a:t>
            </a:r>
            <a:endParaRPr lang="en-US" sz="1200" dirty="0"/>
          </a:p>
        </p:txBody>
      </p:sp>
      <p:sp>
        <p:nvSpPr>
          <p:cNvPr id="55" name="Shape 53"/>
          <p:cNvSpPr/>
          <p:nvPr/>
        </p:nvSpPr>
        <p:spPr>
          <a:xfrm>
            <a:off x="6894576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6894576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alive</a:t>
            </a:r>
            <a:endParaRPr lang="en-US" sz="1200" dirty="0"/>
          </a:p>
        </p:txBody>
      </p:sp>
      <p:sp>
        <p:nvSpPr>
          <p:cNvPr id="57" name="Shape 55"/>
          <p:cNvSpPr/>
          <p:nvPr/>
        </p:nvSpPr>
        <p:spPr>
          <a:xfrm>
            <a:off x="365760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365760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apart</a:t>
            </a:r>
            <a:endParaRPr lang="en-US" sz="1200" dirty="0"/>
          </a:p>
        </p:txBody>
      </p:sp>
      <p:sp>
        <p:nvSpPr>
          <p:cNvPr id="59" name="Shape 57"/>
          <p:cNvSpPr/>
          <p:nvPr/>
        </p:nvSpPr>
        <p:spPr>
          <a:xfrm>
            <a:off x="2542032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60" name="Text 58"/>
          <p:cNvSpPr/>
          <p:nvPr/>
        </p:nvSpPr>
        <p:spPr>
          <a:xfrm>
            <a:off x="2542032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awake</a:t>
            </a:r>
            <a:endParaRPr lang="en-US" sz="1200" dirty="0"/>
          </a:p>
        </p:txBody>
      </p:sp>
      <p:sp>
        <p:nvSpPr>
          <p:cNvPr id="61" name="Shape 59"/>
          <p:cNvSpPr/>
          <p:nvPr/>
        </p:nvSpPr>
        <p:spPr>
          <a:xfrm>
            <a:off x="4718304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62" name="Text 60"/>
          <p:cNvSpPr/>
          <p:nvPr/>
        </p:nvSpPr>
        <p:spPr>
          <a:xfrm>
            <a:off x="4718304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amoral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37</Slides>
  <Notes>37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37</vt:i4>
      </vt:variant>
    </vt:vector>
  </HeadingPairs>
  <TitlesOfParts>
    <vt:vector size="4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Word Labs — Prefix 'a-' — 3-Day Teaching Deck</dc:title>
  <dc:subject>PptxGenJS Presentation</dc:subject>
  <dc:creator>Word Labs</dc:creator>
  <cp:lastModifiedBy>Word Labs</cp:lastModifiedBy>
  <cp:revision>1</cp:revision>
  <dcterms:created xsi:type="dcterms:W3CDTF">2026-07-07T10:22:44Z</dcterms:created>
  <dcterms:modified xsi:type="dcterms:W3CDTF">2026-07-07T10:22:44Z</dcterms:modified>
</cp:coreProperties>
</file>