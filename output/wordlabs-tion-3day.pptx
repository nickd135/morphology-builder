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</p:sldIdLst>
  <p:notesMasterIdLst>
    <p:notesMasterId r:id="rId3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notesMaster" Target="notesMasters/notesMaster1.xml"/><Relationship Id="rId40" Type="http://schemas.openxmlformats.org/officeDocument/2006/relationships/presProps" Target="presProps.xml"/><Relationship Id="rId41" Type="http://schemas.openxmlformats.org/officeDocument/2006/relationships/viewProps" Target="viewProps.xml"/><Relationship Id="rId42" Type="http://schemas.openxmlformats.org/officeDocument/2006/relationships/theme" Target="theme/theme1.xml"/><Relationship Id="rId4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931920"/>
            <a:ext cx="9144000" cy="12115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800" kern="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LABS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Suffix: '-tion'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457200" y="2331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"act, process, or state"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29260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Origin: Latin: -tio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3429000"/>
            <a:ext cx="4023360" cy="347472"/>
          </a:xfrm>
          <a:prstGeom prst="rect">
            <a:avLst>
              <a:gd name="adj" fmla="val 15789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42900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Morpheme Meaning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3566160"/>
            <a:ext cx="4023360" cy="347472"/>
          </a:xfrm>
          <a:prstGeom prst="rect">
            <a:avLst>
              <a:gd name="adj" fmla="val 15789"/>
            </a:avLst>
          </a:prstGeom>
          <a:solidFill>
            <a:srgbClr val="1E1B4B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56616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Dictation &amp; Breakdown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703320"/>
            <a:ext cx="4023360" cy="347472"/>
          </a:xfrm>
          <a:prstGeom prst="rect">
            <a:avLst>
              <a:gd name="adj" fmla="val 15789"/>
            </a:avLst>
          </a:prstGeom>
          <a:solidFill>
            <a:srgbClr val="1E1B4B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370332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— Dictation &amp; Word Matrix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401568"/>
            <a:ext cx="4023360" cy="347472"/>
          </a:xfrm>
          <a:prstGeom prst="rect">
            <a:avLst>
              <a:gd name="adj" fmla="val 15789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401568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Morpheme Meaning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785616"/>
            <a:ext cx="4023360" cy="347472"/>
          </a:xfrm>
          <a:prstGeom prst="rect">
            <a:avLst>
              <a:gd name="adj" fmla="val 15789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785616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Dictation &amp; Breakdown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4169664"/>
            <a:ext cx="4023360" cy="347472"/>
          </a:xfrm>
          <a:prstGeom prst="rect">
            <a:avLst>
              <a:gd name="adj" fmla="val 15789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4169664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— Dictation &amp; Word Matrix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40233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 Meaning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Suffix '-tion' — act, process, or state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Intention &amp; Success Criteria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'tion'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'-tion' = act, process, or state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22960"/>
            <a:ext cx="8412480" cy="1234440"/>
          </a:xfrm>
          <a:prstGeom prst="rect">
            <a:avLst>
              <a:gd name="adj" fmla="val 7407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868680"/>
            <a:ext cx="8138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 are learning that the suffix '-tion' means 'act, process, or state'.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65760" y="21945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Success Criteria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2633472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633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41248" y="263347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explain the meaning of the suffix '-tion'.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5760" y="3291840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1248" y="329184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use base words and other morphemes to build and decode '-tion' words.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65760" y="3950208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950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41248" y="3950208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read and spell '-tion' words effectively in sentences.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Vocabulary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'tion'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'-tion' = act, process, or state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04672"/>
            <a:ext cx="8412480" cy="1170432"/>
          </a:xfrm>
          <a:prstGeom prst="rect">
            <a:avLst>
              <a:gd name="adj" fmla="val 781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804672"/>
            <a:ext cx="1280160" cy="1170432"/>
          </a:xfrm>
          <a:prstGeom prst="rect">
            <a:avLst>
              <a:gd name="adj" fmla="val 7813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81328" y="804672"/>
            <a:ext cx="91440" cy="1170432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80467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91640" y="84124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meaningful word part added to the end of a word to change its meaning or form. The suffix '-tion' means 'act, process, or state'.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365760" y="2130552"/>
            <a:ext cx="8412480" cy="1170432"/>
          </a:xfrm>
          <a:prstGeom prst="rect">
            <a:avLst>
              <a:gd name="adj" fmla="val 781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130552"/>
            <a:ext cx="1280160" cy="1170432"/>
          </a:xfrm>
          <a:prstGeom prst="rect">
            <a:avLst>
              <a:gd name="adj" fmla="val 781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81328" y="2130552"/>
            <a:ext cx="91440" cy="1170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13055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91640" y="216712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part of a word carrying its basic meaning. In 'action', the root is the part before the suffix '-tion'.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365760" y="3456432"/>
            <a:ext cx="8412480" cy="1170432"/>
          </a:xfrm>
          <a:prstGeom prst="rect">
            <a:avLst>
              <a:gd name="adj" fmla="val 7813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456432"/>
            <a:ext cx="1280160" cy="1170432"/>
          </a:xfrm>
          <a:prstGeom prst="rect">
            <a:avLst>
              <a:gd name="adj" fmla="val 781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81328" y="3456432"/>
            <a:ext cx="91440" cy="11704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45643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691640" y="349300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meaningful word part added to the beginning of a root to change its meaning. E.g. 'un-' in 'invention' means 'not'.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'tion'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'-tion' = act, process, or state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 following statements true or false?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suffix '-tion' turns a verb or base word into a noun.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The suffix '-tion' makes a word mean 'without something'.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The word 'collection' contains the suffix '-tion'.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Words ending in '-tion' are always nouns.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3986784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48640" y="3986784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The suffix '-tion' comes from an Old English origin.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772400" y="3986784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72400" y="3986784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 '-tion' — Meaning &amp; Origin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'tion'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'-tion' = act, process, or state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1371600"/>
          </a:xfrm>
          <a:prstGeom prst="rect">
            <a:avLst>
              <a:gd name="adj" fmla="val 8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" y="777240"/>
            <a:ext cx="2926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'tion'</a:t>
            </a:r>
            <a:endParaRPr lang="en-US" sz="5200" dirty="0"/>
          </a:p>
        </p:txBody>
      </p:sp>
      <p:sp>
        <p:nvSpPr>
          <p:cNvPr id="12" name="Shape 10"/>
          <p:cNvSpPr/>
          <p:nvPr/>
        </p:nvSpPr>
        <p:spPr>
          <a:xfrm>
            <a:off x="3246120" y="777240"/>
            <a:ext cx="36576" cy="1371600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29000" y="777240"/>
            <a:ext cx="3657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act, process, or state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7132320" y="777240"/>
            <a:ext cx="1600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9F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Origin: Latin: -tio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65760" y="233172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using this suffix: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6576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action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251460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1460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invention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66344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6344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direction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81228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1228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collection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65760" y="3401568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340156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protection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2514600" y="3401568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514600" y="340156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reaction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663440" y="3401568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663440" y="340156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attention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with '-tion'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'tion'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'-tion' = act, process, or state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matrix below. Choose morpheme parts to build a word. Not all combinations work!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1234440"/>
            <a:ext cx="1463040" cy="457200"/>
          </a:xfrm>
          <a:prstGeom prst="rect">
            <a:avLst>
              <a:gd name="adj" fmla="val 120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12344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91840" y="1234440"/>
            <a:ext cx="1645920" cy="457200"/>
          </a:xfrm>
          <a:prstGeom prst="rect">
            <a:avLst>
              <a:gd name="adj" fmla="val 12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91840" y="12344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 Words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943600" y="1234440"/>
            <a:ext cx="1463040" cy="457200"/>
          </a:xfrm>
          <a:prstGeom prst="rect">
            <a:avLst>
              <a:gd name="adj" fmla="val 12000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0" y="12344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Suffix: '-tion'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1755648"/>
            <a:ext cx="1463040" cy="420624"/>
          </a:xfrm>
          <a:prstGeom prst="rect">
            <a:avLst/>
          </a:prstGeom>
          <a:solidFill>
            <a:srgbClr val="DDD6FE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17556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re-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291840" y="1755648"/>
            <a:ext cx="1645920" cy="420624"/>
          </a:xfrm>
          <a:prstGeom prst="rect">
            <a:avLst/>
          </a:prstGeom>
          <a:solidFill>
            <a:srgbClr val="CCFBF1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91840" y="1755648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943600" y="1755648"/>
            <a:ext cx="1463040" cy="420624"/>
          </a:xfrm>
          <a:prstGeom prst="rect">
            <a:avLst/>
          </a:prstGeom>
          <a:solidFill>
            <a:srgbClr val="FCE7F3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0" y="17556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-tion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40080" y="2212848"/>
            <a:ext cx="1463040" cy="420624"/>
          </a:xfrm>
          <a:prstGeom prst="rect">
            <a:avLst/>
          </a:prstGeom>
          <a:solidFill>
            <a:srgbClr val="DDD6FE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22128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con-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3291840" y="2212848"/>
            <a:ext cx="1645920" cy="420624"/>
          </a:xfrm>
          <a:prstGeom prst="rect">
            <a:avLst/>
          </a:prstGeom>
          <a:solidFill>
            <a:srgbClr val="CCFBF1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91840" y="2212848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collect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5943600" y="2212848"/>
            <a:ext cx="1463040" cy="420624"/>
          </a:xfrm>
          <a:prstGeom prst="rect">
            <a:avLst/>
          </a:prstGeom>
          <a:solidFill>
            <a:srgbClr val="F1F5F9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40080" y="2670048"/>
            <a:ext cx="1463040" cy="420624"/>
          </a:xfrm>
          <a:prstGeom prst="rect">
            <a:avLst/>
          </a:prstGeom>
          <a:solidFill>
            <a:srgbClr val="DDD6FE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" y="26700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de-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3291840" y="2670048"/>
            <a:ext cx="1645920" cy="420624"/>
          </a:xfrm>
          <a:prstGeom prst="rect">
            <a:avLst/>
          </a:prstGeom>
          <a:solidFill>
            <a:srgbClr val="CCFBF1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291840" y="2670048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direct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5943600" y="2670048"/>
            <a:ext cx="1463040" cy="420624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40080" y="3127248"/>
            <a:ext cx="1463040" cy="420624"/>
          </a:xfrm>
          <a:prstGeom prst="rect">
            <a:avLst/>
          </a:prstGeom>
          <a:solidFill>
            <a:srgbClr val="DDD6FE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0080" y="31272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in-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3291840" y="3127248"/>
            <a:ext cx="1645920" cy="420624"/>
          </a:xfrm>
          <a:prstGeom prst="rect">
            <a:avLst/>
          </a:prstGeom>
          <a:solidFill>
            <a:srgbClr val="CCFBF1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291840" y="3127248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protect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5943600" y="3127248"/>
            <a:ext cx="1463040" cy="420624"/>
          </a:xfrm>
          <a:prstGeom prst="rect">
            <a:avLst/>
          </a:prstGeom>
          <a:solidFill>
            <a:srgbClr val="F1F5F9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40080" y="3584448"/>
            <a:ext cx="1463040" cy="420624"/>
          </a:xfrm>
          <a:prstGeom prst="rect">
            <a:avLst/>
          </a:prstGeom>
          <a:solidFill>
            <a:srgbClr val="DDD6FE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40080" y="35844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at-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3291840" y="3584448"/>
            <a:ext cx="1645920" cy="420624"/>
          </a:xfrm>
          <a:prstGeom prst="rect">
            <a:avLst/>
          </a:prstGeom>
          <a:solidFill>
            <a:srgbClr val="CCFBF1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291840" y="3584448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invent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5943600" y="3584448"/>
            <a:ext cx="1463040" cy="420624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65760" y="4178808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1508760" y="4178808"/>
            <a:ext cx="822960" cy="420624"/>
          </a:xfrm>
          <a:prstGeom prst="rect">
            <a:avLst>
              <a:gd name="adj" fmla="val 17391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1508760" y="4178808"/>
            <a:ext cx="822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re-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2359152" y="4178808"/>
            <a:ext cx="320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47" name="Shape 45"/>
          <p:cNvSpPr/>
          <p:nvPr/>
        </p:nvSpPr>
        <p:spPr>
          <a:xfrm>
            <a:off x="2706624" y="4178808"/>
            <a:ext cx="822960" cy="420624"/>
          </a:xfrm>
          <a:prstGeom prst="rect">
            <a:avLst>
              <a:gd name="adj" fmla="val 17391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2706624" y="4178808"/>
            <a:ext cx="822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3557016" y="4178808"/>
            <a:ext cx="320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50" name="Shape 48"/>
          <p:cNvSpPr/>
          <p:nvPr/>
        </p:nvSpPr>
        <p:spPr>
          <a:xfrm>
            <a:off x="3904488" y="4178808"/>
            <a:ext cx="1097280" cy="420624"/>
          </a:xfrm>
          <a:prstGeom prst="rect">
            <a:avLst>
              <a:gd name="adj" fmla="val 17391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1" name="Text 49"/>
          <p:cNvSpPr/>
          <p:nvPr/>
        </p:nvSpPr>
        <p:spPr>
          <a:xfrm>
            <a:off x="3904488" y="4178808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-tion</a:t>
            </a:r>
            <a:endParaRPr lang="en-US" sz="1300" dirty="0"/>
          </a:p>
        </p:txBody>
      </p:sp>
      <p:sp>
        <p:nvSpPr>
          <p:cNvPr id="52" name="Text 50"/>
          <p:cNvSpPr/>
          <p:nvPr/>
        </p:nvSpPr>
        <p:spPr>
          <a:xfrm>
            <a:off x="5074920" y="4178808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=</a:t>
            </a:r>
            <a:endParaRPr lang="en-US" sz="1800" dirty="0"/>
          </a:p>
        </p:txBody>
      </p:sp>
      <p:sp>
        <p:nvSpPr>
          <p:cNvPr id="53" name="Shape 51"/>
          <p:cNvSpPr/>
          <p:nvPr/>
        </p:nvSpPr>
        <p:spPr>
          <a:xfrm>
            <a:off x="5486400" y="4178808"/>
            <a:ext cx="2194560" cy="420624"/>
          </a:xfrm>
          <a:prstGeom prst="rect">
            <a:avLst>
              <a:gd name="adj" fmla="val 17391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486400" y="4178808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action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'tion' Word Definitions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'tion'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'-tion' = act, process, or state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the word to its meaning: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57200"/>
          </a:xfrm>
          <a:prstGeom prst="rect">
            <a:avLst>
              <a:gd name="adj" fmla="val 12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action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57200"/>
          </a:xfrm>
          <a:prstGeom prst="rect">
            <a:avLst>
              <a:gd name="adj" fmla="val 12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process of doing something.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19072"/>
            <a:ext cx="2011680" cy="457200"/>
          </a:xfrm>
          <a:prstGeom prst="rect">
            <a:avLst>
              <a:gd name="adj" fmla="val 12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1907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invention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19072"/>
            <a:ext cx="6263640" cy="457200"/>
          </a:xfrm>
          <a:prstGeom prst="rect">
            <a:avLst>
              <a:gd name="adj" fmla="val 12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19072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path or way you need to go to get somewhere.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49424"/>
            <a:ext cx="2011680" cy="457200"/>
          </a:xfrm>
          <a:prstGeom prst="rect">
            <a:avLst>
              <a:gd name="adj" fmla="val 12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49424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direction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49424"/>
            <a:ext cx="6263640" cy="457200"/>
          </a:xfrm>
          <a:prstGeom prst="rect">
            <a:avLst>
              <a:gd name="adj" fmla="val 12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49424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do or feel in response to something that happens.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779776"/>
            <a:ext cx="2011680" cy="457200"/>
          </a:xfrm>
          <a:prstGeom prst="rect">
            <a:avLst>
              <a:gd name="adj" fmla="val 12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2779776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collection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14600" y="2779776"/>
            <a:ext cx="6263640" cy="457200"/>
          </a:xfrm>
          <a:prstGeom prst="rect">
            <a:avLst>
              <a:gd name="adj" fmla="val 12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779776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group of things gathered together in one place.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65760" y="3310128"/>
            <a:ext cx="2011680" cy="457200"/>
          </a:xfrm>
          <a:prstGeom prst="rect">
            <a:avLst>
              <a:gd name="adj" fmla="val 12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65760" y="331012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protection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514600" y="3310128"/>
            <a:ext cx="6263640" cy="457200"/>
          </a:xfrm>
          <a:prstGeom prst="rect">
            <a:avLst>
              <a:gd name="adj" fmla="val 12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51760" y="3310128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Keeping someone or something safe from harm.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365760" y="3840480"/>
            <a:ext cx="2011680" cy="457200"/>
          </a:xfrm>
          <a:prstGeom prst="rect">
            <a:avLst>
              <a:gd name="adj" fmla="val 12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65760" y="38404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reaction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2514600" y="3840480"/>
            <a:ext cx="6263640" cy="457200"/>
          </a:xfrm>
          <a:prstGeom prst="rect">
            <a:avLst>
              <a:gd name="adj" fmla="val 12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651760" y="3840480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Focusing your mind carefully on something.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365760" y="4370832"/>
            <a:ext cx="2011680" cy="457200"/>
          </a:xfrm>
          <a:prstGeom prst="rect">
            <a:avLst>
              <a:gd name="adj" fmla="val 12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365760" y="437083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attention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2514600" y="4370832"/>
            <a:ext cx="6263640" cy="457200"/>
          </a:xfrm>
          <a:prstGeom prst="rect">
            <a:avLst>
              <a:gd name="adj" fmla="val 12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651760" y="4370832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Something new that someone has created or made up.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Using '-tion' Words in Sentences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'tion'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'-tion' = act, process, or state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these example sentences. Underline the '-tion' word and discuss its meaning.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61872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261872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3232" y="1261872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261872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60120" y="1307592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construction of the new school hall took several months to finish.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65760" y="2468880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468880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3232" y="2468880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46888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60120" y="2514600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 to pay attention when the teacher explains the instructions.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65760" y="3675888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675888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3232" y="3675888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675888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60120" y="3721608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class made a collection of books to donate to the local library.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Check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'tion'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'-tion' = act, process, or state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aloud. Students write the sentence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sentence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011680" y="3822192"/>
            <a:ext cx="228600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011680" y="3822192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words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846320" y="3822192"/>
            <a:ext cx="228600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0" y="3822192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</a:t>
            </a:r>
            <a:endParaRPr lang="en-US" sz="2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'tion'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'-tion' = act, process, or state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sentence.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invention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changed the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direction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of modern science forever.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rewrite each focus word below with space between letters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73736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73736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73736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invention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73736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57200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457200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direction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57200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2)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'tion'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'-tion' = act, process, or state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invention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'tion'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'-tion' = act, process, or state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invention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into / upon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vent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tion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or process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8" name="Text 26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2" name="Text 30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'tion'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'-tion' = act, process, or state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invention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into / upon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vent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tion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or process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ven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tion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9" name="Text 37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'tion'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'-tion' = act, process, or state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invention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into / upon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vent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tion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or process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ven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tion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023872" y="4169664"/>
            <a:ext cx="685800" cy="384048"/>
          </a:xfrm>
          <a:prstGeom prst="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023872" y="4169664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2831592" y="4169664"/>
            <a:ext cx="685800" cy="384048"/>
          </a:xfrm>
          <a:prstGeom prst="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831592" y="4169664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3639312" y="4169664"/>
            <a:ext cx="685800" cy="384048"/>
          </a:xfrm>
          <a:prstGeom prst="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639312" y="4169664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4447032" y="4169664"/>
            <a:ext cx="685800" cy="384048"/>
          </a:xfrm>
          <a:prstGeom prst="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447032" y="4169664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5254752" y="4169664"/>
            <a:ext cx="685800" cy="384048"/>
          </a:xfrm>
          <a:prstGeom prst="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254752" y="4169664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6062472" y="4169664"/>
            <a:ext cx="685800" cy="384048"/>
          </a:xfrm>
          <a:prstGeom prst="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062472" y="4169664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6062472" y="4572000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/sh/</a:t>
            </a:r>
            <a:endParaRPr lang="en-US" sz="750" dirty="0"/>
          </a:p>
        </p:txBody>
      </p:sp>
      <p:sp>
        <p:nvSpPr>
          <p:cNvPr id="52" name="Shape 50"/>
          <p:cNvSpPr/>
          <p:nvPr/>
        </p:nvSpPr>
        <p:spPr>
          <a:xfrm>
            <a:off x="6870192" y="4169664"/>
            <a:ext cx="685800" cy="384048"/>
          </a:xfrm>
          <a:prstGeom prst="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870192" y="4169664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io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7677912" y="4169664"/>
            <a:ext cx="685800" cy="384048"/>
          </a:xfrm>
          <a:prstGeom prst="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677912" y="4169664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2 of 2)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'tion'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'-tion' = act, process, or state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direction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'tion'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'-tion' = act, process, or state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direction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apart / away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straight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tion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or process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8" name="Text 26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2" name="Text 30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'tion'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'-tion' = act, process, or state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direction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apart / away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straight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tion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or process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tion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9" name="Text 37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'tion'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'-tion' = act, process, or state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direction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apart / away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straight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tion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or process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tion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023872" y="4169664"/>
            <a:ext cx="685800" cy="384048"/>
          </a:xfrm>
          <a:prstGeom prst="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023872" y="4169664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2831592" y="4169664"/>
            <a:ext cx="685800" cy="384048"/>
          </a:xfrm>
          <a:prstGeom prst="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831592" y="4169664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3639312" y="4169664"/>
            <a:ext cx="685800" cy="384048"/>
          </a:xfrm>
          <a:prstGeom prst="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639312" y="4169664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4447032" y="4169664"/>
            <a:ext cx="685800" cy="384048"/>
          </a:xfrm>
          <a:prstGeom prst="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447032" y="4169664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5254752" y="4169664"/>
            <a:ext cx="685800" cy="384048"/>
          </a:xfrm>
          <a:prstGeom prst="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254752" y="4169664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5254752" y="4572000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/k/</a:t>
            </a:r>
            <a:endParaRPr lang="en-US" sz="750" dirty="0"/>
          </a:p>
        </p:txBody>
      </p:sp>
      <p:sp>
        <p:nvSpPr>
          <p:cNvPr id="50" name="Shape 48"/>
          <p:cNvSpPr/>
          <p:nvPr/>
        </p:nvSpPr>
        <p:spPr>
          <a:xfrm>
            <a:off x="6062472" y="4169664"/>
            <a:ext cx="685800" cy="384048"/>
          </a:xfrm>
          <a:prstGeom prst="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062472" y="4169664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6062472" y="4572000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/sh/</a:t>
            </a:r>
            <a:endParaRPr lang="en-US" sz="750" dirty="0"/>
          </a:p>
        </p:txBody>
      </p:sp>
      <p:sp>
        <p:nvSpPr>
          <p:cNvPr id="53" name="Shape 51"/>
          <p:cNvSpPr/>
          <p:nvPr/>
        </p:nvSpPr>
        <p:spPr>
          <a:xfrm>
            <a:off x="6870192" y="4169664"/>
            <a:ext cx="685800" cy="384048"/>
          </a:xfrm>
          <a:prstGeom prst="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870192" y="4169664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io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7677912" y="4169664"/>
            <a:ext cx="685800" cy="384048"/>
          </a:xfrm>
          <a:prstGeom prst="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677912" y="4169664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Build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'tion'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'-tion' = act, process, or state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aloud. Students write the sentence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sentence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011680" y="3822192"/>
            <a:ext cx="228600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011680" y="3822192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words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846320" y="3822192"/>
            <a:ext cx="228600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0" y="3822192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marks</a:t>
            </a:r>
            <a:endParaRPr lang="en-US" sz="2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'tion'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'-tion' = act, process, or state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sentence.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concentration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determination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the team found a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 the difficult problem.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rewrite each focus word below with space between letters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11480" y="3456432"/>
            <a:ext cx="249936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11480" y="3977640"/>
            <a:ext cx="2499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411480" y="3456432"/>
            <a:ext cx="249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concentration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11480" y="4005072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185160" y="3456432"/>
            <a:ext cx="249936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185160" y="3977640"/>
            <a:ext cx="2499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3185160" y="3456432"/>
            <a:ext cx="249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determination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185160" y="4005072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958840" y="3456432"/>
            <a:ext cx="249936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958840" y="3977640"/>
            <a:ext cx="2499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5958840" y="3456432"/>
            <a:ext cx="249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solution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958840" y="4005072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3)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'tion'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'-tion' = act, process, or state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concentration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'tion'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'-tion' = act, process, or state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concentration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989734" y="2258568"/>
            <a:ext cx="1581912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989734" y="225856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989734" y="2569464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together / with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659429" y="2258568"/>
            <a:ext cx="1581912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9429" y="225856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centr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659429" y="2569464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5329123" y="2258568"/>
            <a:ext cx="1581912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329123" y="225856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329123" y="2569464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connecting vowel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5329123" y="2752344"/>
            <a:ext cx="1581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links base to suffix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6998818" y="2258568"/>
            <a:ext cx="1581912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998818" y="225856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tion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998818" y="2569464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or process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2" name="Text 30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6" name="Text 34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'tion'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'-tion' = act, process, or state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concentration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989734" y="2258568"/>
            <a:ext cx="1581912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989734" y="225856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989734" y="2569464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together / with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659429" y="2258568"/>
            <a:ext cx="1581912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9429" y="225856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centr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659429" y="2569464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5329123" y="2258568"/>
            <a:ext cx="1581912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329123" y="225856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329123" y="2569464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connecting vowel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5329123" y="2752344"/>
            <a:ext cx="1581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links base to suffix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6998818" y="2258568"/>
            <a:ext cx="1581912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998818" y="225856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tion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998818" y="2569464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or process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975104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975104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3529584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3602736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02736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cen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5157216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5230368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230368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6784848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6858000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858000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tion</a:t>
            </a:r>
            <a:endParaRPr lang="en-US" sz="1400" dirty="0"/>
          </a:p>
        </p:txBody>
      </p:sp>
      <p:sp>
        <p:nvSpPr>
          <p:cNvPr id="43" name="Shape 41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46" name="Text 44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'tion'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'-tion' = act, process, or state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concentration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989734" y="2258568"/>
            <a:ext cx="1581912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989734" y="225856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989734" y="2569464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together / with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659429" y="2258568"/>
            <a:ext cx="1581912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9429" y="225856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centr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659429" y="2569464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5329123" y="2258568"/>
            <a:ext cx="1581912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329123" y="225856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329123" y="2569464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connecting vowel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5329123" y="2752344"/>
            <a:ext cx="1581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links base to suffix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6998818" y="2258568"/>
            <a:ext cx="1581912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998818" y="225856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tion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998818" y="2569464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or process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975104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975104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3529584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3602736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02736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cen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5157216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5230368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230368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6784848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6858000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858000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tion</a:t>
            </a:r>
            <a:endParaRPr lang="en-US" sz="1400" dirty="0"/>
          </a:p>
        </p:txBody>
      </p:sp>
      <p:sp>
        <p:nvSpPr>
          <p:cNvPr id="43" name="Shape 41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952244" y="4169664"/>
            <a:ext cx="543652" cy="384048"/>
          </a:xfrm>
          <a:prstGeom prst="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952244" y="4169664"/>
            <a:ext cx="5436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1952244" y="4572000"/>
            <a:ext cx="5436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/k/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>
            <a:off x="2546188" y="4169664"/>
            <a:ext cx="543652" cy="384048"/>
          </a:xfrm>
          <a:prstGeom prst="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546188" y="4169664"/>
            <a:ext cx="5436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3140133" y="4169664"/>
            <a:ext cx="543652" cy="384048"/>
          </a:xfrm>
          <a:prstGeom prst="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140133" y="4169664"/>
            <a:ext cx="5436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3734077" y="4169664"/>
            <a:ext cx="543652" cy="384048"/>
          </a:xfrm>
          <a:prstGeom prst="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734077" y="4169664"/>
            <a:ext cx="5436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3734077" y="4572000"/>
            <a:ext cx="5436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/s/</a:t>
            </a:r>
            <a:endParaRPr lang="en-US" sz="750" dirty="0"/>
          </a:p>
        </p:txBody>
      </p:sp>
      <p:sp>
        <p:nvSpPr>
          <p:cNvPr id="56" name="Shape 54"/>
          <p:cNvSpPr/>
          <p:nvPr/>
        </p:nvSpPr>
        <p:spPr>
          <a:xfrm>
            <a:off x="4328021" y="4169664"/>
            <a:ext cx="543652" cy="384048"/>
          </a:xfrm>
          <a:prstGeom prst="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328021" y="4169664"/>
            <a:ext cx="5436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4921966" y="4169664"/>
            <a:ext cx="543652" cy="384048"/>
          </a:xfrm>
          <a:prstGeom prst="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921966" y="4169664"/>
            <a:ext cx="5436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5515910" y="4169664"/>
            <a:ext cx="543652" cy="384048"/>
          </a:xfrm>
          <a:prstGeom prst="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515910" y="4169664"/>
            <a:ext cx="5436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6109855" y="4169664"/>
            <a:ext cx="543652" cy="384048"/>
          </a:xfrm>
          <a:prstGeom prst="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109855" y="4169664"/>
            <a:ext cx="5436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6703799" y="4169664"/>
            <a:ext cx="543652" cy="384048"/>
          </a:xfrm>
          <a:prstGeom prst="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703799" y="4169664"/>
            <a:ext cx="5436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6703799" y="4572000"/>
            <a:ext cx="5436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/sh/</a:t>
            </a:r>
            <a:endParaRPr lang="en-US" sz="750" dirty="0"/>
          </a:p>
        </p:txBody>
      </p:sp>
      <p:sp>
        <p:nvSpPr>
          <p:cNvPr id="67" name="Shape 65"/>
          <p:cNvSpPr/>
          <p:nvPr/>
        </p:nvSpPr>
        <p:spPr>
          <a:xfrm>
            <a:off x="7297743" y="4169664"/>
            <a:ext cx="543652" cy="384048"/>
          </a:xfrm>
          <a:prstGeom prst="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7297743" y="4169664"/>
            <a:ext cx="5436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io</a:t>
            </a:r>
            <a:endParaRPr lang="en-US" sz="900" dirty="0"/>
          </a:p>
        </p:txBody>
      </p:sp>
      <p:sp>
        <p:nvSpPr>
          <p:cNvPr id="69" name="Shape 67"/>
          <p:cNvSpPr/>
          <p:nvPr/>
        </p:nvSpPr>
        <p:spPr>
          <a:xfrm>
            <a:off x="7891688" y="4169664"/>
            <a:ext cx="543652" cy="384048"/>
          </a:xfrm>
          <a:prstGeom prst="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7891688" y="4169664"/>
            <a:ext cx="5436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2 of 3)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'tion'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'-tion' = act, process, or state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determination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'tion'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'-tion' = act, process, or state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determination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989734" y="2258568"/>
            <a:ext cx="1581912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989734" y="225856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989734" y="2569464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/ down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659429" y="2258568"/>
            <a:ext cx="1581912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9429" y="225856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termin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659429" y="2569464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 / end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5329123" y="2258568"/>
            <a:ext cx="1581912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329123" y="225856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329123" y="2569464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connecting vowel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5329123" y="2752344"/>
            <a:ext cx="1581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links base to suffix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6998818" y="2258568"/>
            <a:ext cx="1581912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998818" y="225856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tion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998818" y="2569464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or process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2" name="Text 30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6" name="Text 34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'tion'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'-tion' = act, process, or state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determination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989734" y="2258568"/>
            <a:ext cx="1581912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989734" y="225856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989734" y="2569464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/ down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659429" y="2258568"/>
            <a:ext cx="1581912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9429" y="225856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termin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659429" y="2569464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 / end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5329123" y="2258568"/>
            <a:ext cx="1581912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329123" y="225856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329123" y="2569464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connecting vowel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5329123" y="2752344"/>
            <a:ext cx="1581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links base to suffix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6998818" y="2258568"/>
            <a:ext cx="1581912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998818" y="225856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tion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998818" y="2569464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or process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978152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978152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3203448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3279648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279648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ter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4504944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4581144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581144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5806440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5882640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882640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7107936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7184136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184136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tion</a:t>
            </a:r>
            <a:endParaRPr lang="en-US" sz="1400" dirty="0"/>
          </a:p>
        </p:txBody>
      </p:sp>
      <p:sp>
        <p:nvSpPr>
          <p:cNvPr id="46" name="Shape 44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49" name="Text 47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'tion'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'-tion' = act, process, or state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determination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989734" y="2258568"/>
            <a:ext cx="1581912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989734" y="225856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989734" y="2569464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/ down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659429" y="2258568"/>
            <a:ext cx="1581912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9429" y="225856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termin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659429" y="2569464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 / end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5329123" y="2258568"/>
            <a:ext cx="1581912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329123" y="225856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329123" y="2569464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connecting vowel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5329123" y="2752344"/>
            <a:ext cx="1581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links base to suffix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6998818" y="2258568"/>
            <a:ext cx="1581912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998818" y="225856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tion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998818" y="2569464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or process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978152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978152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3203448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3279648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279648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ter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4504944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4581144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581144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5806440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5882640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882640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7107936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7184136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184136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tion</a:t>
            </a:r>
            <a:endParaRPr lang="en-US" sz="1400" dirty="0"/>
          </a:p>
        </p:txBody>
      </p:sp>
      <p:sp>
        <p:nvSpPr>
          <p:cNvPr id="46" name="Shape 44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952244" y="4169664"/>
            <a:ext cx="543652" cy="384048"/>
          </a:xfrm>
          <a:prstGeom prst="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952244" y="4169664"/>
            <a:ext cx="5436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2546188" y="4169664"/>
            <a:ext cx="543652" cy="384048"/>
          </a:xfrm>
          <a:prstGeom prst="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2546188" y="4169664"/>
            <a:ext cx="5436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3140133" y="4169664"/>
            <a:ext cx="543652" cy="384048"/>
          </a:xfrm>
          <a:prstGeom prst="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140133" y="4169664"/>
            <a:ext cx="5436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3734077" y="4169664"/>
            <a:ext cx="543652" cy="384048"/>
          </a:xfrm>
          <a:prstGeom prst="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734077" y="4169664"/>
            <a:ext cx="5436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4328021" y="4169664"/>
            <a:ext cx="543652" cy="384048"/>
          </a:xfrm>
          <a:prstGeom prst="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328021" y="4169664"/>
            <a:ext cx="5436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4921966" y="4169664"/>
            <a:ext cx="543652" cy="384048"/>
          </a:xfrm>
          <a:prstGeom prst="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921966" y="4169664"/>
            <a:ext cx="5436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5515910" y="4169664"/>
            <a:ext cx="543652" cy="384048"/>
          </a:xfrm>
          <a:prstGeom prst="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515910" y="4169664"/>
            <a:ext cx="5436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6109855" y="4169664"/>
            <a:ext cx="543652" cy="384048"/>
          </a:xfrm>
          <a:prstGeom prst="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109855" y="4169664"/>
            <a:ext cx="5436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6703799" y="4169664"/>
            <a:ext cx="543652" cy="384048"/>
          </a:xfrm>
          <a:prstGeom prst="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6703799" y="4169664"/>
            <a:ext cx="5436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900" dirty="0"/>
          </a:p>
        </p:txBody>
      </p:sp>
      <p:sp>
        <p:nvSpPr>
          <p:cNvPr id="67" name="Text 65"/>
          <p:cNvSpPr/>
          <p:nvPr/>
        </p:nvSpPr>
        <p:spPr>
          <a:xfrm>
            <a:off x="6703799" y="4572000"/>
            <a:ext cx="5436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/sh/</a:t>
            </a:r>
            <a:endParaRPr lang="en-US" sz="750" dirty="0"/>
          </a:p>
        </p:txBody>
      </p:sp>
      <p:sp>
        <p:nvSpPr>
          <p:cNvPr id="68" name="Shape 66"/>
          <p:cNvSpPr/>
          <p:nvPr/>
        </p:nvSpPr>
        <p:spPr>
          <a:xfrm>
            <a:off x="7297743" y="4169664"/>
            <a:ext cx="543652" cy="384048"/>
          </a:xfrm>
          <a:prstGeom prst="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7297743" y="4169664"/>
            <a:ext cx="5436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io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7891688" y="4169664"/>
            <a:ext cx="543652" cy="384048"/>
          </a:xfrm>
          <a:prstGeom prst="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7891688" y="4169664"/>
            <a:ext cx="5436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3 of 3)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'tion'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'-tion' = act, process, or state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solution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'tion'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'-tion' = act, process, or state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solution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solut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loosen / free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ion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or process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5803392" y="2752344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'-ion' variant of '-tion' after certain bases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0" name="Text 28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'tion'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'-tion' = act, process, or state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solution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solut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loosen / free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ion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or process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5803392" y="2752344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'-ion' variant of '-tion' after certain bases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lu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tion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7" name="Text 35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'tion'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'-tion' = act, process, or state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solution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solut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loosen / free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ion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or process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5803392" y="2752344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'-ion' variant of '-tion' after certain bases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lu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tion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124837" y="4169664"/>
            <a:ext cx="685800" cy="384048"/>
          </a:xfrm>
          <a:prstGeom prst="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124837" y="4169664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3033522" y="4169664"/>
            <a:ext cx="685800" cy="384048"/>
          </a:xfrm>
          <a:prstGeom prst="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033522" y="4169664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3942207" y="4169664"/>
            <a:ext cx="685800" cy="384048"/>
          </a:xfrm>
          <a:prstGeom prst="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942207" y="4169664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850892" y="4169664"/>
            <a:ext cx="685800" cy="384048"/>
          </a:xfrm>
          <a:prstGeom prst="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850892" y="4169664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5759577" y="4169664"/>
            <a:ext cx="685800" cy="384048"/>
          </a:xfrm>
          <a:prstGeom prst="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759577" y="4169664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5759577" y="4572000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/sh/</a:t>
            </a:r>
            <a:endParaRPr lang="en-US" sz="750" dirty="0"/>
          </a:p>
        </p:txBody>
      </p:sp>
      <p:sp>
        <p:nvSpPr>
          <p:cNvPr id="48" name="Shape 46"/>
          <p:cNvSpPr/>
          <p:nvPr/>
        </p:nvSpPr>
        <p:spPr>
          <a:xfrm>
            <a:off x="6668262" y="4169664"/>
            <a:ext cx="685800" cy="384048"/>
          </a:xfrm>
          <a:prstGeom prst="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668262" y="4169664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io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7576947" y="4169664"/>
            <a:ext cx="685800" cy="384048"/>
          </a:xfrm>
          <a:prstGeom prst="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576947" y="4169664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Your Own Words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'tion'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'-tion' = act, process, or state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Word Labs Morpheme Builder to find words, then fill in the matrix below.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5760" y="1170432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Name: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143000" y="1371600"/>
            <a:ext cx="292608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170432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Date: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49240" y="1371600"/>
            <a:ext cx="324612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1600200"/>
            <a:ext cx="2468880" cy="438912"/>
          </a:xfrm>
          <a:prstGeom prst="rect">
            <a:avLst>
              <a:gd name="adj" fmla="val 125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1600200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971800" y="1600200"/>
            <a:ext cx="2834640" cy="438912"/>
          </a:xfrm>
          <a:prstGeom prst="rect">
            <a:avLst>
              <a:gd name="adj" fmla="val 125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971800" y="1600200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 Words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943600" y="1600200"/>
            <a:ext cx="2834640" cy="438912"/>
          </a:xfrm>
          <a:prstGeom prst="rect">
            <a:avLst>
              <a:gd name="adj" fmla="val 12500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0" y="1600200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Suffix: '-tion'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65760" y="2066544"/>
            <a:ext cx="246888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971800" y="2066544"/>
            <a:ext cx="283464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943600" y="2066544"/>
            <a:ext cx="283464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65760" y="2404872"/>
            <a:ext cx="246888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71800" y="2404872"/>
            <a:ext cx="283464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943600" y="2404872"/>
            <a:ext cx="283464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65760" y="2743200"/>
            <a:ext cx="246888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971800" y="2743200"/>
            <a:ext cx="283464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943600" y="2743200"/>
            <a:ext cx="283464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65760" y="3081528"/>
            <a:ext cx="246888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971800" y="3081528"/>
            <a:ext cx="283464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943600" y="3081528"/>
            <a:ext cx="283464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347472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I made: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365760" y="3803904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200400" y="3803904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035040" y="3803904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65760" y="4151376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200400" y="4151376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035040" y="4151376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53542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Choose 3 words and write a sentence for each:</a:t>
            </a:r>
            <a:endParaRPr lang="en-US" sz="10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Review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'tion'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'-tion' = act, process, or state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are some words you could have made. Check your list!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15568"/>
            <a:ext cx="2468880" cy="420624"/>
          </a:xfrm>
          <a:prstGeom prst="rect">
            <a:avLst>
              <a:gd name="adj" fmla="val 1304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115568"/>
            <a:ext cx="2468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971800" y="1115568"/>
            <a:ext cx="2834640" cy="420624"/>
          </a:xfrm>
          <a:prstGeom prst="rect">
            <a:avLst>
              <a:gd name="adj" fmla="val 1304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971800" y="1115568"/>
            <a:ext cx="2834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 Words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943600" y="1115568"/>
            <a:ext cx="2834640" cy="420624"/>
          </a:xfrm>
          <a:prstGeom prst="rect">
            <a:avLst>
              <a:gd name="adj" fmla="val 13043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0" y="1115568"/>
            <a:ext cx="2834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Suffix: '-tion'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1563624"/>
            <a:ext cx="2468880" cy="402336"/>
          </a:xfrm>
          <a:prstGeom prst="rect">
            <a:avLst/>
          </a:prstGeom>
          <a:solidFill>
            <a:srgbClr val="DDD6F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1563624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re-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2971800" y="1563624"/>
            <a:ext cx="2834640" cy="402336"/>
          </a:xfrm>
          <a:prstGeom prst="rect">
            <a:avLst/>
          </a:prstGeom>
          <a:solidFill>
            <a:srgbClr val="CCFBF1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971800" y="1563624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943600" y="1563624"/>
            <a:ext cx="2834640" cy="402336"/>
          </a:xfrm>
          <a:prstGeom prst="rect">
            <a:avLst/>
          </a:prstGeom>
          <a:solidFill>
            <a:srgbClr val="FCE7F3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0" y="1563624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-tion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65760" y="1984248"/>
            <a:ext cx="2468880" cy="402336"/>
          </a:xfrm>
          <a:prstGeom prst="rect">
            <a:avLst/>
          </a:prstGeom>
          <a:solidFill>
            <a:srgbClr val="DDD6F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1984248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con-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2971800" y="1984248"/>
            <a:ext cx="2834640" cy="402336"/>
          </a:xfrm>
          <a:prstGeom prst="rect">
            <a:avLst/>
          </a:prstGeom>
          <a:solidFill>
            <a:srgbClr val="CCFBF1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71800" y="1984248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collect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5943600" y="1984248"/>
            <a:ext cx="2834640" cy="40233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65760" y="2404872"/>
            <a:ext cx="2468880" cy="402336"/>
          </a:xfrm>
          <a:prstGeom prst="rect">
            <a:avLst/>
          </a:prstGeom>
          <a:solidFill>
            <a:srgbClr val="DDD6F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2404872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de-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2971800" y="2404872"/>
            <a:ext cx="2834640" cy="402336"/>
          </a:xfrm>
          <a:prstGeom prst="rect">
            <a:avLst/>
          </a:prstGeom>
          <a:solidFill>
            <a:srgbClr val="CCFBF1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971800" y="2404872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direct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5943600" y="2404872"/>
            <a:ext cx="2834640" cy="40233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65760" y="2825496"/>
            <a:ext cx="2468880" cy="402336"/>
          </a:xfrm>
          <a:prstGeom prst="rect">
            <a:avLst/>
          </a:prstGeom>
          <a:solidFill>
            <a:srgbClr val="DDD6F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2825496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in-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2971800" y="2825496"/>
            <a:ext cx="2834640" cy="402336"/>
          </a:xfrm>
          <a:prstGeom prst="rect">
            <a:avLst/>
          </a:prstGeom>
          <a:solidFill>
            <a:srgbClr val="CCFBF1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971800" y="2825496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protect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5943600" y="2825496"/>
            <a:ext cx="2834640" cy="40233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65760" y="3246120"/>
            <a:ext cx="2468880" cy="402336"/>
          </a:xfrm>
          <a:prstGeom prst="rect">
            <a:avLst/>
          </a:prstGeom>
          <a:solidFill>
            <a:srgbClr val="DDD6F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65760" y="3246120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at-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2971800" y="3246120"/>
            <a:ext cx="2834640" cy="402336"/>
          </a:xfrm>
          <a:prstGeom prst="rect">
            <a:avLst/>
          </a:prstGeom>
          <a:solidFill>
            <a:srgbClr val="CCFBF1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971800" y="3246120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invent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5943600" y="3246120"/>
            <a:ext cx="2834640" cy="40233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65760" y="361188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Sample words: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365760" y="4023360"/>
            <a:ext cx="2011680" cy="402336"/>
          </a:xfrm>
          <a:prstGeom prst="rect">
            <a:avLst>
              <a:gd name="adj" fmla="val 13636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65760" y="4023360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action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2542032" y="4023360"/>
            <a:ext cx="2011680" cy="402336"/>
          </a:xfrm>
          <a:prstGeom prst="rect">
            <a:avLst>
              <a:gd name="adj" fmla="val 13636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542032" y="4023360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invention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4718304" y="4023360"/>
            <a:ext cx="2011680" cy="402336"/>
          </a:xfrm>
          <a:prstGeom prst="rect">
            <a:avLst>
              <a:gd name="adj" fmla="val 13636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718304" y="4023360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direction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6894576" y="4023360"/>
            <a:ext cx="2011680" cy="402336"/>
          </a:xfrm>
          <a:prstGeom prst="rect">
            <a:avLst>
              <a:gd name="adj" fmla="val 13636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894576" y="4023360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collection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365760" y="4498848"/>
            <a:ext cx="2011680" cy="402336"/>
          </a:xfrm>
          <a:prstGeom prst="rect">
            <a:avLst>
              <a:gd name="adj" fmla="val 13636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65760" y="4498848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protection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2542032" y="4498848"/>
            <a:ext cx="2011680" cy="402336"/>
          </a:xfrm>
          <a:prstGeom prst="rect">
            <a:avLst>
              <a:gd name="adj" fmla="val 13636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542032" y="4498848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reaction</a:t>
            </a:r>
            <a:endParaRPr lang="en-US" sz="1200" dirty="0"/>
          </a:p>
        </p:txBody>
      </p:sp>
      <p:sp>
        <p:nvSpPr>
          <p:cNvPr id="56" name="Shape 54"/>
          <p:cNvSpPr/>
          <p:nvPr/>
        </p:nvSpPr>
        <p:spPr>
          <a:xfrm>
            <a:off x="4718304" y="4498848"/>
            <a:ext cx="2011680" cy="402336"/>
          </a:xfrm>
          <a:prstGeom prst="rect">
            <a:avLst>
              <a:gd name="adj" fmla="val 13636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718304" y="4498848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attention</a:t>
            </a:r>
            <a:endParaRPr lang="en-US" sz="1200" dirty="0"/>
          </a:p>
        </p:txBody>
      </p:sp>
      <p:sp>
        <p:nvSpPr>
          <p:cNvPr id="58" name="Shape 56"/>
          <p:cNvSpPr/>
          <p:nvPr/>
        </p:nvSpPr>
        <p:spPr>
          <a:xfrm>
            <a:off x="6894576" y="4498848"/>
            <a:ext cx="2011680" cy="402336"/>
          </a:xfrm>
          <a:prstGeom prst="rect">
            <a:avLst>
              <a:gd name="adj" fmla="val 13636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894576" y="4498848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construction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37</Slides>
  <Notes>37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Word Labs — Suffix '-tion' — 3-Day Teaching Deck</dc:title>
  <dc:subject>PptxGenJS Presentation</dc:subject>
  <dc:creator>Word Labs</dc:creator>
  <cp:lastModifiedBy>Word Labs</cp:lastModifiedBy>
  <cp:revision>1</cp:revision>
  <dcterms:created xsi:type="dcterms:W3CDTF">2026-03-25T02:20:37Z</dcterms:created>
  <dcterms:modified xsi:type="dcterms:W3CDTF">2026-03-25T02:20:37Z</dcterms:modified>
</cp:coreProperties>
</file>