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"related to"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'-ic' — related to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suffix '-ic' means 'related to'.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suffix '-ic'.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base words and other morphemes to build and decode '-ic'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'-ic'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The suffix '-ic' means 'related to'.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In 'cyclic', the root is the part before the suffix '-ic'.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'un-' in 'heroic' means 'not'.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'heroic' means 'very brave'.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'ic' means 'related to'.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'heroic' means 'very frightened'.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'cyclic' means 'happening only once and never again'.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'cyclic' means 'happening in a repeating pattern or cycle'.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 '-ic'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related to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Suffix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suffix: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servicing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'-ic'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40080" y="4041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291840" y="4041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4041648"/>
            <a:ext cx="146304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6360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1508760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0" name="Text 48"/>
          <p:cNvSpPr/>
          <p:nvPr/>
        </p:nvSpPr>
        <p:spPr>
          <a:xfrm>
            <a:off x="1508760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235915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2" name="Shape 50"/>
          <p:cNvSpPr/>
          <p:nvPr/>
        </p:nvSpPr>
        <p:spPr>
          <a:xfrm>
            <a:off x="2706624" y="4636008"/>
            <a:ext cx="950976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2706624" y="4636008"/>
            <a:ext cx="9509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3685032" y="46360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5" name="Shape 53"/>
          <p:cNvSpPr/>
          <p:nvPr/>
        </p:nvSpPr>
        <p:spPr>
          <a:xfrm>
            <a:off x="4032504" y="46360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4032504" y="46360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57" name="Text 55"/>
          <p:cNvSpPr/>
          <p:nvPr/>
        </p:nvSpPr>
        <p:spPr>
          <a:xfrm>
            <a:off x="4928616" y="46360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8" name="Shape 56"/>
          <p:cNvSpPr/>
          <p:nvPr/>
        </p:nvSpPr>
        <p:spPr>
          <a:xfrm>
            <a:off x="5340096" y="46360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340096" y="46360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repairing or maintaining something, such as a car or machine, so it works properly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happening in a repeating pattern or cycle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method of teaching reading by linking sounds to letters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had a machine or vehicle checked, cleaned and repaired to keep it working well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organisations or systems that provide help or do useful work for people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brave actions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brave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'-ic'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'-ic'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moon's phases follow a cyclic pattern each month.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lifeguard's heroic rescue was reported on the news.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crowd cheered at the goalkeeper's heroics in the final minute.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choir sang a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polyphonic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piece with several melodies at once. Bacteria are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microscopic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 we need special equipment to study them.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polyphonic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poly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many; much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sound; a device for talking to someone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pol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13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13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677363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677363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403397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403397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4129430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129430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y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855464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855464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55814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5814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6307531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307531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7033565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033565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7759598" y="4169664"/>
            <a:ext cx="67665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7759598" y="4169664"/>
            <a:ext cx="67665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8" name="Text 26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2" name="Text 40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microscopic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2219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2219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2219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7083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437083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37083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look; view; examine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5196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65196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5196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975104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975104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3529584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1" name="Shape 29"/>
          <p:cNvSpPr/>
          <p:nvPr/>
        </p:nvSpPr>
        <p:spPr>
          <a:xfrm>
            <a:off x="3602736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602736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cro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5230368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230368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scop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784848" y="3364992"/>
            <a:ext cx="73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6858000" y="3364992"/>
            <a:ext cx="155448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858000" y="3364992"/>
            <a:ext cx="1554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400" dirty="0"/>
          </a:p>
        </p:txBody>
      </p:sp>
      <p:sp>
        <p:nvSpPr>
          <p:cNvPr id="39" name="Shape 37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astronomical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society meets to look at the stars through their telescopes. The film included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biographical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details about the scientist's childhood.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geographical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location of the city made it a good port for trade.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astronomical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star; outer space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law; rule; name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596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596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49701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49701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04143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04143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585855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585855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13027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13027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67469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67469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21911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21911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5763534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63534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30795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30795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685237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237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396793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396793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7941212" y="4169664"/>
            <a:ext cx="493776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7941212" y="4169664"/>
            <a:ext cx="49377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1" name="Text 2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48" name="Text 46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geographical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989734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1989734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989734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3659429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9429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3659429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write; drawing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329123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329123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ic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329123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998818" y="2258568"/>
            <a:ext cx="1581912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998818" y="2258568"/>
            <a:ext cx="1581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al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998818" y="2569464"/>
            <a:ext cx="1581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to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978152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78152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203448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4" name="Shape 32"/>
          <p:cNvSpPr/>
          <p:nvPr/>
        </p:nvSpPr>
        <p:spPr>
          <a:xfrm>
            <a:off x="3279648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79648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504944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37" name="Shape 35"/>
          <p:cNvSpPr/>
          <p:nvPr/>
        </p:nvSpPr>
        <p:spPr>
          <a:xfrm>
            <a:off x="4581144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581144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5806440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0" name="Shape 38"/>
          <p:cNvSpPr/>
          <p:nvPr/>
        </p:nvSpPr>
        <p:spPr>
          <a:xfrm>
            <a:off x="5882640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882640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1400" dirty="0"/>
          </a:p>
        </p:txBody>
      </p:sp>
      <p:sp>
        <p:nvSpPr>
          <p:cNvPr id="42" name="Text 40"/>
          <p:cNvSpPr/>
          <p:nvPr/>
        </p:nvSpPr>
        <p:spPr>
          <a:xfrm>
            <a:off x="7107936" y="3364992"/>
            <a:ext cx="76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43" name="Shape 41"/>
          <p:cNvSpPr/>
          <p:nvPr/>
        </p:nvSpPr>
        <p:spPr>
          <a:xfrm>
            <a:off x="7184136" y="3364992"/>
            <a:ext cx="1225296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184136" y="3364992"/>
            <a:ext cx="12252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cal</a:t>
            </a:r>
            <a:endParaRPr lang="en-US" sz="1400" dirty="0"/>
          </a:p>
        </p:txBody>
      </p:sp>
      <p:sp>
        <p:nvSpPr>
          <p:cNvPr id="45" name="Shape 43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1952244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952244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25461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25461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52" name="Shape 50"/>
          <p:cNvSpPr/>
          <p:nvPr/>
        </p:nvSpPr>
        <p:spPr>
          <a:xfrm>
            <a:off x="314013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14013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3734077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734077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328021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28021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4921966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21966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5515910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515910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6109855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109855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6703799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03799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</a:t>
            </a:r>
            <a:endParaRPr lang="en-US" sz="900" dirty="0"/>
          </a:p>
        </p:txBody>
      </p:sp>
      <p:sp>
        <p:nvSpPr>
          <p:cNvPr id="66" name="Shape 64"/>
          <p:cNvSpPr/>
          <p:nvPr/>
        </p:nvSpPr>
        <p:spPr>
          <a:xfrm>
            <a:off x="7297743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297743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</a:t>
            </a:r>
            <a:endParaRPr lang="en-US" sz="900" dirty="0"/>
          </a:p>
        </p:txBody>
      </p:sp>
      <p:sp>
        <p:nvSpPr>
          <p:cNvPr id="68" name="Shape 66"/>
          <p:cNvSpPr/>
          <p:nvPr/>
        </p:nvSpPr>
        <p:spPr>
          <a:xfrm>
            <a:off x="7891688" y="4169664"/>
            <a:ext cx="543652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7891688" y="4169664"/>
            <a:ext cx="5436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'ic'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Suffix: '-ic' = related to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Base Words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Suffix: '-ic'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ad-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-ic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astro-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aqu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bio-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nom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demo-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graph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eco-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chron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5760" y="366674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geo-</a:t>
            </a:r>
            <a:endParaRPr lang="en-US" sz="1300" dirty="0"/>
          </a:p>
        </p:txBody>
      </p:sp>
      <p:sp>
        <p:nvSpPr>
          <p:cNvPr id="45" name="Shape 43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971800" y="366674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cosm</a:t>
            </a:r>
            <a:endParaRPr lang="en-US" sz="1300" dirty="0"/>
          </a:p>
        </p:txBody>
      </p:sp>
      <p:sp>
        <p:nvSpPr>
          <p:cNvPr id="47" name="Shape 45"/>
          <p:cNvSpPr/>
          <p:nvPr/>
        </p:nvSpPr>
        <p:spPr>
          <a:xfrm>
            <a:off x="5943600" y="3666744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cyclic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heroics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phonics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serviced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services</a:t>
            </a:r>
            <a:endParaRPr lang="en-US" sz="1200" dirty="0"/>
          </a:p>
        </p:txBody>
      </p:sp>
      <p:sp>
        <p:nvSpPr>
          <p:cNvPr id="61" name="Shape 59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servicing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Suffix '-ic' — 3-Day Teaching Deck</dc:title>
  <dc:subject>PptxGenJS Presentation</dc:subject>
  <dc:creator>Word Labs</dc:creator>
  <cp:lastModifiedBy>Word Labs</cp:lastModifiedBy>
  <cp:revision>1</cp:revision>
  <dcterms:created xsi:type="dcterms:W3CDTF">2026-07-07T10:22:45Z</dcterms:created>
  <dcterms:modified xsi:type="dcterms:W3CDTF">2026-07-07T10:22:45Z</dcterms:modified>
</cp:coreProperties>
</file>