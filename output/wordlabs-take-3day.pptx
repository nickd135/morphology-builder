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Teacher note: Only 11 word families with 'take' suit Years 3–7, so there is no Day 3 dictation. Day 3 is the word matrix lesson only.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False statements, corrected:
'take' really means 'to get; to carry; to accept'.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aloud:
The class photo was taken on a windy day, so we had to retake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931920"/>
            <a:ext cx="9144000" cy="12115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800" kern="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LABS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Base: 'take'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457200" y="2331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"to get; to carry; to accept"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57200" y="3401568"/>
            <a:ext cx="4023360" cy="329184"/>
          </a:xfrm>
          <a:prstGeom prst="rect">
            <a:avLst>
              <a:gd name="adj" fmla="val 1666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4015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Morpheme Meaning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3858768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8587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Dictation &amp; Breakdown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4242816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4242816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Word Matrix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54880" y="4023360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note: Only 11 word families with 'take' suit Years 3–7, so there is no Day 3 dictation. Day 3 is the word matrix lesson only.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 Meaning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'take' — to get; to carry; to accept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Intention &amp; Success Criteria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'take'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'take' = to get; to carry; to accept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22960"/>
            <a:ext cx="8412480" cy="1234440"/>
          </a:xfrm>
          <a:prstGeom prst="rect">
            <a:avLst>
              <a:gd name="adj" fmla="val 7407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868680"/>
            <a:ext cx="813816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 are learning that the base 'take' means 'to get; to carry; to accept' and how it helps us read and spell longer words.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365760" y="21945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Success Criteria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2633472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633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1248" y="263347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explain what the base 'take' means.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5760" y="3291840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1248" y="329184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build and break down 'take' words using prefixes and suffixes.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5760" y="3950208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950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41248" y="3950208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read and spell 'take' words in sentences.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Vocabulary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'take'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'take' = to get; to carry; to accept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04672"/>
            <a:ext cx="8412480" cy="1170432"/>
          </a:xfrm>
          <a:prstGeom prst="rect">
            <a:avLst>
              <a:gd name="adj" fmla="val 781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804672"/>
            <a:ext cx="1280160" cy="1170432"/>
          </a:xfrm>
          <a:prstGeom prst="rect">
            <a:avLst>
              <a:gd name="adj" fmla="val 781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81328" y="804672"/>
            <a:ext cx="91440" cy="1170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80467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91640" y="84124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base is the main part of a word that carries its meaning. The base 'take' means 'to get; to carry; to accept'. You can find it in 'intake'.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365760" y="2130552"/>
            <a:ext cx="8412480" cy="1170432"/>
          </a:xfrm>
          <a:prstGeom prst="rect">
            <a:avLst>
              <a:gd name="adj" fmla="val 7813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130552"/>
            <a:ext cx="1280160" cy="1170432"/>
          </a:xfrm>
          <a:prstGeom prst="rect">
            <a:avLst>
              <a:gd name="adj" fmla="val 781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81328" y="2130552"/>
            <a:ext cx="91440" cy="11704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13055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91640" y="216712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prefix is a word part added to the start of a word to change its meaning. In 'intake', 'in-' means 'in; into'.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365760" y="3456432"/>
            <a:ext cx="8412480" cy="1170432"/>
          </a:xfrm>
          <a:prstGeom prst="rect">
            <a:avLst>
              <a:gd name="adj" fmla="val 781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456432"/>
            <a:ext cx="1280160" cy="1170432"/>
          </a:xfrm>
          <a:prstGeom prst="rect">
            <a:avLst>
              <a:gd name="adj" fmla="val 781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81328" y="3456432"/>
            <a:ext cx="91440" cy="1170432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45643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691640" y="349300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suffix is a word part added to the end of a word to change its meaning or job. In 'taken', '-en' means 'past form (has been done)'.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'take'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'take' = to get; to carry; to accept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these statements true or false? Decide with a partner.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07492"/>
          </a:xfrm>
          <a:prstGeom prst="rect">
            <a:avLst>
              <a:gd name="adj" fmla="val 1441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074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base 'take' means 'to get; to carry; to accept'.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07492"/>
          </a:xfrm>
          <a:prstGeom prst="rect">
            <a:avLst>
              <a:gd name="adj" fmla="val 1441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074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805940"/>
            <a:ext cx="7315200" cy="507492"/>
          </a:xfrm>
          <a:prstGeom prst="rect">
            <a:avLst>
              <a:gd name="adj" fmla="val 1441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805940"/>
            <a:ext cx="6949440" cy="5074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'undertake' means 'to commit to or begin an important task or responsibility'.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805940"/>
            <a:ext cx="1005840" cy="507492"/>
          </a:xfrm>
          <a:prstGeom prst="rect">
            <a:avLst>
              <a:gd name="adj" fmla="val 1441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7772400" y="1805940"/>
            <a:ext cx="1005840" cy="5074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404872"/>
            <a:ext cx="7315200" cy="507492"/>
          </a:xfrm>
          <a:prstGeom prst="rect">
            <a:avLst>
              <a:gd name="adj" fmla="val 1441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404872"/>
            <a:ext cx="6949440" cy="5074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'mistake' means 'something done incorrectly; an error'.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404872"/>
            <a:ext cx="1005840" cy="507492"/>
          </a:xfrm>
          <a:prstGeom prst="rect">
            <a:avLst>
              <a:gd name="adj" fmla="val 1441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7772400" y="2404872"/>
            <a:ext cx="1005840" cy="5074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003804"/>
            <a:ext cx="7315200" cy="507492"/>
          </a:xfrm>
          <a:prstGeom prst="rect">
            <a:avLst>
              <a:gd name="adj" fmla="val 1441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003804"/>
            <a:ext cx="6949440" cy="5074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'overtake' means 'to catch up with and pass someone or something that is ahead'.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003804"/>
            <a:ext cx="1005840" cy="507492"/>
          </a:xfrm>
          <a:prstGeom prst="rect">
            <a:avLst>
              <a:gd name="adj" fmla="val 1441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7772400" y="3003804"/>
            <a:ext cx="1005840" cy="5074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3602736"/>
            <a:ext cx="7315200" cy="507492"/>
          </a:xfrm>
          <a:prstGeom prst="rect">
            <a:avLst>
              <a:gd name="adj" fmla="val 1441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8640" y="3602736"/>
            <a:ext cx="6949440" cy="5074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'intake' means 'the amount of something, such as food or air, that is taken in'.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772400" y="3602736"/>
            <a:ext cx="1005840" cy="507492"/>
          </a:xfrm>
          <a:prstGeom prst="rect">
            <a:avLst>
              <a:gd name="adj" fmla="val 1441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0" name="Text 28"/>
          <p:cNvSpPr/>
          <p:nvPr/>
        </p:nvSpPr>
        <p:spPr>
          <a:xfrm>
            <a:off x="7772400" y="3602736"/>
            <a:ext cx="1005840" cy="5074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65760" y="4201668"/>
            <a:ext cx="7315200" cy="507492"/>
          </a:xfrm>
          <a:prstGeom prst="rect">
            <a:avLst>
              <a:gd name="adj" fmla="val 1441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548640" y="4201668"/>
            <a:ext cx="6949440" cy="5074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The base 'take' means 'to break'.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7772400" y="4201668"/>
            <a:ext cx="1005840" cy="507492"/>
          </a:xfrm>
          <a:prstGeom prst="rect">
            <a:avLst>
              <a:gd name="adj" fmla="val 1441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4" name="Text 32"/>
          <p:cNvSpPr/>
          <p:nvPr/>
        </p:nvSpPr>
        <p:spPr>
          <a:xfrm>
            <a:off x="7772400" y="4201668"/>
            <a:ext cx="1005840" cy="5074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'take'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'take' = to get; to carry; to accept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answers.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07492"/>
          </a:xfrm>
          <a:prstGeom prst="rect">
            <a:avLst>
              <a:gd name="adj" fmla="val 1441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074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base 'take' means 'to get; to carry; to accept'.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07492"/>
          </a:xfrm>
          <a:prstGeom prst="rect">
            <a:avLst>
              <a:gd name="adj" fmla="val 14414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074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805940"/>
            <a:ext cx="7315200" cy="507492"/>
          </a:xfrm>
          <a:prstGeom prst="rect">
            <a:avLst>
              <a:gd name="adj" fmla="val 1441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805940"/>
            <a:ext cx="6949440" cy="5074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'undertake' means 'to commit to or begin an important task or responsibility'.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805940"/>
            <a:ext cx="1005840" cy="507492"/>
          </a:xfrm>
          <a:prstGeom prst="rect">
            <a:avLst>
              <a:gd name="adj" fmla="val 14414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0" y="1805940"/>
            <a:ext cx="1005840" cy="5074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404872"/>
            <a:ext cx="7315200" cy="507492"/>
          </a:xfrm>
          <a:prstGeom prst="rect">
            <a:avLst>
              <a:gd name="adj" fmla="val 1441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404872"/>
            <a:ext cx="6949440" cy="5074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'mistake' means 'something done incorrectly; an error'.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404872"/>
            <a:ext cx="1005840" cy="507492"/>
          </a:xfrm>
          <a:prstGeom prst="rect">
            <a:avLst>
              <a:gd name="adj" fmla="val 14414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0" y="2404872"/>
            <a:ext cx="1005840" cy="5074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003804"/>
            <a:ext cx="7315200" cy="507492"/>
          </a:xfrm>
          <a:prstGeom prst="rect">
            <a:avLst>
              <a:gd name="adj" fmla="val 1441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003804"/>
            <a:ext cx="6949440" cy="5074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'overtake' means 'to catch up with and pass someone or something that is ahead'.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003804"/>
            <a:ext cx="1005840" cy="507492"/>
          </a:xfrm>
          <a:prstGeom prst="rect">
            <a:avLst>
              <a:gd name="adj" fmla="val 14414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0" y="3003804"/>
            <a:ext cx="1005840" cy="5074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3602736"/>
            <a:ext cx="7315200" cy="507492"/>
          </a:xfrm>
          <a:prstGeom prst="rect">
            <a:avLst>
              <a:gd name="adj" fmla="val 1441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8640" y="3602736"/>
            <a:ext cx="6949440" cy="5074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'intake' means 'the amount of something, such as food or air, that is taken in'.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772400" y="3602736"/>
            <a:ext cx="1005840" cy="507492"/>
          </a:xfrm>
          <a:prstGeom prst="rect">
            <a:avLst>
              <a:gd name="adj" fmla="val 14414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72400" y="3602736"/>
            <a:ext cx="1005840" cy="5074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65760" y="4201668"/>
            <a:ext cx="7315200" cy="507492"/>
          </a:xfrm>
          <a:prstGeom prst="rect">
            <a:avLst>
              <a:gd name="adj" fmla="val 1441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548640" y="4201668"/>
            <a:ext cx="6949440" cy="5074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The base 'take' means 'to break'.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7772400" y="4201668"/>
            <a:ext cx="1005840" cy="507492"/>
          </a:xfrm>
          <a:prstGeom prst="rect">
            <a:avLst>
              <a:gd name="adj" fmla="val 14414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772400" y="4201668"/>
            <a:ext cx="1005840" cy="5074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 'take' — Meaning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'take'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'take' = to get; to carry; to accept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1371600"/>
          </a:xfrm>
          <a:prstGeom prst="rect">
            <a:avLst>
              <a:gd name="adj" fmla="val 8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" y="77724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'take'</a:t>
            </a:r>
            <a:endParaRPr lang="en-US" sz="4800" dirty="0"/>
          </a:p>
        </p:txBody>
      </p:sp>
      <p:sp>
        <p:nvSpPr>
          <p:cNvPr id="12" name="Shape 10"/>
          <p:cNvSpPr/>
          <p:nvPr/>
        </p:nvSpPr>
        <p:spPr>
          <a:xfrm>
            <a:off x="3520440" y="777240"/>
            <a:ext cx="36576" cy="1371600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03320" y="777240"/>
            <a:ext cx="493776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 get; to carry; to accept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65760" y="233172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using this base: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take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51460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1460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intake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66344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6344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mistake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81228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1228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overtake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65760" y="3401568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40156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undertake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with 'take'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'take'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'take' = to get; to carry; to accept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one part from each column, left to right (you can skip a column). Not every combination makes a real word!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5156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051560" y="1627632"/>
            <a:ext cx="2194560" cy="365760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in-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51560" y="2029968"/>
            <a:ext cx="2194560" cy="365760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202996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mis-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1051560" y="2432304"/>
            <a:ext cx="2194560" cy="365760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51560" y="2432304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over-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1051560" y="2834640"/>
            <a:ext cx="2194560" cy="365760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51560" y="28346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under-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1051560" y="3236976"/>
            <a:ext cx="2194560" cy="365760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51560" y="3236976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re-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47472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7472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474720" y="1627632"/>
            <a:ext cx="2194560" cy="365760"/>
          </a:xfrm>
          <a:prstGeom prst="rect">
            <a:avLst/>
          </a:prstGeom>
          <a:solidFill>
            <a:srgbClr val="CCFBF1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7472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take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3474720" y="2029968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474720" y="2432304"/>
            <a:ext cx="219456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474720" y="2834640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474720" y="3236976"/>
            <a:ext cx="219456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89788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89788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5897880" y="1627632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89788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-en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5897880" y="2029968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897880" y="2432304"/>
            <a:ext cx="219456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897880" y="2834640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897880" y="3236976"/>
            <a:ext cx="219456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5760" y="3776472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1463040" y="3776472"/>
            <a:ext cx="731520" cy="420624"/>
          </a:xfrm>
          <a:prstGeom prst="rect">
            <a:avLst>
              <a:gd name="adj" fmla="val 17391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1463040" y="3776472"/>
            <a:ext cx="731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in-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2231136" y="3776472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43" name="Shape 41"/>
          <p:cNvSpPr/>
          <p:nvPr/>
        </p:nvSpPr>
        <p:spPr>
          <a:xfrm>
            <a:off x="2523744" y="3776472"/>
            <a:ext cx="868680" cy="420624"/>
          </a:xfrm>
          <a:prstGeom prst="rect">
            <a:avLst>
              <a:gd name="adj" fmla="val 17391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2523744" y="3776472"/>
            <a:ext cx="868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take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3474720" y="3776472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=</a:t>
            </a:r>
            <a:endParaRPr lang="en-US" sz="1800" dirty="0"/>
          </a:p>
        </p:txBody>
      </p:sp>
      <p:sp>
        <p:nvSpPr>
          <p:cNvPr id="46" name="Shape 44"/>
          <p:cNvSpPr/>
          <p:nvPr/>
        </p:nvSpPr>
        <p:spPr>
          <a:xfrm>
            <a:off x="3886200" y="3776472"/>
            <a:ext cx="1463040" cy="420624"/>
          </a:xfrm>
          <a:prstGeom prst="rect">
            <a:avLst>
              <a:gd name="adj" fmla="val 17391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886200" y="3776472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intake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'take' Word Definitions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'take'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'take' = to get; to carry; to accept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each word to its meaning. The meanings are mixed up!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take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the amount of something, such as food or air, that is taken in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intake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something done incorrectly; an error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mistake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to catch up with and pass someone or something that is ahead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724912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72491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overtake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2724912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724912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to commit to or begin an important task or responsibility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65760" y="3236976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65760" y="3236976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undertake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514600" y="3236976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51760" y="3236976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 to get hold of, reach for, or carry something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'take' Word Definitions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'take'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'take' = to get; to carry; to accept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matches.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take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to get hold of, reach for, or carry something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intake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the amount of something, such as food or air, that is taken in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mistake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something done incorrectly; an error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724912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72491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overtake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2724912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724912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to catch up with and pass someone or something that is ahead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65760" y="3236976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65760" y="3236976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undertake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514600" y="3236976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51760" y="3236976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 to commit to or begin an important task or responsibility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Using 'take' Words in Sentences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'take'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'take' = to get; to carry; to accept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these sentences. Underline the 'take' word and talk about what it means.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61872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261872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3232" y="1261872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261872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60120" y="1307592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Please take a seat while you wait.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65760" y="2468880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468880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3232" y="2468880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46888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60120" y="2514600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Doctors recommend keeping your sugar intake low.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65760" y="3675888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675888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3232" y="3675888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675888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60120" y="3721608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made a mistake on the last question of the test.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Check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'take'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'take' = to get; to carry; to accept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the passage aloud. Students write it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passage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2880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82880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words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75488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marks</a:t>
            </a:r>
            <a:endParaRPr lang="en-US" sz="2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'take'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'take' = to get; to carry; to accept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writing.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class photo was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taken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on a windy day, so we had to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retake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it.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write each focus word below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87452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87452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taken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87452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70916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0916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470916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retake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70916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2)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'take'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'take' = to get; to carry; to accept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taken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'take'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'take' = to get; to carry; to accept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taken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537960" y="1325880"/>
            <a:ext cx="2240280" cy="731520"/>
          </a:xfrm>
          <a:prstGeom prst="rect">
            <a:avLst>
              <a:gd name="adj" fmla="val 10000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325880"/>
            <a:ext cx="21488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Spelling: drop the final 'e' before -en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take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get; to carry; to accept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 form (has been done)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7" name="Text 25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1" name="Text 29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'take'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'take' = to get; to carry; to accept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taken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537960" y="1325880"/>
            <a:ext cx="2240280" cy="731520"/>
          </a:xfrm>
          <a:prstGeom prst="rect">
            <a:avLst>
              <a:gd name="adj" fmla="val 10000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325880"/>
            <a:ext cx="21488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Spelling: drop the final 'e' before -en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take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get; to carry; to accept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 form (has been done)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tak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5" name="Text 3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'take'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'take' = to get; to carry; to accept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taken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537960" y="1325880"/>
            <a:ext cx="2240280" cy="731520"/>
          </a:xfrm>
          <a:prstGeom prst="rect">
            <a:avLst>
              <a:gd name="adj" fmla="val 10000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325880"/>
            <a:ext cx="21488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Spelling: drop the final 'e' before -en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take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get; to carry; to accept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 form (has been done)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tak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42773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42773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363931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63931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48508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508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606247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06247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727405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27405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2 of 2)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'take'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'take' = to get; to carry; to accept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retake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'take'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'take' = to get; to carry; to accept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retake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again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take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get; to carry; to accept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'take'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'take' = to get; to carry; to accept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retake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again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take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get; to carry; to accept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take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3" name="Text 31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'take'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'take' = to get; to carry; to accept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retake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again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take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get; to carry; to accept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take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42773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42773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363931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3931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48508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508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606247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06247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a_e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727405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27405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→ Check → Write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Your Own Words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'take'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'take' = to get; to carry; to accept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Word Labs Morpheme Builder to find words, then fill in the matrix below.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1143000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Name: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143000" y="1371600"/>
            <a:ext cx="292608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143000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Date: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49240" y="1371600"/>
            <a:ext cx="324612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5156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05156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5156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5156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5156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47472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47472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47472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47472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47472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89788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89788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89788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89788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89788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89788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347472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I made: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36576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20040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03504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6576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20040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03504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53542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Choose 3 words and write a sentence for each.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Review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'take'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'take' = to get; to carry; to accept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are more words this matrix can build. Did you find them?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5156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051560" y="1581912"/>
            <a:ext cx="2194560" cy="292608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158191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in-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51560" y="1911096"/>
            <a:ext cx="2194560" cy="292608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1911096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mis-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1051560" y="2240280"/>
            <a:ext cx="2194560" cy="292608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51560" y="224028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over-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1051560" y="2569464"/>
            <a:ext cx="2194560" cy="292608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51560" y="2569464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under-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1051560" y="2898648"/>
            <a:ext cx="2194560" cy="292608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51560" y="289864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re-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47472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7472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474720" y="1581912"/>
            <a:ext cx="2194560" cy="292608"/>
          </a:xfrm>
          <a:prstGeom prst="rect">
            <a:avLst/>
          </a:prstGeom>
          <a:solidFill>
            <a:srgbClr val="CCFBF1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74720" y="158191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take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3474720" y="1911096"/>
            <a:ext cx="2194560" cy="292608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474720" y="2240280"/>
            <a:ext cx="2194560" cy="29260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474720" y="2569464"/>
            <a:ext cx="2194560" cy="292608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474720" y="2898648"/>
            <a:ext cx="2194560" cy="29260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89788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89788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5897880" y="1581912"/>
            <a:ext cx="2194560" cy="292608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897880" y="158191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-en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5897880" y="1911096"/>
            <a:ext cx="2194560" cy="292608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897880" y="2240280"/>
            <a:ext cx="2194560" cy="29260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897880" y="2569464"/>
            <a:ext cx="2194560" cy="292608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897880" y="2898648"/>
            <a:ext cx="2194560" cy="29260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5760" y="3319272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Sample words: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365760" y="3685032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65760" y="368503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mistaken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2542032" y="3685032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542032" y="368503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overtaken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4718304" y="3685032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718304" y="368503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retaken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6894576" y="3685032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894576" y="368503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undertaken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365760" y="4123944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65760" y="4123944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taken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2542032" y="4123944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542032" y="4123944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retake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Word Labs — Base 'take' — Teaching Deck</dc:title>
  <dc:subject>PptxGenJS Presentation</dc:subject>
  <dc:creator>Word Labs</dc:creator>
  <cp:lastModifiedBy>Word Labs</cp:lastModifiedBy>
  <cp:revision>1</cp:revision>
  <dcterms:created xsi:type="dcterms:W3CDTF">2026-10-22T10:14:33Z</dcterms:created>
  <dcterms:modified xsi:type="dcterms:W3CDTF">2026-10-22T10:14:33Z</dcterms:modified>
</cp:coreProperties>
</file>